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11" r:id="rId2"/>
    <p:sldId id="307" r:id="rId3"/>
    <p:sldId id="271" r:id="rId4"/>
    <p:sldId id="11881" r:id="rId5"/>
    <p:sldId id="11882" r:id="rId6"/>
    <p:sldId id="11869" r:id="rId7"/>
    <p:sldId id="11870" r:id="rId8"/>
    <p:sldId id="11880" r:id="rId9"/>
    <p:sldId id="11872" r:id="rId10"/>
    <p:sldId id="11856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66AB"/>
    <a:srgbClr val="FFFFFF"/>
    <a:srgbClr val="AAE4F3"/>
    <a:srgbClr val="3297D6"/>
    <a:srgbClr val="2166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883" autoAdjust="0"/>
  </p:normalViewPr>
  <p:slideViewPr>
    <p:cSldViewPr snapToGrid="0" showGuides="1">
      <p:cViewPr varScale="1">
        <p:scale>
          <a:sx n="103" d="100"/>
          <a:sy n="103" d="100"/>
        </p:scale>
        <p:origin x="138" y="120"/>
      </p:cViewPr>
      <p:guideLst>
        <p:guide orient="horz" pos="2160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86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6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916953740157505E-2"/>
          <c:y val="9.9515803425455004E-2"/>
          <c:w val="0.85012652392348698"/>
          <c:h val="0.768018592026414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1195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0">
                  <c:v>Tập huấn luyện</c:v>
                </c:pt>
                <c:pt idx="1">
                  <c:v>Tập kiểm thử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894</c:v>
                </c:pt>
                <c:pt idx="1">
                  <c:v>418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49-4D3E-96F1-A3396F0E88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Tập huấn luyện</c:v>
                </c:pt>
                <c:pt idx="1">
                  <c:v>Tập kiểm thử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9C49-4D3E-96F1-A3396F0E88C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Tập huấn luyện</c:v>
                </c:pt>
                <c:pt idx="1">
                  <c:v>Tập kiểm thử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9C49-4D3E-96F1-A3396F0E88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1801852847"/>
        <c:axId val="1801853807"/>
      </c:barChart>
      <c:catAx>
        <c:axId val="1801852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1801853807"/>
        <c:crosses val="autoZero"/>
        <c:auto val="1"/>
        <c:lblAlgn val="ctr"/>
        <c:lblOffset val="100"/>
        <c:noMultiLvlLbl val="0"/>
      </c:catAx>
      <c:valAx>
        <c:axId val="1801853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18018528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81bab30-19f1-4bff-94aa-3bd009cd978d}"/>
      </c:ext>
    </c:extLst>
  </c:chart>
  <c:spPr>
    <a:noFill/>
    <a:ln>
      <a:noFill/>
    </a:ln>
    <a:effectLst>
      <a:glow>
        <a:schemeClr val="accent1"/>
      </a:glow>
      <a:softEdge rad="0"/>
    </a:effectLst>
  </c:spPr>
  <c:txPr>
    <a:bodyPr rot="0"/>
    <a:lstStyle/>
    <a:p>
      <a:pPr>
        <a:defRPr lang="en-US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844A9148-7528-46BE-956C-54E3C0369B3B}" type="datetimeFigureOut">
              <a:rPr lang="zh-CN" altLang="en-US" smtClean="0"/>
              <a:t>2025/10/27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85DDD9D8-C92B-4476-9944-90AD357DF43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思源黑体 CN Medium" panose="020B0600000000000000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思源黑体 CN Medium" panose="020B0600000000000000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思源黑体 CN Medium" panose="020B0600000000000000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思源黑体 CN Medium" panose="020B0600000000000000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思源黑体 CN Medium" panose="020B0600000000000000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DD9D8-C92B-4476-9944-90AD357DF43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C8DEA7-FF42-45D9-93FC-FE783969233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C8DEA7-FF42-45D9-93FC-FE783969233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C8DEA7-FF42-45D9-93FC-FE783969233B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C8DEA7-FF42-45D9-93FC-FE783969233B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C8DEA7-FF42-45D9-93FC-FE783969233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C8DEA7-FF42-45D9-93FC-FE783969233B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DD9D8-C92B-4476-9944-90AD357DF439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AD2B-1041-4EAF-A4D1-950416CF837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265C0-0195-4B6B-9A52-681063B706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AD2B-1041-4EAF-A4D1-950416CF837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265C0-0195-4B6B-9A52-681063B706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AD2B-1041-4EAF-A4D1-950416CF837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265C0-0195-4B6B-9A52-681063B706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AD2B-1041-4EAF-A4D1-950416CF837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265C0-0195-4B6B-9A52-681063B706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AD2B-1041-4EAF-A4D1-950416CF837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265C0-0195-4B6B-9A52-681063B706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AD2B-1041-4EAF-A4D1-950416CF837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265C0-0195-4B6B-9A52-681063B706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AD2B-1041-4EAF-A4D1-950416CF837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265C0-0195-4B6B-9A52-681063B706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AD2B-1041-4EAF-A4D1-950416CF837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265C0-0195-4B6B-9A52-681063B706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AD2B-1041-4EAF-A4D1-950416CF837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265C0-0195-4B6B-9A52-681063B706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AD2B-1041-4EAF-A4D1-950416CF837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265C0-0195-4B6B-9A52-681063B706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AD2B-1041-4EAF-A4D1-950416CF837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265C0-0195-4B6B-9A52-681063B706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OOTER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327846" y="6324598"/>
            <a:ext cx="438705" cy="338281"/>
          </a:xfrm>
        </p:spPr>
        <p:txBody>
          <a:bodyPr/>
          <a:lstStyle/>
          <a:p>
            <a:fld id="{351ABB6D-C8A3-4255-8D52-A73482BB391F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14:reveal/>
      </p:transition>
    </mc:Choice>
    <mc:Fallback xmlns="">
      <p:transition spd="slow" advClick="0" advTm="0">
        <p:fade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split orient="vert"/>
      </p:transition>
    </mc:Choice>
    <mc:Fallback xmlns="">
      <p:transition spd="slow" advClick="0" advTm="0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341758" y="0"/>
            <a:ext cx="0" cy="2124635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351088" y="4637314"/>
            <a:ext cx="0" cy="2220686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 userDrawn="1"/>
        </p:nvSpPr>
        <p:spPr>
          <a:xfrm>
            <a:off x="264189" y="2351320"/>
            <a:ext cx="158613" cy="15861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281112" y="4172709"/>
            <a:ext cx="158613" cy="15861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81112" y="3705360"/>
            <a:ext cx="158613" cy="15861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281112" y="2815925"/>
            <a:ext cx="158613" cy="15861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206464" y="3184767"/>
            <a:ext cx="304880" cy="30488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BAA4AD2B-1041-4EAF-A4D1-950416CF837F}" type="datetimeFigureOut">
              <a:rPr lang="zh-CN" altLang="en-US" smtClean="0"/>
              <a:t>2025/10/27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7AD265C0-0195-4B6B-9A52-681063B706D3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slideLayout" Target="../slideLayouts/slideLayout12.xml"/><Relationship Id="rId7" Type="http://schemas.openxmlformats.org/officeDocument/2006/relationships/hyperlink" Target="https://www.kaggle.com/competitions/titanic" TargetMode="Externa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flipH="1">
            <a:off x="-1208" y="-1"/>
            <a:ext cx="12193207" cy="6858001"/>
            <a:chOff x="738005" y="-1"/>
            <a:chExt cx="11474987" cy="6858001"/>
          </a:xfrm>
        </p:grpSpPr>
        <p:sp>
          <p:nvSpPr>
            <p:cNvPr id="532" name="Shape 532"/>
            <p:cNvSpPr/>
            <p:nvPr/>
          </p:nvSpPr>
          <p:spPr>
            <a:xfrm>
              <a:off x="1821291" y="0"/>
              <a:ext cx="10370709" cy="6858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cubicBezTo>
                    <a:pt x="1344" y="2498"/>
                    <a:pt x="2978" y="4578"/>
                    <a:pt x="4815" y="6132"/>
                  </a:cubicBezTo>
                  <a:cubicBezTo>
                    <a:pt x="6613" y="7654"/>
                    <a:pt x="8570" y="8643"/>
                    <a:pt x="10528" y="9588"/>
                  </a:cubicBezTo>
                  <a:cubicBezTo>
                    <a:pt x="12488" y="10533"/>
                    <a:pt x="14507" y="11513"/>
                    <a:pt x="16308" y="12931"/>
                  </a:cubicBezTo>
                  <a:cubicBezTo>
                    <a:pt x="18109" y="14349"/>
                    <a:pt x="19693" y="16204"/>
                    <a:pt x="20781" y="18902"/>
                  </a:cubicBezTo>
                  <a:cubicBezTo>
                    <a:pt x="21122" y="19748"/>
                    <a:pt x="21397" y="20653"/>
                    <a:pt x="21600" y="2160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endParaRPr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533" name="Shape 533"/>
            <p:cNvSpPr/>
            <p:nvPr/>
          </p:nvSpPr>
          <p:spPr>
            <a:xfrm>
              <a:off x="738005" y="-1"/>
              <a:ext cx="11474987" cy="685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cubicBezTo>
                    <a:pt x="1344" y="2498"/>
                    <a:pt x="2978" y="4578"/>
                    <a:pt x="4815" y="6132"/>
                  </a:cubicBezTo>
                  <a:cubicBezTo>
                    <a:pt x="6613" y="7654"/>
                    <a:pt x="8570" y="8643"/>
                    <a:pt x="10528" y="9588"/>
                  </a:cubicBezTo>
                  <a:cubicBezTo>
                    <a:pt x="12488" y="10533"/>
                    <a:pt x="14507" y="11513"/>
                    <a:pt x="16308" y="12931"/>
                  </a:cubicBezTo>
                  <a:cubicBezTo>
                    <a:pt x="18109" y="14349"/>
                    <a:pt x="19693" y="16204"/>
                    <a:pt x="20781" y="18902"/>
                  </a:cubicBezTo>
                  <a:cubicBezTo>
                    <a:pt x="21122" y="19748"/>
                    <a:pt x="21397" y="20653"/>
                    <a:pt x="21600" y="21600"/>
                  </a:cubicBezTo>
                  <a:close/>
                </a:path>
              </a:pathLst>
            </a:custGeom>
            <a:solidFill>
              <a:srgbClr val="2866A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endParaRPr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535" name="Shape 535"/>
            <p:cNvSpPr/>
            <p:nvPr/>
          </p:nvSpPr>
          <p:spPr>
            <a:xfrm>
              <a:off x="2471525" y="256539"/>
              <a:ext cx="9563365" cy="1649095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45719" rIns="45719">
              <a:noAutofit/>
            </a:bodyPr>
            <a:lstStyle>
              <a:lvl1pPr algn="r" defTabSz="457200">
                <a:defRPr sz="4400" cap="all">
                  <a:solidFill>
                    <a:srgbClr val="C1B397"/>
                  </a:solidFill>
                  <a:latin typeface="Futura LT Light"/>
                  <a:ea typeface="Futura LT Light"/>
                  <a:cs typeface="Futura LT Light"/>
                  <a:sym typeface="Futura LT Light"/>
                </a:defRPr>
              </a:lvl1pPr>
            </a:lstStyle>
            <a:p>
              <a:pPr algn="l"/>
              <a:r>
                <a:rPr lang="en-US" altLang="en-US" sz="4000" cap="none" dirty="0" err="1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Dự</a:t>
              </a:r>
              <a:r>
                <a:rPr lang="en-US" altLang="en-US" sz="4000" cap="none" dirty="0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  <a:r>
                <a:rPr lang="en-US" altLang="en-US" sz="4000" cap="none" dirty="0" err="1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đoán</a:t>
              </a:r>
              <a:r>
                <a:rPr lang="en-US" altLang="en-US" sz="4000" cap="none" dirty="0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  <a:r>
                <a:rPr lang="en-US" altLang="en-US" sz="4000" cap="none" dirty="0" err="1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khả</a:t>
              </a:r>
              <a:r>
                <a:rPr lang="en-US" altLang="en-US" sz="4000" cap="none" dirty="0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  <a:r>
                <a:rPr lang="en-US" altLang="en-US" sz="4000" cap="none" dirty="0" err="1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năng</a:t>
              </a:r>
              <a:r>
                <a:rPr lang="en-US" altLang="en-US" sz="4000" cap="none" dirty="0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  <a:r>
                <a:rPr lang="en-US" altLang="en-US" sz="4000" cap="none" dirty="0" err="1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sống</a:t>
              </a:r>
              <a:r>
                <a:rPr lang="en-US" altLang="en-US" sz="4000" cap="none" dirty="0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  <a:r>
                <a:rPr lang="en-US" altLang="en-US" sz="4000" cap="none" dirty="0" err="1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sót</a:t>
              </a:r>
              <a:r>
                <a:rPr lang="en-US" altLang="en-US" sz="4000" cap="none" dirty="0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  <a:r>
                <a:rPr lang="en-US" altLang="en-US" sz="4000" cap="none" dirty="0" err="1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của</a:t>
              </a:r>
              <a:r>
                <a:rPr lang="en-US" altLang="en-US" sz="4000" cap="none" dirty="0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  <a:r>
                <a:rPr lang="en-US" altLang="en-US" sz="4000" cap="none" dirty="0" err="1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hành</a:t>
              </a:r>
              <a:endParaRPr lang="en-US" altLang="en-US" sz="4000" cap="none" dirty="0">
                <a:solidFill>
                  <a:schemeClr val="bg1"/>
                </a:solidFill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endParaRPr>
            </a:p>
            <a:p>
              <a:pPr algn="l"/>
              <a:r>
                <a:rPr lang="en-US" altLang="en-US" sz="4000" cap="none" dirty="0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  <a:r>
                <a:rPr lang="en-US" altLang="en-US" sz="4000" cap="none" dirty="0" err="1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khách</a:t>
              </a:r>
              <a:r>
                <a:rPr lang="en-US" altLang="en-US" sz="4000" cap="none" dirty="0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  <a:r>
                <a:rPr lang="en-US" altLang="en-US" sz="4000" cap="none" dirty="0" err="1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trên</a:t>
              </a:r>
              <a:r>
                <a:rPr lang="en-US" altLang="en-US" sz="4000" cap="none" dirty="0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  <a:r>
                <a:rPr lang="en-US" altLang="en-US" sz="4000" cap="none" dirty="0" err="1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tàu</a:t>
              </a:r>
              <a:r>
                <a:rPr lang="en-US" altLang="en-US" sz="4000" cap="none" dirty="0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Titanic </a:t>
              </a:r>
              <a:r>
                <a:rPr lang="en-US" altLang="en-US" sz="4000" cap="none" dirty="0" err="1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bằng</a:t>
              </a:r>
              <a:r>
                <a:rPr lang="en-US" altLang="en-US" sz="4000" cap="none" dirty="0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  <a:r>
                <a:rPr lang="en-US" altLang="en-US" sz="4000" cap="none" dirty="0" err="1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các</a:t>
              </a:r>
              <a:r>
                <a:rPr lang="en-US" altLang="en-US" sz="4000" cap="none" dirty="0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</a:p>
            <a:p>
              <a:pPr algn="l"/>
              <a:r>
                <a:rPr lang="en-US" altLang="en-US" sz="4000" cap="none" dirty="0" err="1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mô</a:t>
              </a:r>
              <a:r>
                <a:rPr lang="en-US" altLang="en-US" sz="4000" cap="none" dirty="0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  <a:r>
                <a:rPr lang="en-US" altLang="en-US" sz="4000" cap="none" dirty="0" err="1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hình</a:t>
              </a:r>
              <a:r>
                <a:rPr lang="en-US" altLang="en-US" sz="4000" cap="none" dirty="0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  <a:r>
                <a:rPr lang="en-US" altLang="en-US" sz="4000" cap="none" dirty="0" err="1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máy</a:t>
              </a:r>
              <a:r>
                <a:rPr lang="en-US" altLang="en-US" sz="4000" cap="none" dirty="0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  <a:r>
                <a:rPr lang="en-US" altLang="en-US" sz="4000" cap="none" dirty="0" err="1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học</a:t>
              </a:r>
              <a:r>
                <a:rPr lang="en-US" altLang="en-US" sz="4000" cap="none" dirty="0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</a:p>
          </p:txBody>
        </p:sp>
        <p:sp>
          <p:nvSpPr>
            <p:cNvPr id="9" name="副标题 2"/>
            <p:cNvSpPr txBox="1"/>
            <p:nvPr/>
          </p:nvSpPr>
          <p:spPr>
            <a:xfrm>
              <a:off x="6469018" y="2395474"/>
              <a:ext cx="5606444" cy="164909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vi-VN" dirty="0">
                  <a:solidFill>
                    <a:schemeClr val="bg1"/>
                  </a:solidFill>
                  <a:ea typeface="思源黑体 CN Medium" panose="020B0600000000000000"/>
                </a:rPr>
                <a:t>Đỗ Nguyễn Thanh Phong, Dương Chí Khang, Trịnh Minh Toàn, Cao Thanh Tài</a:t>
              </a: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9381218" y="2238839"/>
              <a:ext cx="2653672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:push dir="u"/>
      </p:transition>
    </mc:Choice>
    <mc:Fallback xmlns="">
      <p:transition spd="slow" advTm="0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978157" y="339725"/>
            <a:ext cx="6403326" cy="1006973"/>
            <a:chOff x="3017765" y="1065037"/>
            <a:chExt cx="6403326" cy="1006973"/>
          </a:xfrm>
        </p:grpSpPr>
        <p:sp>
          <p:nvSpPr>
            <p:cNvPr id="3" name="矩形 2"/>
            <p:cNvSpPr/>
            <p:nvPr/>
          </p:nvSpPr>
          <p:spPr>
            <a:xfrm>
              <a:off x="3017765" y="1065037"/>
              <a:ext cx="6403326" cy="1006973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 rot="16200000">
              <a:off x="5758735" y="-1495257"/>
              <a:ext cx="921385" cy="604197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chemeClr val="bg1"/>
                  </a:solidFill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Agenda</a:t>
              </a: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947785" y="6056630"/>
            <a:ext cx="2595880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2400" i="1" dirty="0">
              <a:latin typeface="HYWenHei-85W" panose="00020600040101010101" charset="-128"/>
              <a:ea typeface="HYWenHei-85W" panose="00020600040101010101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Related works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Experiment and Results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push dir="u"/>
      </p:transition>
    </mc:Choice>
    <mc:Fallback xmlns="">
      <p:transition spd="slow" advClick="0" advTm="0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>
            <p:custDataLst>
              <p:tags r:id="rId1"/>
            </p:custDataLst>
          </p:nvPr>
        </p:nvSpPr>
        <p:spPr>
          <a:xfrm>
            <a:off x="1006475" y="1192530"/>
            <a:ext cx="10178415" cy="55759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endParaRPr lang="en-US" altLang="en-US" sz="1400" dirty="0">
              <a:latin typeface="HYWenHei-85W" panose="00020600040101010101" charset="-128"/>
              <a:ea typeface="HYWenHei-85W" panose="00020600040101010101" charset="-128"/>
              <a:sym typeface="字魂36号-正文宋楷" panose="02000000000000000000" pitchFamily="2" charset="-122"/>
            </a:endParaRPr>
          </a:p>
          <a:p>
            <a:pPr algn="just">
              <a:lnSpc>
                <a:spcPct val="150000"/>
              </a:lnSpc>
            </a:pPr>
            <a:endParaRPr lang="en-US" altLang="en-US" sz="1400" dirty="0">
              <a:latin typeface="HYWenHei-85W" panose="00020600040101010101" charset="-128"/>
              <a:ea typeface="HYWenHei-85W" panose="00020600040101010101" charset="-128"/>
              <a:sym typeface="字魂36号-正文宋楷" panose="02000000000000000000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-30926" y="0"/>
            <a:ext cx="6690344" cy="1804989"/>
            <a:chOff x="19793" y="-1"/>
            <a:chExt cx="10374770" cy="6858001"/>
          </a:xfrm>
        </p:grpSpPr>
        <p:sp>
          <p:nvSpPr>
            <p:cNvPr id="14" name="Shape 532"/>
            <p:cNvSpPr/>
            <p:nvPr/>
          </p:nvSpPr>
          <p:spPr>
            <a:xfrm flipH="1">
              <a:off x="19793" y="0"/>
              <a:ext cx="10374770" cy="6858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cubicBezTo>
                    <a:pt x="1344" y="2498"/>
                    <a:pt x="2978" y="4578"/>
                    <a:pt x="4815" y="6132"/>
                  </a:cubicBezTo>
                  <a:cubicBezTo>
                    <a:pt x="6613" y="7654"/>
                    <a:pt x="8570" y="8643"/>
                    <a:pt x="10528" y="9588"/>
                  </a:cubicBezTo>
                  <a:cubicBezTo>
                    <a:pt x="12488" y="10533"/>
                    <a:pt x="14507" y="11513"/>
                    <a:pt x="16308" y="12931"/>
                  </a:cubicBezTo>
                  <a:cubicBezTo>
                    <a:pt x="18109" y="14349"/>
                    <a:pt x="19693" y="16204"/>
                    <a:pt x="20781" y="18902"/>
                  </a:cubicBezTo>
                  <a:cubicBezTo>
                    <a:pt x="21122" y="19748"/>
                    <a:pt x="21397" y="20653"/>
                    <a:pt x="21600" y="2160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endParaRPr dirty="0"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5" name="Shape 533"/>
            <p:cNvSpPr/>
            <p:nvPr/>
          </p:nvSpPr>
          <p:spPr>
            <a:xfrm flipH="1">
              <a:off x="19793" y="-1"/>
              <a:ext cx="9486813" cy="685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cubicBezTo>
                    <a:pt x="1344" y="2498"/>
                    <a:pt x="2978" y="4578"/>
                    <a:pt x="4815" y="6132"/>
                  </a:cubicBezTo>
                  <a:cubicBezTo>
                    <a:pt x="6613" y="7654"/>
                    <a:pt x="8570" y="8643"/>
                    <a:pt x="10528" y="9588"/>
                  </a:cubicBezTo>
                  <a:cubicBezTo>
                    <a:pt x="12488" y="10533"/>
                    <a:pt x="14507" y="11513"/>
                    <a:pt x="16308" y="12931"/>
                  </a:cubicBezTo>
                  <a:cubicBezTo>
                    <a:pt x="18109" y="14349"/>
                    <a:pt x="19693" y="16204"/>
                    <a:pt x="20781" y="18902"/>
                  </a:cubicBezTo>
                  <a:cubicBezTo>
                    <a:pt x="21122" y="19748"/>
                    <a:pt x="21397" y="20653"/>
                    <a:pt x="21600" y="21600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r>
                <a:rPr lang="en-US" dirty="0"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  <a:endParaRPr dirty="0"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40" name="矩形 39"/>
          <p:cNvSpPr/>
          <p:nvPr>
            <p:custDataLst>
              <p:tags r:id="rId2"/>
            </p:custDataLst>
          </p:nvPr>
        </p:nvSpPr>
        <p:spPr>
          <a:xfrm>
            <a:off x="210705" y="-62345"/>
            <a:ext cx="10417810" cy="6586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3200" dirty="0">
                <a:solidFill>
                  <a:schemeClr val="bg1"/>
                </a:solidFill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9256" y="1567139"/>
            <a:ext cx="2622780" cy="658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Bộ đặc trưng mô tả hành khách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81225" y="1567139"/>
            <a:ext cx="2447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Output: </a:t>
            </a:r>
            <a:r>
              <a:rPr lang="en-US" dirty="0" err="1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Xác</a:t>
            </a:r>
            <a:r>
              <a:rPr lang="en-US" dirty="0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suất</a:t>
            </a:r>
            <a:r>
              <a:rPr lang="en-US" dirty="0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hành</a:t>
            </a:r>
            <a:r>
              <a:rPr lang="en-US" dirty="0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khách</a:t>
            </a:r>
            <a:r>
              <a:rPr lang="en-US" dirty="0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sống</a:t>
            </a:r>
            <a:r>
              <a:rPr lang="en-US" b="1" dirty="0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sót</a:t>
            </a:r>
            <a:r>
              <a:rPr lang="en-US" b="1" dirty="0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hoặc</a:t>
            </a:r>
            <a:r>
              <a:rPr lang="en-US" dirty="0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thiệt</a:t>
            </a:r>
            <a:r>
              <a:rPr lang="en-US" b="1" dirty="0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ea typeface="思源黑体 CN Medium" panose="020B0600000000000000"/>
                <a:cs typeface="Arial" panose="020B0604020202020204" pitchFamily="34" charset="0"/>
              </a:rPr>
              <a:t>mạng</a:t>
            </a:r>
            <a:endParaRPr lang="en-US" dirty="0">
              <a:latin typeface="Arial" panose="020B0604020202020204" pitchFamily="34" charset="0"/>
              <a:ea typeface="思源黑体 CN Medium" panose="020B0600000000000000"/>
              <a:cs typeface="Arial" panose="020B0604020202020204" pitchFamily="34" charset="0"/>
            </a:endParaRPr>
          </a:p>
        </p:txBody>
      </p:sp>
      <p:pic>
        <p:nvPicPr>
          <p:cNvPr id="1026" name="Picture 2" descr="documentos icono vector. reporte ilustración signo. análisis ...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56" y="2579337"/>
            <a:ext cx="2304151" cy="230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>
            <a:stCxn id="1026" idx="3"/>
            <a:endCxn id="10" idx="1"/>
          </p:cNvCxnSpPr>
          <p:nvPr/>
        </p:nvCxnSpPr>
        <p:spPr>
          <a:xfrm>
            <a:off x="3043407" y="3731413"/>
            <a:ext cx="1600795" cy="122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44202" y="3488302"/>
            <a:ext cx="2096654" cy="5107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</a:p>
        </p:txBody>
      </p:sp>
      <p:cxnSp>
        <p:nvCxnSpPr>
          <p:cNvPr id="17" name="Straight Arrow Connector 16"/>
          <p:cNvCxnSpPr>
            <a:stCxn id="10" idx="3"/>
            <a:endCxn id="20" idx="1"/>
          </p:cNvCxnSpPr>
          <p:nvPr/>
        </p:nvCxnSpPr>
        <p:spPr>
          <a:xfrm>
            <a:off x="6740856" y="3743691"/>
            <a:ext cx="160079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341651" y="3282026"/>
          <a:ext cx="2378665" cy="923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8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1636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Survived: 61.6%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694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survived: 38.4%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push dir="u"/>
      </p:transition>
    </mc:Choice>
    <mc:Fallback xmlns="">
      <p:transition spd="slow" advClick="0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>
            <p:custDataLst>
              <p:tags r:id="rId1"/>
            </p:custDataLst>
          </p:nvPr>
        </p:nvSpPr>
        <p:spPr>
          <a:xfrm>
            <a:off x="1006792" y="1144764"/>
            <a:ext cx="10178415" cy="55759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endParaRPr lang="en-US" altLang="en-US" sz="1400" dirty="0">
              <a:latin typeface="HYWenHei-85W" panose="00020600040101010101" charset="-128"/>
              <a:ea typeface="HYWenHei-85W" panose="00020600040101010101" charset="-128"/>
              <a:sym typeface="字魂36号-正文宋楷" panose="02000000000000000000" pitchFamily="2" charset="-122"/>
            </a:endParaRPr>
          </a:p>
          <a:p>
            <a:pPr algn="just">
              <a:lnSpc>
                <a:spcPct val="150000"/>
              </a:lnSpc>
            </a:pPr>
            <a:endParaRPr lang="en-US" altLang="en-US" sz="1400" dirty="0">
              <a:latin typeface="HYWenHei-85W" panose="00020600040101010101" charset="-128"/>
              <a:ea typeface="HYWenHei-85W" panose="00020600040101010101" charset="-128"/>
              <a:sym typeface="字魂36号-正文宋楷" panose="02000000000000000000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-30926" y="1"/>
            <a:ext cx="6690344" cy="1699146"/>
            <a:chOff x="19793" y="-1"/>
            <a:chExt cx="10374770" cy="6858001"/>
          </a:xfrm>
        </p:grpSpPr>
        <p:sp>
          <p:nvSpPr>
            <p:cNvPr id="14" name="Shape 532"/>
            <p:cNvSpPr/>
            <p:nvPr/>
          </p:nvSpPr>
          <p:spPr>
            <a:xfrm flipH="1">
              <a:off x="19793" y="0"/>
              <a:ext cx="10374770" cy="6858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cubicBezTo>
                    <a:pt x="1344" y="2498"/>
                    <a:pt x="2978" y="4578"/>
                    <a:pt x="4815" y="6132"/>
                  </a:cubicBezTo>
                  <a:cubicBezTo>
                    <a:pt x="6613" y="7654"/>
                    <a:pt x="8570" y="8643"/>
                    <a:pt x="10528" y="9588"/>
                  </a:cubicBezTo>
                  <a:cubicBezTo>
                    <a:pt x="12488" y="10533"/>
                    <a:pt x="14507" y="11513"/>
                    <a:pt x="16308" y="12931"/>
                  </a:cubicBezTo>
                  <a:cubicBezTo>
                    <a:pt x="18109" y="14349"/>
                    <a:pt x="19693" y="16204"/>
                    <a:pt x="20781" y="18902"/>
                  </a:cubicBezTo>
                  <a:cubicBezTo>
                    <a:pt x="21122" y="19748"/>
                    <a:pt x="21397" y="20653"/>
                    <a:pt x="21600" y="2160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endParaRPr dirty="0"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5" name="Shape 533"/>
            <p:cNvSpPr/>
            <p:nvPr/>
          </p:nvSpPr>
          <p:spPr>
            <a:xfrm flipH="1">
              <a:off x="19793" y="-1"/>
              <a:ext cx="9486813" cy="685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cubicBezTo>
                    <a:pt x="1344" y="2498"/>
                    <a:pt x="2978" y="4578"/>
                    <a:pt x="4815" y="6132"/>
                  </a:cubicBezTo>
                  <a:cubicBezTo>
                    <a:pt x="6613" y="7654"/>
                    <a:pt x="8570" y="8643"/>
                    <a:pt x="10528" y="9588"/>
                  </a:cubicBezTo>
                  <a:cubicBezTo>
                    <a:pt x="12488" y="10533"/>
                    <a:pt x="14507" y="11513"/>
                    <a:pt x="16308" y="12931"/>
                  </a:cubicBezTo>
                  <a:cubicBezTo>
                    <a:pt x="18109" y="14349"/>
                    <a:pt x="19693" y="16204"/>
                    <a:pt x="20781" y="18902"/>
                  </a:cubicBezTo>
                  <a:cubicBezTo>
                    <a:pt x="21122" y="19748"/>
                    <a:pt x="21397" y="20653"/>
                    <a:pt x="21600" y="21600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r>
                <a:rPr lang="en-US" dirty="0"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  <a:endParaRPr dirty="0"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endParaRPr>
            </a:p>
          </p:txBody>
        </p:sp>
      </p:grpSp>
      <p:pic>
        <p:nvPicPr>
          <p:cNvPr id="8" name="2384804F-3998-4D57-9195-F3826E402611-4" descr="wpp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395" y="5160645"/>
            <a:ext cx="156845" cy="250190"/>
          </a:xfrm>
          <a:prstGeom prst="rect">
            <a:avLst/>
          </a:prstGeom>
        </p:spPr>
      </p:pic>
      <p:sp>
        <p:nvSpPr>
          <p:cNvPr id="40" name="矩形 39"/>
          <p:cNvSpPr/>
          <p:nvPr>
            <p:custDataLst>
              <p:tags r:id="rId2"/>
            </p:custDataLst>
          </p:nvPr>
        </p:nvSpPr>
        <p:spPr>
          <a:xfrm>
            <a:off x="210705" y="-62345"/>
            <a:ext cx="10417810" cy="6586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3200" dirty="0">
                <a:solidFill>
                  <a:schemeClr val="bg1"/>
                </a:solidFill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rPr>
              <a:t>1. Introduction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86881" y="1245224"/>
            <a:ext cx="8268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Lấy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Kaggle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Titanic - Machine Learning from Disaster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4870" y="1992015"/>
          <a:ext cx="5231130" cy="4389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80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0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358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PassengerId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khách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5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Survived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Trạng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thái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sống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sót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58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Pclass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Hạng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vé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35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Tên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khách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35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tính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35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Tuổi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358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SibSp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Số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anh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chị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vợ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chồng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cùng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35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Số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cha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mẹ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/con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cùng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35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Số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vé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35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vé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35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Cabin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435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Embarked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Cảng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2321307129"/>
              </p:ext>
            </p:extLst>
          </p:nvPr>
        </p:nvGraphicFramePr>
        <p:xfrm>
          <a:off x="6858000" y="1992014"/>
          <a:ext cx="4954399" cy="4275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push dir="u"/>
      </p:transition>
    </mc:Choice>
    <mc:Fallback xmlns="">
      <p:transition spd="slow" advClick="0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>
            <p:custDataLst>
              <p:tags r:id="rId1"/>
            </p:custDataLst>
          </p:nvPr>
        </p:nvSpPr>
        <p:spPr>
          <a:xfrm>
            <a:off x="1006475" y="1192530"/>
            <a:ext cx="10178415" cy="55759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endParaRPr lang="en-US" altLang="en-US" sz="1400" dirty="0">
              <a:latin typeface="HYWenHei-85W" panose="00020600040101010101" charset="-128"/>
              <a:ea typeface="HYWenHei-85W" panose="00020600040101010101" charset="-128"/>
              <a:sym typeface="字魂36号-正文宋楷" panose="02000000000000000000" pitchFamily="2" charset="-122"/>
            </a:endParaRPr>
          </a:p>
          <a:p>
            <a:pPr algn="just">
              <a:lnSpc>
                <a:spcPct val="150000"/>
              </a:lnSpc>
            </a:pPr>
            <a:endParaRPr lang="en-US" altLang="en-US" sz="1400" dirty="0">
              <a:latin typeface="HYWenHei-85W" panose="00020600040101010101" charset="-128"/>
              <a:ea typeface="HYWenHei-85W" panose="00020600040101010101" charset="-128"/>
              <a:sym typeface="字魂36号-正文宋楷" panose="02000000000000000000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-30926" y="0"/>
            <a:ext cx="6690344" cy="1804989"/>
            <a:chOff x="19793" y="-1"/>
            <a:chExt cx="10374770" cy="6858001"/>
          </a:xfrm>
        </p:grpSpPr>
        <p:sp>
          <p:nvSpPr>
            <p:cNvPr id="14" name="Shape 532"/>
            <p:cNvSpPr/>
            <p:nvPr/>
          </p:nvSpPr>
          <p:spPr>
            <a:xfrm flipH="1">
              <a:off x="19793" y="0"/>
              <a:ext cx="10374770" cy="6858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cubicBezTo>
                    <a:pt x="1344" y="2498"/>
                    <a:pt x="2978" y="4578"/>
                    <a:pt x="4815" y="6132"/>
                  </a:cubicBezTo>
                  <a:cubicBezTo>
                    <a:pt x="6613" y="7654"/>
                    <a:pt x="8570" y="8643"/>
                    <a:pt x="10528" y="9588"/>
                  </a:cubicBezTo>
                  <a:cubicBezTo>
                    <a:pt x="12488" y="10533"/>
                    <a:pt x="14507" y="11513"/>
                    <a:pt x="16308" y="12931"/>
                  </a:cubicBezTo>
                  <a:cubicBezTo>
                    <a:pt x="18109" y="14349"/>
                    <a:pt x="19693" y="16204"/>
                    <a:pt x="20781" y="18902"/>
                  </a:cubicBezTo>
                  <a:cubicBezTo>
                    <a:pt x="21122" y="19748"/>
                    <a:pt x="21397" y="20653"/>
                    <a:pt x="21600" y="2160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endParaRPr dirty="0"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5" name="Shape 533"/>
            <p:cNvSpPr/>
            <p:nvPr/>
          </p:nvSpPr>
          <p:spPr>
            <a:xfrm flipH="1">
              <a:off x="19793" y="-1"/>
              <a:ext cx="9486813" cy="685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cubicBezTo>
                    <a:pt x="1344" y="2498"/>
                    <a:pt x="2978" y="4578"/>
                    <a:pt x="4815" y="6132"/>
                  </a:cubicBezTo>
                  <a:cubicBezTo>
                    <a:pt x="6613" y="7654"/>
                    <a:pt x="8570" y="8643"/>
                    <a:pt x="10528" y="9588"/>
                  </a:cubicBezTo>
                  <a:cubicBezTo>
                    <a:pt x="12488" y="10533"/>
                    <a:pt x="14507" y="11513"/>
                    <a:pt x="16308" y="12931"/>
                  </a:cubicBezTo>
                  <a:cubicBezTo>
                    <a:pt x="18109" y="14349"/>
                    <a:pt x="19693" y="16204"/>
                    <a:pt x="20781" y="18902"/>
                  </a:cubicBezTo>
                  <a:cubicBezTo>
                    <a:pt x="21122" y="19748"/>
                    <a:pt x="21397" y="20653"/>
                    <a:pt x="21600" y="21600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r>
                <a:rPr lang="en-US" dirty="0">
                  <a:latin typeface="HYWenHei-85W" panose="00020600040101010101" charset="-128"/>
                  <a:ea typeface="HYWenHei-85W" panose="00020600040101010101" charset="-128"/>
                  <a:sym typeface="字魂36号-正文宋楷" panose="02000000000000000000" pitchFamily="2" charset="-122"/>
                </a:rPr>
                <a:t> </a:t>
              </a:r>
              <a:endParaRPr dirty="0"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40" name="矩形 39"/>
          <p:cNvSpPr/>
          <p:nvPr>
            <p:custDataLst>
              <p:tags r:id="rId2"/>
            </p:custDataLst>
          </p:nvPr>
        </p:nvSpPr>
        <p:spPr>
          <a:xfrm>
            <a:off x="210705" y="-62345"/>
            <a:ext cx="10417810" cy="6586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3200" dirty="0">
                <a:solidFill>
                  <a:schemeClr val="bg1"/>
                </a:solidFill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7916" y="1475684"/>
            <a:ext cx="104269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Dữ liệu không hoàn chỉnh (nhiều giá trị bị thiếu).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Các biến không đồng nhất về kiểu và thang đo (kết hợp giữa dữ liệu số, phân loại, và thứ bậc).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Quan hệ phi tuyến và tương tác phức tạp giữa các đặc trưng (ví dụ: giới tính và hạng vé).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Sự chênh lệch nhẹ trong phân phối lớp (số người thiệt mạng nhiều hơn sống sót).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push dir="u"/>
      </p:transition>
    </mc:Choice>
    <mc:Fallback xmlns="">
      <p:transition spd="slow" advClick="0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>
            <p:custDataLst>
              <p:tags r:id="rId1"/>
            </p:custDataLst>
          </p:nvPr>
        </p:nvSpPr>
        <p:spPr>
          <a:xfrm>
            <a:off x="211455" y="2054860"/>
            <a:ext cx="5885180" cy="27476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400" dirty="0">
              <a:latin typeface="HYWenHei-85W" panose="00020600040101010101" charset="-128"/>
              <a:ea typeface="HYWenHei-85W" panose="00020600040101010101" charset="-128"/>
              <a:sym typeface="字魂36号-正文宋楷" panose="02000000000000000000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-30927" y="0"/>
            <a:ext cx="6967435" cy="1958109"/>
            <a:chOff x="19793" y="-1"/>
            <a:chExt cx="10374770" cy="6858001"/>
          </a:xfrm>
        </p:grpSpPr>
        <p:sp>
          <p:nvSpPr>
            <p:cNvPr id="14" name="Shape 532"/>
            <p:cNvSpPr/>
            <p:nvPr/>
          </p:nvSpPr>
          <p:spPr>
            <a:xfrm flipH="1">
              <a:off x="19793" y="0"/>
              <a:ext cx="10374770" cy="6858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cubicBezTo>
                    <a:pt x="1344" y="2498"/>
                    <a:pt x="2978" y="4578"/>
                    <a:pt x="4815" y="6132"/>
                  </a:cubicBezTo>
                  <a:cubicBezTo>
                    <a:pt x="6613" y="7654"/>
                    <a:pt x="8570" y="8643"/>
                    <a:pt x="10528" y="9588"/>
                  </a:cubicBezTo>
                  <a:cubicBezTo>
                    <a:pt x="12488" y="10533"/>
                    <a:pt x="14507" y="11513"/>
                    <a:pt x="16308" y="12931"/>
                  </a:cubicBezTo>
                  <a:cubicBezTo>
                    <a:pt x="18109" y="14349"/>
                    <a:pt x="19693" y="16204"/>
                    <a:pt x="20781" y="18902"/>
                  </a:cubicBezTo>
                  <a:cubicBezTo>
                    <a:pt x="21122" y="19748"/>
                    <a:pt x="21397" y="20653"/>
                    <a:pt x="21600" y="2160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endParaRPr dirty="0"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5" name="Shape 533"/>
            <p:cNvSpPr/>
            <p:nvPr/>
          </p:nvSpPr>
          <p:spPr>
            <a:xfrm flipH="1">
              <a:off x="19793" y="-1"/>
              <a:ext cx="9486813" cy="685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cubicBezTo>
                    <a:pt x="1344" y="2498"/>
                    <a:pt x="2978" y="4578"/>
                    <a:pt x="4815" y="6132"/>
                  </a:cubicBezTo>
                  <a:cubicBezTo>
                    <a:pt x="6613" y="7654"/>
                    <a:pt x="8570" y="8643"/>
                    <a:pt x="10528" y="9588"/>
                  </a:cubicBezTo>
                  <a:cubicBezTo>
                    <a:pt x="12488" y="10533"/>
                    <a:pt x="14507" y="11513"/>
                    <a:pt x="16308" y="12931"/>
                  </a:cubicBezTo>
                  <a:cubicBezTo>
                    <a:pt x="18109" y="14349"/>
                    <a:pt x="19693" y="16204"/>
                    <a:pt x="20781" y="18902"/>
                  </a:cubicBezTo>
                  <a:cubicBezTo>
                    <a:pt x="21122" y="19748"/>
                    <a:pt x="21397" y="20653"/>
                    <a:pt x="21600" y="21600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endParaRPr dirty="0"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40" name="矩形 39"/>
          <p:cNvSpPr/>
          <p:nvPr>
            <p:custDataLst>
              <p:tags r:id="rId2"/>
            </p:custDataLst>
          </p:nvPr>
        </p:nvSpPr>
        <p:spPr>
          <a:xfrm>
            <a:off x="241591" y="0"/>
            <a:ext cx="4662055" cy="8464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3200" dirty="0">
                <a:solidFill>
                  <a:schemeClr val="bg1"/>
                </a:solidFill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rPr>
              <a:t>2. Related Work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push dir="u"/>
      </p:transition>
    </mc:Choice>
    <mc:Fallback xmlns="">
      <p:transition spd="slow" advClick="0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30927" y="-1"/>
            <a:ext cx="7226053" cy="2272145"/>
            <a:chOff x="19793" y="-1"/>
            <a:chExt cx="10374770" cy="6858001"/>
          </a:xfrm>
        </p:grpSpPr>
        <p:sp>
          <p:nvSpPr>
            <p:cNvPr id="14" name="Shape 532"/>
            <p:cNvSpPr/>
            <p:nvPr/>
          </p:nvSpPr>
          <p:spPr>
            <a:xfrm flipH="1">
              <a:off x="19793" y="0"/>
              <a:ext cx="10374770" cy="6858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cubicBezTo>
                    <a:pt x="1344" y="2498"/>
                    <a:pt x="2978" y="4578"/>
                    <a:pt x="4815" y="6132"/>
                  </a:cubicBezTo>
                  <a:cubicBezTo>
                    <a:pt x="6613" y="7654"/>
                    <a:pt x="8570" y="8643"/>
                    <a:pt x="10528" y="9588"/>
                  </a:cubicBezTo>
                  <a:cubicBezTo>
                    <a:pt x="12488" y="10533"/>
                    <a:pt x="14507" y="11513"/>
                    <a:pt x="16308" y="12931"/>
                  </a:cubicBezTo>
                  <a:cubicBezTo>
                    <a:pt x="18109" y="14349"/>
                    <a:pt x="19693" y="16204"/>
                    <a:pt x="20781" y="18902"/>
                  </a:cubicBezTo>
                  <a:cubicBezTo>
                    <a:pt x="21122" y="19748"/>
                    <a:pt x="21397" y="20653"/>
                    <a:pt x="21600" y="2160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endParaRPr dirty="0"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5" name="Shape 533"/>
            <p:cNvSpPr/>
            <p:nvPr/>
          </p:nvSpPr>
          <p:spPr>
            <a:xfrm flipH="1">
              <a:off x="19793" y="-1"/>
              <a:ext cx="9486813" cy="685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cubicBezTo>
                    <a:pt x="1344" y="2498"/>
                    <a:pt x="2978" y="4578"/>
                    <a:pt x="4815" y="6132"/>
                  </a:cubicBezTo>
                  <a:cubicBezTo>
                    <a:pt x="6613" y="7654"/>
                    <a:pt x="8570" y="8643"/>
                    <a:pt x="10528" y="9588"/>
                  </a:cubicBezTo>
                  <a:cubicBezTo>
                    <a:pt x="12488" y="10533"/>
                    <a:pt x="14507" y="11513"/>
                    <a:pt x="16308" y="12931"/>
                  </a:cubicBezTo>
                  <a:cubicBezTo>
                    <a:pt x="18109" y="14349"/>
                    <a:pt x="19693" y="16204"/>
                    <a:pt x="20781" y="18902"/>
                  </a:cubicBezTo>
                  <a:cubicBezTo>
                    <a:pt x="21122" y="19748"/>
                    <a:pt x="21397" y="20653"/>
                    <a:pt x="21600" y="21600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endParaRPr dirty="0"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40" name="矩形 39"/>
          <p:cNvSpPr/>
          <p:nvPr>
            <p:custDataLst>
              <p:tags r:id="rId1"/>
            </p:custDataLst>
          </p:nvPr>
        </p:nvSpPr>
        <p:spPr>
          <a:xfrm>
            <a:off x="0" y="-1"/>
            <a:ext cx="6108700" cy="874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3200" dirty="0">
                <a:solidFill>
                  <a:schemeClr val="bg1"/>
                </a:solidFill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rPr>
              <a:t>3. Proposed methods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push dir="u"/>
      </p:transition>
    </mc:Choice>
    <mc:Fallback xmlns="">
      <p:transition spd="slow" advClick="0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30927" y="0"/>
            <a:ext cx="7715581" cy="2429164"/>
            <a:chOff x="19793" y="-1"/>
            <a:chExt cx="10374770" cy="6858001"/>
          </a:xfrm>
        </p:grpSpPr>
        <p:sp>
          <p:nvSpPr>
            <p:cNvPr id="14" name="Shape 532"/>
            <p:cNvSpPr/>
            <p:nvPr/>
          </p:nvSpPr>
          <p:spPr>
            <a:xfrm flipH="1">
              <a:off x="19793" y="0"/>
              <a:ext cx="10374770" cy="6858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cubicBezTo>
                    <a:pt x="1344" y="2498"/>
                    <a:pt x="2978" y="4578"/>
                    <a:pt x="4815" y="6132"/>
                  </a:cubicBezTo>
                  <a:cubicBezTo>
                    <a:pt x="6613" y="7654"/>
                    <a:pt x="8570" y="8643"/>
                    <a:pt x="10528" y="9588"/>
                  </a:cubicBezTo>
                  <a:cubicBezTo>
                    <a:pt x="12488" y="10533"/>
                    <a:pt x="14507" y="11513"/>
                    <a:pt x="16308" y="12931"/>
                  </a:cubicBezTo>
                  <a:cubicBezTo>
                    <a:pt x="18109" y="14349"/>
                    <a:pt x="19693" y="16204"/>
                    <a:pt x="20781" y="18902"/>
                  </a:cubicBezTo>
                  <a:cubicBezTo>
                    <a:pt x="21122" y="19748"/>
                    <a:pt x="21397" y="20653"/>
                    <a:pt x="21600" y="2160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endParaRPr dirty="0"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5" name="Shape 533"/>
            <p:cNvSpPr/>
            <p:nvPr/>
          </p:nvSpPr>
          <p:spPr>
            <a:xfrm flipH="1">
              <a:off x="19793" y="-1"/>
              <a:ext cx="9486813" cy="685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cubicBezTo>
                    <a:pt x="1344" y="2498"/>
                    <a:pt x="2978" y="4578"/>
                    <a:pt x="4815" y="6132"/>
                  </a:cubicBezTo>
                  <a:cubicBezTo>
                    <a:pt x="6613" y="7654"/>
                    <a:pt x="8570" y="8643"/>
                    <a:pt x="10528" y="9588"/>
                  </a:cubicBezTo>
                  <a:cubicBezTo>
                    <a:pt x="12488" y="10533"/>
                    <a:pt x="14507" y="11513"/>
                    <a:pt x="16308" y="12931"/>
                  </a:cubicBezTo>
                  <a:cubicBezTo>
                    <a:pt x="18109" y="14349"/>
                    <a:pt x="19693" y="16204"/>
                    <a:pt x="20781" y="18902"/>
                  </a:cubicBezTo>
                  <a:cubicBezTo>
                    <a:pt x="21122" y="19748"/>
                    <a:pt x="21397" y="20653"/>
                    <a:pt x="21600" y="21600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endParaRPr dirty="0"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5472" y="29945"/>
            <a:ext cx="10515600" cy="87254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HYWenHei-85W" panose="00020600040101010101" charset="-128"/>
                <a:ea typeface="HYWenHei-85W" panose="00020600040101010101" charset="-128"/>
                <a:cs typeface="HYWenHei-85W" panose="00020600040101010101" charset="-128"/>
              </a:rPr>
              <a:t>4. Experience and result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>
            <p:custDataLst>
              <p:tags r:id="rId1"/>
            </p:custDataLst>
          </p:nvPr>
        </p:nvSpPr>
        <p:spPr>
          <a:xfrm>
            <a:off x="211455" y="2054860"/>
            <a:ext cx="10960100" cy="38188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endParaRPr lang="en-US" altLang="en-US" sz="1400" dirty="0">
              <a:latin typeface="HYWenHei-85W" panose="00020600040101010101" charset="-128"/>
              <a:ea typeface="HYWenHei-85W" panose="00020600040101010101" charset="-128"/>
              <a:sym typeface="字魂36号-正文宋楷" panose="02000000000000000000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-30927" y="0"/>
            <a:ext cx="5461909" cy="2336800"/>
            <a:chOff x="19793" y="-1"/>
            <a:chExt cx="10374770" cy="6858001"/>
          </a:xfrm>
        </p:grpSpPr>
        <p:sp>
          <p:nvSpPr>
            <p:cNvPr id="14" name="Shape 532"/>
            <p:cNvSpPr/>
            <p:nvPr/>
          </p:nvSpPr>
          <p:spPr>
            <a:xfrm flipH="1">
              <a:off x="19793" y="0"/>
              <a:ext cx="10374770" cy="6858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cubicBezTo>
                    <a:pt x="1344" y="2498"/>
                    <a:pt x="2978" y="4578"/>
                    <a:pt x="4815" y="6132"/>
                  </a:cubicBezTo>
                  <a:cubicBezTo>
                    <a:pt x="6613" y="7654"/>
                    <a:pt x="8570" y="8643"/>
                    <a:pt x="10528" y="9588"/>
                  </a:cubicBezTo>
                  <a:cubicBezTo>
                    <a:pt x="12488" y="10533"/>
                    <a:pt x="14507" y="11513"/>
                    <a:pt x="16308" y="12931"/>
                  </a:cubicBezTo>
                  <a:cubicBezTo>
                    <a:pt x="18109" y="14349"/>
                    <a:pt x="19693" y="16204"/>
                    <a:pt x="20781" y="18902"/>
                  </a:cubicBezTo>
                  <a:cubicBezTo>
                    <a:pt x="21122" y="19748"/>
                    <a:pt x="21397" y="20653"/>
                    <a:pt x="21600" y="2160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endParaRPr dirty="0"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5" name="Shape 533"/>
            <p:cNvSpPr/>
            <p:nvPr/>
          </p:nvSpPr>
          <p:spPr>
            <a:xfrm flipH="1">
              <a:off x="19793" y="-1"/>
              <a:ext cx="9486813" cy="685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cubicBezTo>
                    <a:pt x="1344" y="2498"/>
                    <a:pt x="2978" y="4578"/>
                    <a:pt x="4815" y="6132"/>
                  </a:cubicBezTo>
                  <a:cubicBezTo>
                    <a:pt x="6613" y="7654"/>
                    <a:pt x="8570" y="8643"/>
                    <a:pt x="10528" y="9588"/>
                  </a:cubicBezTo>
                  <a:cubicBezTo>
                    <a:pt x="12488" y="10533"/>
                    <a:pt x="14507" y="11513"/>
                    <a:pt x="16308" y="12931"/>
                  </a:cubicBezTo>
                  <a:cubicBezTo>
                    <a:pt x="18109" y="14349"/>
                    <a:pt x="19693" y="16204"/>
                    <a:pt x="20781" y="18902"/>
                  </a:cubicBezTo>
                  <a:cubicBezTo>
                    <a:pt x="21122" y="19748"/>
                    <a:pt x="21397" y="20653"/>
                    <a:pt x="21600" y="21600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endParaRPr dirty="0"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40" name="矩形 39"/>
          <p:cNvSpPr/>
          <p:nvPr>
            <p:custDataLst>
              <p:tags r:id="rId2"/>
            </p:custDataLst>
          </p:nvPr>
        </p:nvSpPr>
        <p:spPr>
          <a:xfrm>
            <a:off x="100619" y="0"/>
            <a:ext cx="3646805" cy="874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3200" dirty="0">
                <a:solidFill>
                  <a:schemeClr val="bg1"/>
                </a:solidFill>
                <a:latin typeface="HYWenHei-85W" panose="00020600040101010101" charset="-128"/>
                <a:ea typeface="HYWenHei-85W" panose="00020600040101010101" charset="-128"/>
                <a:sym typeface="字魂36号-正文宋楷" panose="02000000000000000000" pitchFamily="2" charset="-122"/>
              </a:rPr>
              <a:t>5.Conclusion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push dir="u"/>
      </p:transition>
    </mc:Choice>
    <mc:Fallback xmlns="">
      <p:transition spd="slow" advClick="0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flipH="1">
            <a:off x="19793" y="-1"/>
            <a:ext cx="10374770" cy="6858001"/>
            <a:chOff x="1821291" y="-1"/>
            <a:chExt cx="10370709" cy="6858001"/>
          </a:xfrm>
        </p:grpSpPr>
        <p:sp>
          <p:nvSpPr>
            <p:cNvPr id="532" name="Shape 532"/>
            <p:cNvSpPr/>
            <p:nvPr/>
          </p:nvSpPr>
          <p:spPr>
            <a:xfrm>
              <a:off x="1821291" y="0"/>
              <a:ext cx="10370709" cy="6858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cubicBezTo>
                    <a:pt x="1344" y="2498"/>
                    <a:pt x="2978" y="4578"/>
                    <a:pt x="4815" y="6132"/>
                  </a:cubicBezTo>
                  <a:cubicBezTo>
                    <a:pt x="6613" y="7654"/>
                    <a:pt x="8570" y="8643"/>
                    <a:pt x="10528" y="9588"/>
                  </a:cubicBezTo>
                  <a:cubicBezTo>
                    <a:pt x="12488" y="10533"/>
                    <a:pt x="14507" y="11513"/>
                    <a:pt x="16308" y="12931"/>
                  </a:cubicBezTo>
                  <a:cubicBezTo>
                    <a:pt x="18109" y="14349"/>
                    <a:pt x="19693" y="16204"/>
                    <a:pt x="20781" y="18902"/>
                  </a:cubicBezTo>
                  <a:cubicBezTo>
                    <a:pt x="21122" y="19748"/>
                    <a:pt x="21397" y="20653"/>
                    <a:pt x="21600" y="2160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endParaRPr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533" name="Shape 533"/>
            <p:cNvSpPr/>
            <p:nvPr/>
          </p:nvSpPr>
          <p:spPr>
            <a:xfrm>
              <a:off x="2708901" y="-1"/>
              <a:ext cx="9483099" cy="685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cubicBezTo>
                    <a:pt x="1344" y="2498"/>
                    <a:pt x="2978" y="4578"/>
                    <a:pt x="4815" y="6132"/>
                  </a:cubicBezTo>
                  <a:cubicBezTo>
                    <a:pt x="6613" y="7654"/>
                    <a:pt x="8570" y="8643"/>
                    <a:pt x="10528" y="9588"/>
                  </a:cubicBezTo>
                  <a:cubicBezTo>
                    <a:pt x="12488" y="10533"/>
                    <a:pt x="14507" y="11513"/>
                    <a:pt x="16308" y="12931"/>
                  </a:cubicBezTo>
                  <a:cubicBezTo>
                    <a:pt x="18109" y="14349"/>
                    <a:pt x="19693" y="16204"/>
                    <a:pt x="20781" y="18902"/>
                  </a:cubicBezTo>
                  <a:cubicBezTo>
                    <a:pt x="21122" y="19748"/>
                    <a:pt x="21397" y="20653"/>
                    <a:pt x="21600" y="21600"/>
                  </a:cubicBezTo>
                  <a:close/>
                </a:path>
              </a:pathLst>
            </a:custGeom>
            <a:solidFill>
              <a:srgbClr val="2866A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endParaRPr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12" name="Shape 535"/>
          <p:cNvSpPr/>
          <p:nvPr/>
        </p:nvSpPr>
        <p:spPr>
          <a:xfrm flipH="1">
            <a:off x="213161" y="372051"/>
            <a:ext cx="7355538" cy="132343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 defTabSz="457200">
              <a:defRPr sz="4400" cap="all">
                <a:solidFill>
                  <a:srgbClr val="C1B397"/>
                </a:solidFill>
                <a:latin typeface="Futura LT Light"/>
                <a:ea typeface="Futura LT Light"/>
                <a:cs typeface="Futura LT Light"/>
                <a:sym typeface="Futura LT Light"/>
              </a:defRPr>
            </a:lvl1pPr>
          </a:lstStyle>
          <a:p>
            <a:pPr algn="l"/>
            <a:r>
              <a:rPr lang="en-US" altLang="zh-CN" sz="8000" cap="none" dirty="0">
                <a:solidFill>
                  <a:schemeClr val="bg1"/>
                </a:solidFill>
                <a:latin typeface="HYWenHei-85W" panose="00020600040101010101" charset="-128"/>
                <a:ea typeface="HYWenHei-85W" panose="00020600040101010101" charset="-128"/>
                <a:cs typeface="HYWenHei-85W" panose="00020600040101010101" charset="-128"/>
                <a:sym typeface="字魂36号-正文宋楷" panose="02000000000000000000" pitchFamily="2" charset="-122"/>
              </a:rPr>
              <a:t>Thank You All</a:t>
            </a:r>
            <a:endParaRPr lang="en-US" sz="8000" cap="none" dirty="0">
              <a:solidFill>
                <a:schemeClr val="bg1"/>
              </a:solidFill>
              <a:latin typeface="HYWenHei-85W" panose="00020600040101010101" charset="-128"/>
              <a:ea typeface="HYWenHei-85W" panose="00020600040101010101" charset="-128"/>
              <a:cs typeface="HYWenHei-85W" panose="00020600040101010101" charset="-128"/>
              <a:sym typeface="字魂36号-正文宋楷" panose="02000000000000000000" pitchFamily="2" charset="-122"/>
            </a:endParaRPr>
          </a:p>
        </p:txBody>
      </p:sp>
      <p:cxnSp>
        <p:nvCxnSpPr>
          <p:cNvPr id="14" name="直接连接符 2"/>
          <p:cNvCxnSpPr/>
          <p:nvPr/>
        </p:nvCxnSpPr>
        <p:spPr>
          <a:xfrm flipH="1">
            <a:off x="285134" y="2163100"/>
            <a:ext cx="2654711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:cover/>
      </p:transition>
    </mc:Choice>
    <mc:Fallback xmlns="">
      <p:transition spd="slow" advTm="0">
        <p:cover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7-0312-17 5G新时代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3.13291338582675,&quot;left&quot;:519.6062992125984,&quot;top&quot;:155.70842519685038,&quot;width&quot;:308.9834645669290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3.13291338582675,&quot;left&quot;:519.6062992125984,&quot;top&quot;:155.70842519685038,&quot;width&quot;:308.9834645669290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3.13291338582675,&quot;left&quot;:519.6062992125984,&quot;top&quot;:155.70842519685038,&quot;width&quot;:308.9834645669290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3.13291338582675,&quot;left&quot;:519.6062992125984,&quot;top&quot;:155.70842519685038,&quot;width&quot;:308.9834645669290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3.13291338582675,&quot;left&quot;:519.6062992125984,&quot;top&quot;:155.70842519685038,&quot;width&quot;:308.9834645669290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3.13291338582675,&quot;left&quot;:519.6062992125984,&quot;top&quot;:155.70842519685038,&quot;width&quot;:308.9834645669290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3.13291338582675,&quot;left&quot;:519.6062992125984,&quot;top&quot;:155.70842519685038,&quot;width&quot;:308.9834645669290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3.13291338582675,&quot;left&quot;:519.6062992125984,&quot;top&quot;:155.70842519685038,&quot;width&quot;:308.9834645669290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3.13291338582675,&quot;left&quot;:519.6062992125984,&quot;top&quot;:155.70842519685038,&quot;width&quot;:308.9834645669290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3.13291338582675,&quot;left&quot;:519.6062992125984,&quot;top&quot;:155.70842519685038,&quot;width&quot;:308.9834645669290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3.13291338582675,&quot;left&quot;:519.6062992125984,&quot;top&quot;:155.70842519685038,&quot;width&quot;:308.98346456692906}"/>
</p:tagLst>
</file>

<file path=ppt/theme/theme1.xml><?xml version="1.0" encoding="utf-8"?>
<a:theme xmlns:a="http://schemas.openxmlformats.org/drawingml/2006/main" name="AAAAAAAAAAAA）">
  <a:themeElements>
    <a:clrScheme name="自定义 2194">
      <a:dk1>
        <a:sysClr val="windowText" lastClr="000000"/>
      </a:dk1>
      <a:lt1>
        <a:sysClr val="window" lastClr="FFFFFF"/>
      </a:lt1>
      <a:dk2>
        <a:srgbClr val="2865AB"/>
      </a:dk2>
      <a:lt2>
        <a:srgbClr val="E7E6E6"/>
      </a:lt2>
      <a:accent1>
        <a:srgbClr val="2865AB"/>
      </a:accent1>
      <a:accent2>
        <a:srgbClr val="2865AB"/>
      </a:accent2>
      <a:accent3>
        <a:srgbClr val="2865AB"/>
      </a:accent3>
      <a:accent4>
        <a:srgbClr val="2865AB"/>
      </a:accent4>
      <a:accent5>
        <a:srgbClr val="2865AB"/>
      </a:accent5>
      <a:accent6>
        <a:srgbClr val="2865AB"/>
      </a:accent6>
      <a:hlink>
        <a:srgbClr val="2865AB"/>
      </a:hlink>
      <a:folHlink>
        <a:srgbClr val="2865AB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268</Words>
  <Application>Microsoft Office PowerPoint</Application>
  <PresentationFormat>Widescreen</PresentationFormat>
  <Paragraphs>67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HYWenHei-85W</vt:lpstr>
      <vt:lpstr>Arial</vt:lpstr>
      <vt:lpstr>思源黑体 CN Medium</vt:lpstr>
      <vt:lpstr>AAAAAAAAAAAA）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Experience and result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7-0312-17 5G新时代PPT模板</dc:title>
  <dc:creator>Administrator</dc:creator>
  <cp:lastModifiedBy>Akama Asumi</cp:lastModifiedBy>
  <cp:revision>30</cp:revision>
  <dcterms:created xsi:type="dcterms:W3CDTF">2019-03-12T07:43:00Z</dcterms:created>
  <dcterms:modified xsi:type="dcterms:W3CDTF">2025-10-27T14:48:29Z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4E0E1F1A91BF452D8A62DDBBA7AAD977_12</vt:lpwstr>
  </property>
  <property fmtid="{D5CDD505-2E9C-101B-9397-08002B2CF9AE}" pid="3" name="KSOProductBuildVer">
    <vt:lpwstr>1033-12.2.0.23131</vt:lpwstr>
  </property>
</Properties>
</file>