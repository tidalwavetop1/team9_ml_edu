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3" r:id="rId11"/>
    <p:sldId id="274" r:id="rId12"/>
    <p:sldId id="265" r:id="rId13"/>
    <p:sldId id="275" r:id="rId14"/>
    <p:sldId id="266" r:id="rId15"/>
    <p:sldId id="276" r:id="rId16"/>
    <p:sldId id="277" r:id="rId17"/>
    <p:sldId id="267" r:id="rId18"/>
    <p:sldId id="268" r:id="rId19"/>
    <p:sldId id="270" r:id="rId20"/>
    <p:sldId id="272" r:id="rId21"/>
  </p:sldIdLst>
  <p:sldSz cx="18288000" cy="10287000"/>
  <p:notesSz cx="6858000" cy="9144000"/>
  <p:embeddedFontLst>
    <p:embeddedFont>
      <p:font typeface="Arial Bold" panose="020B0704020202020204" pitchFamily="34" charset="0"/>
      <p:regular r:id="rId22"/>
      <p:bold r:id="rId23"/>
    </p:embeddedFont>
    <p:embeddedFont>
      <p:font typeface="Arial Italics" panose="020B0604020202020204" charset="0"/>
      <p:regular r:id="rId24"/>
    </p:embeddedFont>
    <p:embeddedFont>
      <p:font typeface="Arimo" panose="020B0604020202020204" charset="0"/>
      <p:regular r:id="rId25"/>
    </p:embeddedFont>
    <p:embeddedFont>
      <p:font typeface="Arimo Bold" panose="020B0604020202020204" charset="0"/>
      <p:regular r:id="rId26"/>
    </p:embeddedFont>
    <p:embeddedFont>
      <p:font typeface="Canva Sans" panose="020B0604020202020204" charset="0"/>
      <p:regular r:id="rId27"/>
    </p:embeddedFont>
    <p:embeddedFont>
      <p:font typeface="HYWenHei-85W" panose="00020600040101010101" pitchFamily="18" charset="-128"/>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189" autoAdjust="0"/>
  </p:normalViewPr>
  <p:slideViewPr>
    <p:cSldViewPr>
      <p:cViewPr varScale="1">
        <p:scale>
          <a:sx n="70" d="100"/>
          <a:sy n="70" d="100"/>
        </p:scale>
        <p:origin x="77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www.kaggle.com/competitions/titanic" TargetMode="Externa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6.jpe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30.jp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ow The Titanic Haunts Us">
            <a:extLst>
              <a:ext uri="{FF2B5EF4-FFF2-40B4-BE49-F238E27FC236}">
                <a16:creationId xmlns:a16="http://schemas.microsoft.com/office/drawing/2014/main" id="{BBC8F3C9-DD2F-839F-EFD4-47A1CC085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 y="-21894"/>
            <a:ext cx="18289809" cy="1028881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p:cNvGrpSpPr/>
          <p:nvPr/>
        </p:nvGrpSpPr>
        <p:grpSpPr>
          <a:xfrm>
            <a:off x="21526" y="-9525"/>
            <a:ext cx="16549961" cy="10306050"/>
            <a:chOff x="0" y="0"/>
            <a:chExt cx="22066614" cy="13741400"/>
          </a:xfrm>
        </p:grpSpPr>
        <p:sp>
          <p:nvSpPr>
            <p:cNvPr id="3" name="Freeform 3"/>
            <p:cNvSpPr/>
            <p:nvPr/>
          </p:nvSpPr>
          <p:spPr>
            <a:xfrm>
              <a:off x="12700" y="12700"/>
              <a:ext cx="22039580" cy="13716000"/>
            </a:xfrm>
            <a:custGeom>
              <a:avLst/>
              <a:gdLst/>
              <a:ahLst/>
              <a:cxnLst/>
              <a:rect l="l" t="t" r="r" b="b"/>
              <a:pathLst>
                <a:path w="22039580" h="13716000">
                  <a:moveTo>
                    <a:pt x="0" y="13716000"/>
                  </a:moveTo>
                  <a:lnTo>
                    <a:pt x="0" y="0"/>
                  </a:lnTo>
                  <a:lnTo>
                    <a:pt x="22039580" y="0"/>
                  </a:lnTo>
                  <a:cubicBezTo>
                    <a:pt x="20668235" y="1586230"/>
                    <a:pt x="19000978" y="2907030"/>
                    <a:pt x="17126586" y="3893820"/>
                  </a:cubicBezTo>
                  <a:cubicBezTo>
                    <a:pt x="15291943" y="4860290"/>
                    <a:pt x="13295122" y="5488305"/>
                    <a:pt x="11297286" y="6088380"/>
                  </a:cubicBezTo>
                  <a:cubicBezTo>
                    <a:pt x="9297416" y="6688455"/>
                    <a:pt x="7237350" y="7310755"/>
                    <a:pt x="5399659" y="8211185"/>
                  </a:cubicBezTo>
                  <a:cubicBezTo>
                    <a:pt x="3561969" y="9111615"/>
                    <a:pt x="1945767" y="10289540"/>
                    <a:pt x="835660" y="12002770"/>
                  </a:cubicBezTo>
                  <a:cubicBezTo>
                    <a:pt x="487680" y="12539980"/>
                    <a:pt x="207137" y="13114655"/>
                    <a:pt x="0" y="13716000"/>
                  </a:cubicBezTo>
                  <a:close/>
                </a:path>
              </a:pathLst>
            </a:custGeom>
            <a:solidFill>
              <a:srgbClr val="FFFFFF"/>
            </a:solidFill>
          </p:spPr>
          <p:txBody>
            <a:bodyPr/>
            <a:lstStyle/>
            <a:p>
              <a:endParaRPr lang="en-US">
                <a:latin typeface="Arial" panose="020B0604020202020204" pitchFamily="34" charset="0"/>
                <a:cs typeface="Arial" panose="020B0604020202020204" pitchFamily="34" charset="0"/>
              </a:endParaRPr>
            </a:p>
          </p:txBody>
        </p:sp>
      </p:grpSp>
      <p:grpSp>
        <p:nvGrpSpPr>
          <p:cNvPr id="4" name="Group 4"/>
          <p:cNvGrpSpPr/>
          <p:nvPr/>
        </p:nvGrpSpPr>
        <p:grpSpPr>
          <a:xfrm>
            <a:off x="-11933" y="-28575"/>
            <a:ext cx="18310053" cy="10306052"/>
            <a:chOff x="0" y="0"/>
            <a:chExt cx="24413404" cy="13741402"/>
          </a:xfrm>
        </p:grpSpPr>
        <p:sp>
          <p:nvSpPr>
            <p:cNvPr id="5" name="Freeform 5"/>
            <p:cNvSpPr/>
            <p:nvPr/>
          </p:nvSpPr>
          <p:spPr>
            <a:xfrm>
              <a:off x="12700" y="12700"/>
              <a:ext cx="24386412" cy="13716000"/>
            </a:xfrm>
            <a:custGeom>
              <a:avLst/>
              <a:gdLst/>
              <a:ahLst/>
              <a:cxnLst/>
              <a:rect l="l" t="t" r="r" b="b"/>
              <a:pathLst>
                <a:path w="24386412" h="13716000">
                  <a:moveTo>
                    <a:pt x="0" y="13716000"/>
                  </a:moveTo>
                  <a:lnTo>
                    <a:pt x="0" y="0"/>
                  </a:lnTo>
                  <a:lnTo>
                    <a:pt x="24386412" y="0"/>
                  </a:lnTo>
                  <a:cubicBezTo>
                    <a:pt x="22869017" y="1586230"/>
                    <a:pt x="21024214" y="2907030"/>
                    <a:pt x="18950304" y="3893820"/>
                  </a:cubicBezTo>
                  <a:cubicBezTo>
                    <a:pt x="16920336" y="4860290"/>
                    <a:pt x="14710918" y="5488305"/>
                    <a:pt x="12500356" y="6088380"/>
                  </a:cubicBezTo>
                  <a:cubicBezTo>
                    <a:pt x="10287507" y="6688455"/>
                    <a:pt x="8008111" y="7310755"/>
                    <a:pt x="5974714" y="8211185"/>
                  </a:cubicBezTo>
                  <a:cubicBezTo>
                    <a:pt x="3941317" y="9111615"/>
                    <a:pt x="2153031" y="10289540"/>
                    <a:pt x="924687" y="12002770"/>
                  </a:cubicBezTo>
                  <a:cubicBezTo>
                    <a:pt x="539623" y="12539980"/>
                    <a:pt x="229235" y="13114655"/>
                    <a:pt x="0" y="13716000"/>
                  </a:cubicBezTo>
                  <a:close/>
                </a:path>
              </a:pathLst>
            </a:custGeom>
            <a:solidFill>
              <a:srgbClr val="2866AB"/>
            </a:solidFill>
          </p:spPr>
          <p:txBody>
            <a:bodyPr/>
            <a:lstStyle/>
            <a:p>
              <a:endParaRPr lang="en-US">
                <a:latin typeface="Arial" panose="020B0604020202020204" pitchFamily="34" charset="0"/>
                <a:cs typeface="Arial" panose="020B0604020202020204" pitchFamily="34" charset="0"/>
              </a:endParaRPr>
            </a:p>
          </p:txBody>
        </p:sp>
      </p:grpSp>
      <p:sp>
        <p:nvSpPr>
          <p:cNvPr id="6" name="TextBox 6"/>
          <p:cNvSpPr txBox="1"/>
          <p:nvPr/>
        </p:nvSpPr>
        <p:spPr>
          <a:xfrm>
            <a:off x="317660" y="392428"/>
            <a:ext cx="15171709" cy="2769989"/>
          </a:xfrm>
          <a:prstGeom prst="rect">
            <a:avLst/>
          </a:prstGeom>
        </p:spPr>
        <p:txBody>
          <a:bodyPr lIns="0" tIns="0" rIns="0" bIns="0" rtlCol="0" anchor="t">
            <a:spAutoFit/>
          </a:bodyPr>
          <a:lstStyle/>
          <a:p>
            <a:pPr algn="l">
              <a:lnSpc>
                <a:spcPts val="7200"/>
              </a:lnSpc>
            </a:pP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Dự</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đoán</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khả</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năng</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sống</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sót</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của</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hành</a:t>
            </a:r>
            <a:endPar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endParaRPr>
          </a:p>
          <a:p>
            <a:pPr algn="l">
              <a:lnSpc>
                <a:spcPts val="7200"/>
              </a:lnSpc>
            </a:pP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khách</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trên</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tàu</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Titanic bằng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các</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p>
          <a:p>
            <a:pPr algn="l">
              <a:lnSpc>
                <a:spcPts val="7200"/>
              </a:lnSpc>
            </a:pP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mô</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hình</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máy</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r>
              <a:rPr lang="en-US" sz="6000" dirty="0" err="1">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học</a:t>
            </a:r>
            <a:r>
              <a:rPr lang="en-US" sz="6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 </a:t>
            </a:r>
          </a:p>
        </p:txBody>
      </p:sp>
      <p:sp>
        <p:nvSpPr>
          <p:cNvPr id="7" name="TextBox 5">
            <a:extLst>
              <a:ext uri="{FF2B5EF4-FFF2-40B4-BE49-F238E27FC236}">
                <a16:creationId xmlns:a16="http://schemas.microsoft.com/office/drawing/2014/main" id="{D81D6C0B-266D-11E1-89BB-F97AC09D9F9A}"/>
              </a:ext>
            </a:extLst>
          </p:cNvPr>
          <p:cNvSpPr txBox="1"/>
          <p:nvPr/>
        </p:nvSpPr>
        <p:spPr>
          <a:xfrm>
            <a:off x="335857" y="3554845"/>
            <a:ext cx="7382286" cy="820738"/>
          </a:xfrm>
          <a:prstGeom prst="rect">
            <a:avLst/>
          </a:prstGeom>
        </p:spPr>
        <p:txBody>
          <a:bodyPr wrap="square" lIns="0" tIns="0" rIns="0" bIns="0" rtlCol="0" anchor="t">
            <a:spAutoFit/>
          </a:bodyPr>
          <a:lstStyle/>
          <a:p>
            <a:pPr algn="l">
              <a:lnSpc>
                <a:spcPts val="3240"/>
              </a:lnSpc>
            </a:pPr>
            <a:r>
              <a:rPr lang="en-US" sz="2800" dirty="0" err="1">
                <a:solidFill>
                  <a:schemeClr val="bg1"/>
                </a:solidFill>
                <a:latin typeface="Arial"/>
                <a:ea typeface="Arial"/>
                <a:cs typeface="Arial"/>
                <a:sym typeface="Arial"/>
              </a:rPr>
              <a:t>Đỗ</a:t>
            </a:r>
            <a:r>
              <a:rPr lang="en-US" sz="2800" dirty="0">
                <a:solidFill>
                  <a:schemeClr val="bg1"/>
                </a:solidFill>
                <a:latin typeface="Arial"/>
                <a:ea typeface="Arial"/>
                <a:cs typeface="Arial"/>
                <a:sym typeface="Arial"/>
              </a:rPr>
              <a:t> Nguyễn Thanh Phong, Dương Chí Khang, Trịnh Minh </a:t>
            </a:r>
            <a:r>
              <a:rPr lang="en-US" sz="2800" dirty="0" err="1">
                <a:solidFill>
                  <a:schemeClr val="bg1"/>
                </a:solidFill>
                <a:latin typeface="Arial"/>
                <a:ea typeface="Arial"/>
                <a:cs typeface="Arial"/>
                <a:sym typeface="Arial"/>
              </a:rPr>
              <a:t>Toàn</a:t>
            </a:r>
            <a:r>
              <a:rPr lang="en-US" sz="2800" dirty="0">
                <a:solidFill>
                  <a:schemeClr val="bg1"/>
                </a:solidFill>
                <a:latin typeface="Arial"/>
                <a:ea typeface="Arial"/>
                <a:cs typeface="Arial"/>
                <a:sym typeface="Arial"/>
              </a:rPr>
              <a:t>, Cao Thanh Tài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62473" y="504825"/>
            <a:ext cx="9614514" cy="1519984"/>
            <a:chOff x="0" y="0"/>
            <a:chExt cx="12819352" cy="2026646"/>
          </a:xfrm>
        </p:grpSpPr>
        <p:sp>
          <p:nvSpPr>
            <p:cNvPr id="3" name="Freeform 3"/>
            <p:cNvSpPr/>
            <p:nvPr/>
          </p:nvSpPr>
          <p:spPr>
            <a:xfrm>
              <a:off x="6350" y="6350"/>
              <a:ext cx="12806680" cy="2013966"/>
            </a:xfrm>
            <a:custGeom>
              <a:avLst/>
              <a:gdLst/>
              <a:ahLst/>
              <a:cxnLst/>
              <a:rect l="l" t="t" r="r" b="b"/>
              <a:pathLst>
                <a:path w="12806680" h="2013966">
                  <a:moveTo>
                    <a:pt x="0" y="0"/>
                  </a:moveTo>
                  <a:lnTo>
                    <a:pt x="12806680" y="0"/>
                  </a:lnTo>
                  <a:lnTo>
                    <a:pt x="12806680" y="2013966"/>
                  </a:lnTo>
                  <a:lnTo>
                    <a:pt x="0" y="2013966"/>
                  </a:lnTo>
                  <a:close/>
                </a:path>
              </a:pathLst>
            </a:custGeom>
            <a:solidFill>
              <a:srgbClr val="2865AB"/>
            </a:solidFill>
          </p:spPr>
          <p:txBody>
            <a:bodyPr/>
            <a:lstStyle/>
            <a:p>
              <a:endParaRPr lang="en-US"/>
            </a:p>
          </p:txBody>
        </p:sp>
      </p:grpSp>
      <p:sp>
        <p:nvSpPr>
          <p:cNvPr id="4" name="TextBox 4"/>
          <p:cNvSpPr txBox="1"/>
          <p:nvPr/>
        </p:nvSpPr>
        <p:spPr>
          <a:xfrm>
            <a:off x="4783980" y="713391"/>
            <a:ext cx="8971521" cy="1102866"/>
          </a:xfrm>
          <a:prstGeom prst="rect">
            <a:avLst/>
          </a:prstGeom>
        </p:spPr>
        <p:txBody>
          <a:bodyPr lIns="0" tIns="0" rIns="0" bIns="0" rtlCol="0" anchor="t">
            <a:spAutoFit/>
          </a:bodyPr>
          <a:lstStyle/>
          <a:p>
            <a:pPr algn="ctr">
              <a:lnSpc>
                <a:spcPts val="8640"/>
              </a:lnSpc>
            </a:pPr>
            <a:r>
              <a:rPr lang="en-US" sz="7200" b="1"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Bold"/>
              </a:rPr>
              <a:t>Agenda</a:t>
            </a:r>
          </a:p>
        </p:txBody>
      </p:sp>
      <p:sp>
        <p:nvSpPr>
          <p:cNvPr id="5" name="TextBox 5"/>
          <p:cNvSpPr txBox="1"/>
          <p:nvPr/>
        </p:nvSpPr>
        <p:spPr>
          <a:xfrm>
            <a:off x="1348740" y="2831783"/>
            <a:ext cx="15590520" cy="6560963"/>
          </a:xfrm>
          <a:prstGeom prst="rect">
            <a:avLst/>
          </a:prstGeom>
        </p:spPr>
        <p:txBody>
          <a:bodyPr lIns="0" tIns="0" rIns="0" bIns="0" rtlCol="0" anchor="t">
            <a:spAutoFit/>
          </a:bodyPr>
          <a:lstStyle/>
          <a:p>
            <a:pPr algn="l">
              <a:lnSpc>
                <a:spcPct val="200000"/>
              </a:lnSpc>
            </a:pPr>
            <a:r>
              <a:rPr lang="en-US" sz="4400" dirty="0">
                <a:solidFill>
                  <a:srgbClr val="000000"/>
                </a:solidFill>
                <a:latin typeface="Arial" panose="020B0604020202020204" pitchFamily="34" charset="0"/>
                <a:ea typeface="思源黑体"/>
                <a:cs typeface="Arial" panose="020B0604020202020204" pitchFamily="34" charset="0"/>
                <a:sym typeface="思源黑体"/>
              </a:rPr>
              <a:t>1. Introduction</a:t>
            </a:r>
          </a:p>
          <a:p>
            <a:pPr algn="l">
              <a:lnSpc>
                <a:spcPct val="200000"/>
              </a:lnSpc>
            </a:pPr>
            <a:r>
              <a:rPr lang="en-US" sz="4400" dirty="0">
                <a:solidFill>
                  <a:srgbClr val="000000"/>
                </a:solidFill>
                <a:latin typeface="Arial" panose="020B0604020202020204" pitchFamily="34" charset="0"/>
                <a:ea typeface="思源黑体"/>
                <a:cs typeface="Arial" panose="020B0604020202020204" pitchFamily="34" charset="0"/>
                <a:sym typeface="思源黑体"/>
              </a:rPr>
              <a:t>2. Related works</a:t>
            </a:r>
          </a:p>
          <a:p>
            <a:pPr algn="l">
              <a:lnSpc>
                <a:spcPct val="200000"/>
              </a:lnSpc>
            </a:pPr>
            <a:r>
              <a:rPr lang="en-US" sz="4400" dirty="0">
                <a:solidFill>
                  <a:srgbClr val="000000"/>
                </a:solidFill>
                <a:latin typeface="Arial" panose="020B0604020202020204" pitchFamily="34" charset="0"/>
                <a:ea typeface="思源黑体"/>
                <a:cs typeface="Arial" panose="020B0604020202020204" pitchFamily="34" charset="0"/>
                <a:sym typeface="思源黑体"/>
              </a:rPr>
              <a:t>3. Proposed method</a:t>
            </a:r>
          </a:p>
          <a:p>
            <a:pPr algn="l">
              <a:lnSpc>
                <a:spcPct val="200000"/>
              </a:lnSpc>
            </a:pPr>
            <a:r>
              <a:rPr lang="en-US" sz="4400" dirty="0">
                <a:solidFill>
                  <a:srgbClr val="000000"/>
                </a:solidFill>
                <a:latin typeface="Arial" panose="020B0604020202020204" pitchFamily="34" charset="0"/>
                <a:ea typeface="思源黑体"/>
                <a:cs typeface="Arial" panose="020B0604020202020204" pitchFamily="34" charset="0"/>
                <a:sym typeface="思源黑体"/>
              </a:rPr>
              <a:t>4. Experiment and Results</a:t>
            </a:r>
          </a:p>
          <a:p>
            <a:pPr algn="l">
              <a:lnSpc>
                <a:spcPct val="200000"/>
              </a:lnSpc>
            </a:pPr>
            <a:r>
              <a:rPr lang="en-US" sz="4400" dirty="0">
                <a:solidFill>
                  <a:srgbClr val="000000"/>
                </a:solidFill>
                <a:latin typeface="Arial" panose="020B0604020202020204" pitchFamily="34" charset="0"/>
                <a:ea typeface="思源黑体"/>
                <a:cs typeface="Arial" panose="020B0604020202020204" pitchFamily="34" charset="0"/>
                <a:sym typeface="思源黑体"/>
              </a:rPr>
              <a:t>5. Conclusion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531" y="-2507"/>
            <a:ext cx="10047801" cy="2717511"/>
          </a:xfrm>
          <a:custGeom>
            <a:avLst/>
            <a:gdLst/>
            <a:ahLst/>
            <a:cxnLst/>
            <a:rect l="l" t="t" r="r" b="b"/>
            <a:pathLst>
              <a:path w="10047801" h="2717511">
                <a:moveTo>
                  <a:pt x="0" y="0"/>
                </a:moveTo>
                <a:lnTo>
                  <a:pt x="10047800" y="0"/>
                </a:lnTo>
                <a:lnTo>
                  <a:pt x="10047800"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wpp"/>
          <p:cNvSpPr/>
          <p:nvPr/>
        </p:nvSpPr>
        <p:spPr>
          <a:xfrm>
            <a:off x="1883092" y="7740968"/>
            <a:ext cx="235267" cy="375285"/>
          </a:xfrm>
          <a:custGeom>
            <a:avLst/>
            <a:gdLst/>
            <a:ahLst/>
            <a:cxnLst/>
            <a:rect l="l" t="t" r="r" b="b"/>
            <a:pathLst>
              <a:path w="235267" h="375285">
                <a:moveTo>
                  <a:pt x="0" y="0"/>
                </a:moveTo>
                <a:lnTo>
                  <a:pt x="235268" y="0"/>
                </a:lnTo>
                <a:lnTo>
                  <a:pt x="235268" y="375285"/>
                </a:lnTo>
                <a:lnTo>
                  <a:pt x="0" y="375285"/>
                </a:lnTo>
                <a:lnTo>
                  <a:pt x="0" y="0"/>
                </a:lnTo>
                <a:close/>
              </a:path>
            </a:pathLst>
          </a:custGeom>
          <a:blipFill>
            <a:blip r:embed="rId4">
              <a:extLst>
                <a:ext uri="{96DAC541-7B7A-43D3-8B79-37D633B846F1}">
                  <asvg:svgBlip xmlns:asvg="http://schemas.microsoft.com/office/drawing/2016/SVG/main" r:embed="rId5"/>
                </a:ext>
              </a:extLst>
            </a:blip>
            <a:stretch>
              <a:fillRect t="-152" b="-152"/>
            </a:stretch>
          </a:blipFill>
        </p:spPr>
        <p:txBody>
          <a:bodyPr/>
          <a:lstStyle/>
          <a:p>
            <a:endParaRPr lang="en-US"/>
          </a:p>
        </p:txBody>
      </p:sp>
      <p:sp>
        <p:nvSpPr>
          <p:cNvPr id="4" name="TextBox 4"/>
          <p:cNvSpPr txBox="1"/>
          <p:nvPr/>
        </p:nvSpPr>
        <p:spPr>
          <a:xfrm>
            <a:off x="248224" y="84990"/>
            <a:ext cx="5238176" cy="1009828"/>
          </a:xfrm>
          <a:prstGeom prst="rect">
            <a:avLst/>
          </a:prstGeom>
        </p:spPr>
        <p:txBody>
          <a:bodyPr wrap="square"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1. Introduction</a:t>
            </a:r>
          </a:p>
        </p:txBody>
      </p:sp>
      <p:sp>
        <p:nvSpPr>
          <p:cNvPr id="5" name="TextBox 5"/>
          <p:cNvSpPr txBox="1"/>
          <p:nvPr/>
        </p:nvSpPr>
        <p:spPr>
          <a:xfrm>
            <a:off x="1220079" y="2567324"/>
            <a:ext cx="3751290" cy="915525"/>
          </a:xfrm>
          <a:prstGeom prst="rect">
            <a:avLst/>
          </a:prstGeom>
        </p:spPr>
        <p:txBody>
          <a:bodyPr lIns="0" tIns="0" rIns="0" bIns="0" rtlCol="0" anchor="t">
            <a:spAutoFit/>
          </a:bodyPr>
          <a:lstStyle/>
          <a:p>
            <a:pPr algn="l">
              <a:lnSpc>
                <a:spcPts val="3240"/>
              </a:lnSpc>
            </a:pPr>
            <a:r>
              <a:rPr lang="en-US" sz="2700" dirty="0">
                <a:solidFill>
                  <a:srgbClr val="000000"/>
                </a:solidFill>
                <a:latin typeface="Arial"/>
                <a:ea typeface="Arial"/>
                <a:cs typeface="Arial"/>
                <a:sym typeface="Arial"/>
              </a:rPr>
              <a:t>Input: </a:t>
            </a:r>
            <a:r>
              <a:rPr lang="en-US" sz="2700" dirty="0" err="1">
                <a:solidFill>
                  <a:srgbClr val="000000"/>
                </a:solidFill>
                <a:latin typeface="Arial"/>
                <a:ea typeface="Arial"/>
                <a:cs typeface="Arial"/>
                <a:sym typeface="Arial"/>
              </a:rPr>
              <a:t>Bộ</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đặc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trưng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mô</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tả</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hành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khách</a:t>
            </a:r>
            <a:endParaRPr lang="en-US" sz="2700" dirty="0">
              <a:solidFill>
                <a:srgbClr val="000000"/>
              </a:solidFill>
              <a:latin typeface="Arial"/>
              <a:ea typeface="Arial"/>
              <a:cs typeface="Arial"/>
              <a:sym typeface="Arial"/>
            </a:endParaRPr>
          </a:p>
        </p:txBody>
      </p:sp>
      <p:sp>
        <p:nvSpPr>
          <p:cNvPr id="6" name="TextBox 6"/>
          <p:cNvSpPr txBox="1"/>
          <p:nvPr/>
        </p:nvSpPr>
        <p:spPr>
          <a:xfrm>
            <a:off x="12363277" y="2377378"/>
            <a:ext cx="3488055" cy="1312605"/>
          </a:xfrm>
          <a:prstGeom prst="rect">
            <a:avLst/>
          </a:prstGeom>
        </p:spPr>
        <p:txBody>
          <a:bodyPr lIns="0" tIns="0" rIns="0" bIns="0" rtlCol="0" anchor="t">
            <a:spAutoFit/>
          </a:bodyPr>
          <a:lstStyle/>
          <a:p>
            <a:pPr algn="l">
              <a:lnSpc>
                <a:spcPts val="3240"/>
              </a:lnSpc>
            </a:pPr>
            <a:r>
              <a:rPr lang="en-US" sz="2700">
                <a:solidFill>
                  <a:srgbClr val="000000"/>
                </a:solidFill>
                <a:latin typeface="Arial"/>
                <a:ea typeface="Arial"/>
                <a:cs typeface="Arial"/>
                <a:sym typeface="Arial"/>
              </a:rPr>
              <a:t>Output: Xác suất hành khách </a:t>
            </a:r>
            <a:r>
              <a:rPr lang="en-US" sz="2700" b="1">
                <a:solidFill>
                  <a:srgbClr val="000000"/>
                </a:solidFill>
                <a:latin typeface="Arial Bold"/>
                <a:ea typeface="Arial Bold"/>
                <a:cs typeface="Arial Bold"/>
                <a:sym typeface="Arial Bold"/>
              </a:rPr>
              <a:t>sống sót </a:t>
            </a:r>
            <a:r>
              <a:rPr lang="en-US" sz="2700">
                <a:solidFill>
                  <a:srgbClr val="000000"/>
                </a:solidFill>
                <a:latin typeface="Arial"/>
                <a:ea typeface="Arial"/>
                <a:cs typeface="Arial"/>
                <a:sym typeface="Arial"/>
              </a:rPr>
              <a:t> hoặc </a:t>
            </a:r>
            <a:r>
              <a:rPr lang="en-US" sz="2700" b="1">
                <a:solidFill>
                  <a:srgbClr val="000000"/>
                </a:solidFill>
                <a:latin typeface="Arial Bold"/>
                <a:ea typeface="Arial Bold"/>
                <a:cs typeface="Arial Bold"/>
                <a:sym typeface="Arial Bold"/>
              </a:rPr>
              <a:t>thiệt mạng</a:t>
            </a:r>
          </a:p>
        </p:txBody>
      </p:sp>
      <p:grpSp>
        <p:nvGrpSpPr>
          <p:cNvPr id="7" name="Group 7"/>
          <p:cNvGrpSpPr/>
          <p:nvPr/>
        </p:nvGrpSpPr>
        <p:grpSpPr>
          <a:xfrm>
            <a:off x="1108884" y="3869006"/>
            <a:ext cx="3456227" cy="3456227"/>
            <a:chOff x="0" y="0"/>
            <a:chExt cx="4608302" cy="4608302"/>
          </a:xfrm>
        </p:grpSpPr>
        <p:sp>
          <p:nvSpPr>
            <p:cNvPr id="8" name="Freeform 8" descr="documentos icono vector. reporte ilustración signo. análisis ..."/>
            <p:cNvSpPr/>
            <p:nvPr/>
          </p:nvSpPr>
          <p:spPr>
            <a:xfrm>
              <a:off x="0" y="0"/>
              <a:ext cx="4608322" cy="4608322"/>
            </a:xfrm>
            <a:custGeom>
              <a:avLst/>
              <a:gdLst/>
              <a:ahLst/>
              <a:cxnLst/>
              <a:rect l="l" t="t" r="r" b="b"/>
              <a:pathLst>
                <a:path w="4608322" h="4608322">
                  <a:moveTo>
                    <a:pt x="0" y="0"/>
                  </a:moveTo>
                  <a:lnTo>
                    <a:pt x="4608322" y="0"/>
                  </a:lnTo>
                  <a:lnTo>
                    <a:pt x="4608322" y="4608322"/>
                  </a:lnTo>
                  <a:lnTo>
                    <a:pt x="0" y="4608322"/>
                  </a:lnTo>
                  <a:lnTo>
                    <a:pt x="0" y="0"/>
                  </a:lnTo>
                  <a:close/>
                </a:path>
              </a:pathLst>
            </a:custGeom>
            <a:blipFill>
              <a:blip r:embed="rId6"/>
              <a:stretch>
                <a:fillRect/>
              </a:stretch>
            </a:blipFill>
          </p:spPr>
          <p:txBody>
            <a:bodyPr/>
            <a:lstStyle/>
            <a:p>
              <a:endParaRPr lang="en-US"/>
            </a:p>
          </p:txBody>
        </p:sp>
      </p:grpSp>
      <p:sp>
        <p:nvSpPr>
          <p:cNvPr id="9" name="AutoShape 9"/>
          <p:cNvSpPr/>
          <p:nvPr/>
        </p:nvSpPr>
        <p:spPr>
          <a:xfrm>
            <a:off x="4550596" y="5596803"/>
            <a:ext cx="2430222" cy="19050"/>
          </a:xfrm>
          <a:prstGeom prst="line">
            <a:avLst/>
          </a:prstGeom>
          <a:ln w="19050" cap="rnd">
            <a:solidFill>
              <a:srgbClr val="2865AB"/>
            </a:solidFill>
            <a:prstDash val="solid"/>
            <a:headEnd type="none" w="sm" len="sm"/>
            <a:tailEnd type="triangle" w="lg" len="med"/>
          </a:ln>
        </p:spPr>
        <p:txBody>
          <a:bodyPr/>
          <a:lstStyle/>
          <a:p>
            <a:endParaRPr lang="en-US"/>
          </a:p>
        </p:txBody>
      </p:sp>
      <p:grpSp>
        <p:nvGrpSpPr>
          <p:cNvPr id="10" name="Group 10"/>
          <p:cNvGrpSpPr/>
          <p:nvPr/>
        </p:nvGrpSpPr>
        <p:grpSpPr>
          <a:xfrm>
            <a:off x="6932881" y="5222928"/>
            <a:ext cx="3187912" cy="839304"/>
            <a:chOff x="-31863" y="0"/>
            <a:chExt cx="4250549" cy="1119072"/>
          </a:xfrm>
        </p:grpSpPr>
        <p:sp>
          <p:nvSpPr>
            <p:cNvPr id="11" name="Freeform 11"/>
            <p:cNvSpPr/>
            <p:nvPr/>
          </p:nvSpPr>
          <p:spPr>
            <a:xfrm>
              <a:off x="12700" y="12700"/>
              <a:ext cx="4193286" cy="1021588"/>
            </a:xfrm>
            <a:custGeom>
              <a:avLst/>
              <a:gdLst/>
              <a:ahLst/>
              <a:cxnLst/>
              <a:rect l="l" t="t" r="r" b="b"/>
              <a:pathLst>
                <a:path w="4193286" h="1021588">
                  <a:moveTo>
                    <a:pt x="0" y="170307"/>
                  </a:moveTo>
                  <a:cubicBezTo>
                    <a:pt x="0" y="76200"/>
                    <a:pt x="77597" y="0"/>
                    <a:pt x="173482" y="0"/>
                  </a:cubicBezTo>
                  <a:lnTo>
                    <a:pt x="4019804" y="0"/>
                  </a:lnTo>
                  <a:cubicBezTo>
                    <a:pt x="4115562" y="0"/>
                    <a:pt x="4193286" y="76200"/>
                    <a:pt x="4193286" y="170307"/>
                  </a:cubicBezTo>
                  <a:lnTo>
                    <a:pt x="4193286" y="851281"/>
                  </a:lnTo>
                  <a:cubicBezTo>
                    <a:pt x="4193286" y="945261"/>
                    <a:pt x="4115689" y="1021588"/>
                    <a:pt x="4019804" y="1021588"/>
                  </a:cubicBezTo>
                  <a:lnTo>
                    <a:pt x="173482" y="1021588"/>
                  </a:lnTo>
                  <a:cubicBezTo>
                    <a:pt x="77597" y="1021588"/>
                    <a:pt x="0" y="945388"/>
                    <a:pt x="0" y="851281"/>
                  </a:cubicBezTo>
                  <a:close/>
                </a:path>
              </a:pathLst>
            </a:custGeom>
            <a:solidFill>
              <a:srgbClr val="2865AB"/>
            </a:solidFill>
          </p:spPr>
          <p:txBody>
            <a:bodyPr/>
            <a:lstStyle/>
            <a:p>
              <a:endParaRPr lang="en-US"/>
            </a:p>
          </p:txBody>
        </p:sp>
        <p:sp>
          <p:nvSpPr>
            <p:cNvPr id="12" name="Freeform 12"/>
            <p:cNvSpPr/>
            <p:nvPr/>
          </p:nvSpPr>
          <p:spPr>
            <a:xfrm>
              <a:off x="0" y="0"/>
              <a:ext cx="4218686" cy="1046988"/>
            </a:xfrm>
            <a:custGeom>
              <a:avLst/>
              <a:gdLst/>
              <a:ahLst/>
              <a:cxnLst/>
              <a:rect l="l" t="t" r="r" b="b"/>
              <a:pathLst>
                <a:path w="4218686" h="1046988">
                  <a:moveTo>
                    <a:pt x="0" y="183007"/>
                  </a:moveTo>
                  <a:cubicBezTo>
                    <a:pt x="0" y="81661"/>
                    <a:pt x="83566" y="0"/>
                    <a:pt x="186182" y="0"/>
                  </a:cubicBezTo>
                  <a:lnTo>
                    <a:pt x="4032504" y="0"/>
                  </a:lnTo>
                  <a:lnTo>
                    <a:pt x="4032504" y="12700"/>
                  </a:lnTo>
                  <a:lnTo>
                    <a:pt x="4032504" y="0"/>
                  </a:lnTo>
                  <a:cubicBezTo>
                    <a:pt x="4135120" y="0"/>
                    <a:pt x="4218686" y="81661"/>
                    <a:pt x="4218686" y="183007"/>
                  </a:cubicBezTo>
                  <a:lnTo>
                    <a:pt x="4205986" y="183007"/>
                  </a:lnTo>
                  <a:lnTo>
                    <a:pt x="4218686" y="183007"/>
                  </a:lnTo>
                  <a:lnTo>
                    <a:pt x="4218686" y="863981"/>
                  </a:lnTo>
                  <a:lnTo>
                    <a:pt x="4205986" y="863981"/>
                  </a:lnTo>
                  <a:lnTo>
                    <a:pt x="4218686" y="863981"/>
                  </a:lnTo>
                  <a:cubicBezTo>
                    <a:pt x="4218686" y="965200"/>
                    <a:pt x="4135120" y="1046988"/>
                    <a:pt x="4032504" y="1046988"/>
                  </a:cubicBezTo>
                  <a:lnTo>
                    <a:pt x="4032504" y="1034288"/>
                  </a:lnTo>
                  <a:lnTo>
                    <a:pt x="4032504" y="1046988"/>
                  </a:lnTo>
                  <a:lnTo>
                    <a:pt x="186182" y="1046988"/>
                  </a:lnTo>
                  <a:lnTo>
                    <a:pt x="186182" y="1034288"/>
                  </a:lnTo>
                  <a:lnTo>
                    <a:pt x="186182" y="1046988"/>
                  </a:lnTo>
                  <a:cubicBezTo>
                    <a:pt x="83566" y="1046988"/>
                    <a:pt x="0" y="965200"/>
                    <a:pt x="0" y="863981"/>
                  </a:cubicBezTo>
                  <a:lnTo>
                    <a:pt x="0" y="183007"/>
                  </a:lnTo>
                  <a:lnTo>
                    <a:pt x="12700" y="183007"/>
                  </a:lnTo>
                  <a:lnTo>
                    <a:pt x="0" y="183007"/>
                  </a:lnTo>
                  <a:moveTo>
                    <a:pt x="25400" y="183007"/>
                  </a:moveTo>
                  <a:lnTo>
                    <a:pt x="25400" y="863981"/>
                  </a:lnTo>
                  <a:lnTo>
                    <a:pt x="12700" y="863981"/>
                  </a:lnTo>
                  <a:lnTo>
                    <a:pt x="25400" y="863981"/>
                  </a:lnTo>
                  <a:cubicBezTo>
                    <a:pt x="25400" y="950722"/>
                    <a:pt x="97155" y="1021588"/>
                    <a:pt x="186182" y="1021588"/>
                  </a:cubicBezTo>
                  <a:lnTo>
                    <a:pt x="4032504" y="1021588"/>
                  </a:lnTo>
                  <a:cubicBezTo>
                    <a:pt x="4121531" y="1021588"/>
                    <a:pt x="4193286" y="950849"/>
                    <a:pt x="4193286" y="863981"/>
                  </a:cubicBezTo>
                  <a:lnTo>
                    <a:pt x="4193286" y="183007"/>
                  </a:lnTo>
                  <a:cubicBezTo>
                    <a:pt x="4193286" y="96139"/>
                    <a:pt x="4121531" y="25400"/>
                    <a:pt x="4032504" y="25400"/>
                  </a:cubicBezTo>
                  <a:lnTo>
                    <a:pt x="186182" y="25400"/>
                  </a:lnTo>
                  <a:lnTo>
                    <a:pt x="186182" y="12700"/>
                  </a:lnTo>
                  <a:lnTo>
                    <a:pt x="186182" y="25400"/>
                  </a:lnTo>
                  <a:cubicBezTo>
                    <a:pt x="97155" y="25400"/>
                    <a:pt x="25400" y="96139"/>
                    <a:pt x="25400" y="183007"/>
                  </a:cubicBezTo>
                  <a:close/>
                </a:path>
              </a:pathLst>
            </a:custGeom>
            <a:solidFill>
              <a:srgbClr val="0A2646"/>
            </a:solidFill>
          </p:spPr>
          <p:txBody>
            <a:bodyPr/>
            <a:lstStyle/>
            <a:p>
              <a:endParaRPr lang="en-US"/>
            </a:p>
          </p:txBody>
        </p:sp>
        <p:sp>
          <p:nvSpPr>
            <p:cNvPr id="13" name="TextBox 13"/>
            <p:cNvSpPr txBox="1"/>
            <p:nvPr/>
          </p:nvSpPr>
          <p:spPr>
            <a:xfrm>
              <a:off x="-31863" y="43541"/>
              <a:ext cx="4218708" cy="1075531"/>
            </a:xfrm>
            <a:prstGeom prst="rect">
              <a:avLst/>
            </a:prstGeom>
          </p:spPr>
          <p:txBody>
            <a:bodyPr lIns="50800" tIns="50800" rIns="50800" bIns="50800" rtlCol="0" anchor="t"/>
            <a:lstStyle/>
            <a:p>
              <a:pPr algn="ctr">
                <a:lnSpc>
                  <a:spcPts val="4320"/>
                </a:lnSpc>
              </a:pPr>
              <a:r>
                <a:rPr lang="en-US" sz="3600" dirty="0">
                  <a:solidFill>
                    <a:srgbClr val="FFFFFF"/>
                  </a:solidFill>
                  <a:latin typeface="Arial"/>
                  <a:ea typeface="Arial"/>
                  <a:cs typeface="Arial"/>
                  <a:sym typeface="Arial"/>
                </a:rPr>
                <a:t>Model</a:t>
              </a:r>
            </a:p>
          </p:txBody>
        </p:sp>
      </p:grpSp>
      <p:sp>
        <p:nvSpPr>
          <p:cNvPr id="14" name="AutoShape 14"/>
          <p:cNvSpPr/>
          <p:nvPr/>
        </p:nvSpPr>
        <p:spPr>
          <a:xfrm>
            <a:off x="10096912" y="5606012"/>
            <a:ext cx="2429936" cy="19050"/>
          </a:xfrm>
          <a:prstGeom prst="line">
            <a:avLst/>
          </a:prstGeom>
          <a:ln w="19050" cap="rnd">
            <a:solidFill>
              <a:srgbClr val="2865AB"/>
            </a:solidFill>
            <a:prstDash val="solid"/>
            <a:headEnd type="none" w="sm" len="sm"/>
            <a:tailEnd type="triangle" w="lg" len="med"/>
          </a:ln>
        </p:spPr>
        <p:txBody>
          <a:bodyPr/>
          <a:lstStyle/>
          <a:p>
            <a:endParaRPr lang="en-US"/>
          </a:p>
        </p:txBody>
      </p:sp>
      <p:graphicFrame>
        <p:nvGraphicFramePr>
          <p:cNvPr id="15" name="Table 15"/>
          <p:cNvGraphicFramePr>
            <a:graphicFrameLocks noGrp="1"/>
          </p:cNvGraphicFramePr>
          <p:nvPr/>
        </p:nvGraphicFramePr>
        <p:xfrm>
          <a:off x="12512476" y="4923039"/>
          <a:ext cx="3562350" cy="1371600"/>
        </p:xfrm>
        <a:graphic>
          <a:graphicData uri="http://schemas.openxmlformats.org/drawingml/2006/table">
            <a:tbl>
              <a:tblPr/>
              <a:tblGrid>
                <a:gridCol w="3562350">
                  <a:extLst>
                    <a:ext uri="{9D8B030D-6E8A-4147-A177-3AD203B41FA5}">
                      <a16:colId xmlns:a16="http://schemas.microsoft.com/office/drawing/2014/main" val="20000"/>
                    </a:ext>
                  </a:extLst>
                </a:gridCol>
              </a:tblGrid>
              <a:tr h="760032">
                <a:tc>
                  <a:txBody>
                    <a:bodyPr/>
                    <a:lstStyle/>
                    <a:p>
                      <a:pPr algn="l">
                        <a:lnSpc>
                          <a:spcPts val="3240"/>
                        </a:lnSpc>
                        <a:defRPr/>
                      </a:pPr>
                      <a:r>
                        <a:rPr lang="en-US" sz="2700">
                          <a:solidFill>
                            <a:srgbClr val="FFFFFF"/>
                          </a:solidFill>
                          <a:latin typeface="Arial"/>
                          <a:ea typeface="Arial"/>
                          <a:cs typeface="Arial"/>
                          <a:sym typeface="Arial"/>
                        </a:rPr>
                        <a:t>Survived: 61.6%</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2865AB"/>
                    </a:solidFill>
                  </a:tcPr>
                </a:tc>
                <a:extLst>
                  <a:ext uri="{0D108BD9-81ED-4DB2-BD59-A6C34878D82A}">
                    <a16:rowId xmlns:a16="http://schemas.microsoft.com/office/drawing/2014/main" val="10000"/>
                  </a:ext>
                </a:extLst>
              </a:tr>
              <a:tr h="611568">
                <a:tc>
                  <a:txBody>
                    <a:bodyPr/>
                    <a:lstStyle/>
                    <a:p>
                      <a:pPr algn="l">
                        <a:lnSpc>
                          <a:spcPts val="3240"/>
                        </a:lnSpc>
                        <a:defRPr/>
                      </a:pPr>
                      <a:r>
                        <a:rPr lang="en-US" sz="2700">
                          <a:solidFill>
                            <a:srgbClr val="000000"/>
                          </a:solidFill>
                          <a:latin typeface="Arial"/>
                          <a:ea typeface="Arial"/>
                          <a:cs typeface="Arial"/>
                          <a:sym typeface="Arial"/>
                        </a:rPr>
                        <a:t>Not survived: 38.4%</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531" y="-2358"/>
            <a:ext cx="10047801" cy="2558158"/>
          </a:xfrm>
          <a:custGeom>
            <a:avLst/>
            <a:gdLst/>
            <a:ahLst/>
            <a:cxnLst/>
            <a:rect l="l" t="t" r="r" b="b"/>
            <a:pathLst>
              <a:path w="10047801" h="2558158">
                <a:moveTo>
                  <a:pt x="0" y="0"/>
                </a:moveTo>
                <a:lnTo>
                  <a:pt x="10047800" y="0"/>
                </a:lnTo>
                <a:lnTo>
                  <a:pt x="10047800" y="2558158"/>
                </a:lnTo>
                <a:lnTo>
                  <a:pt x="0" y="2558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descr="wpp"/>
          <p:cNvSpPr/>
          <p:nvPr/>
        </p:nvSpPr>
        <p:spPr>
          <a:xfrm>
            <a:off x="1883092" y="7740968"/>
            <a:ext cx="235267" cy="375285"/>
          </a:xfrm>
          <a:custGeom>
            <a:avLst/>
            <a:gdLst/>
            <a:ahLst/>
            <a:cxnLst/>
            <a:rect l="l" t="t" r="r" b="b"/>
            <a:pathLst>
              <a:path w="235267" h="375285">
                <a:moveTo>
                  <a:pt x="0" y="0"/>
                </a:moveTo>
                <a:lnTo>
                  <a:pt x="235268" y="0"/>
                </a:lnTo>
                <a:lnTo>
                  <a:pt x="235268" y="375285"/>
                </a:lnTo>
                <a:lnTo>
                  <a:pt x="0" y="375285"/>
                </a:lnTo>
                <a:lnTo>
                  <a:pt x="0" y="0"/>
                </a:lnTo>
                <a:close/>
              </a:path>
            </a:pathLst>
          </a:custGeom>
          <a:blipFill>
            <a:blip r:embed="rId4">
              <a:extLst>
                <a:ext uri="{96DAC541-7B7A-43D3-8B79-37D633B846F1}">
                  <asvg:svgBlip xmlns:asvg="http://schemas.microsoft.com/office/drawing/2016/SVG/main" r:embed="rId5"/>
                </a:ext>
              </a:extLst>
            </a:blip>
            <a:stretch>
              <a:fillRect t="-152" b="-152"/>
            </a:stretch>
          </a:blipFill>
        </p:spPr>
        <p:txBody>
          <a:bodyPr/>
          <a:lstStyle/>
          <a:p>
            <a:endParaRPr lang="en-US"/>
          </a:p>
        </p:txBody>
      </p:sp>
      <p:sp>
        <p:nvSpPr>
          <p:cNvPr id="4" name="TextBox 4"/>
          <p:cNvSpPr txBox="1"/>
          <p:nvPr/>
        </p:nvSpPr>
        <p:spPr>
          <a:xfrm>
            <a:off x="381001" y="15674"/>
            <a:ext cx="5334000" cy="1009828"/>
          </a:xfrm>
          <a:prstGeom prst="rect">
            <a:avLst/>
          </a:prstGeom>
        </p:spPr>
        <p:txBody>
          <a:bodyPr wrap="square"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1. Introduction</a:t>
            </a:r>
          </a:p>
        </p:txBody>
      </p:sp>
      <p:sp>
        <p:nvSpPr>
          <p:cNvPr id="5" name="TextBox 5"/>
          <p:cNvSpPr txBox="1"/>
          <p:nvPr/>
        </p:nvSpPr>
        <p:spPr>
          <a:xfrm>
            <a:off x="1271762" y="1894506"/>
            <a:ext cx="12219519" cy="897106"/>
          </a:xfrm>
          <a:prstGeom prst="rect">
            <a:avLst/>
          </a:prstGeom>
        </p:spPr>
        <p:txBody>
          <a:bodyPr lIns="0" tIns="0" rIns="0" bIns="0" rtlCol="0" anchor="t">
            <a:spAutoFit/>
          </a:bodyPr>
          <a:lstStyle/>
          <a:p>
            <a:pPr algn="l">
              <a:lnSpc>
                <a:spcPts val="3240"/>
              </a:lnSpc>
            </a:pPr>
            <a:r>
              <a:rPr lang="en-US" sz="2700">
                <a:solidFill>
                  <a:srgbClr val="000000"/>
                </a:solidFill>
                <a:latin typeface="Arial"/>
                <a:ea typeface="Arial"/>
                <a:cs typeface="Arial"/>
                <a:sym typeface="Arial"/>
              </a:rPr>
              <a:t>Bộ dữ liệu:</a:t>
            </a:r>
          </a:p>
          <a:p>
            <a:pPr algn="l">
              <a:lnSpc>
                <a:spcPts val="3240"/>
              </a:lnSpc>
            </a:pPr>
            <a:r>
              <a:rPr lang="en-US" sz="2700">
                <a:solidFill>
                  <a:srgbClr val="000000"/>
                </a:solidFill>
                <a:latin typeface="Arial"/>
                <a:ea typeface="Arial"/>
                <a:cs typeface="Arial"/>
                <a:sym typeface="Arial"/>
              </a:rPr>
              <a:t>Lấy từ Kaggle (</a:t>
            </a:r>
            <a:r>
              <a:rPr lang="en-US" sz="2700" u="sng">
                <a:solidFill>
                  <a:srgbClr val="2865AB"/>
                </a:solidFill>
                <a:latin typeface="Arial"/>
                <a:ea typeface="Arial"/>
                <a:cs typeface="Arial"/>
                <a:sym typeface="Arial"/>
                <a:hlinkClick r:id="rId6" tooltip="https://www.kaggle.com/competitions/titanic"/>
              </a:rPr>
              <a:t>Titanic - Machine Learning from Disaster</a:t>
            </a:r>
            <a:r>
              <a:rPr lang="en-US" sz="2700">
                <a:solidFill>
                  <a:srgbClr val="000000"/>
                </a:solidFill>
                <a:latin typeface="Arial"/>
                <a:ea typeface="Arial"/>
                <a:cs typeface="Arial"/>
                <a:sym typeface="Arial"/>
              </a:rPr>
              <a:t>)</a:t>
            </a:r>
          </a:p>
        </p:txBody>
      </p:sp>
      <p:graphicFrame>
        <p:nvGraphicFramePr>
          <p:cNvPr id="6" name="Table 6"/>
          <p:cNvGraphicFramePr>
            <a:graphicFrameLocks noGrp="1"/>
          </p:cNvGraphicFramePr>
          <p:nvPr/>
        </p:nvGraphicFramePr>
        <p:xfrm>
          <a:off x="1297305" y="2988022"/>
          <a:ext cx="7829550" cy="7071360"/>
        </p:xfrm>
        <a:graphic>
          <a:graphicData uri="http://schemas.openxmlformats.org/drawingml/2006/table">
            <a:tbl>
              <a:tblPr/>
              <a:tblGrid>
                <a:gridCol w="2515378">
                  <a:extLst>
                    <a:ext uri="{9D8B030D-6E8A-4147-A177-3AD203B41FA5}">
                      <a16:colId xmlns:a16="http://schemas.microsoft.com/office/drawing/2014/main" val="20000"/>
                    </a:ext>
                  </a:extLst>
                </a:gridCol>
                <a:gridCol w="5314172">
                  <a:extLst>
                    <a:ext uri="{9D8B030D-6E8A-4147-A177-3AD203B41FA5}">
                      <a16:colId xmlns:a16="http://schemas.microsoft.com/office/drawing/2014/main" val="20001"/>
                    </a:ext>
                  </a:extLst>
                </a:gridCol>
              </a:tblGrid>
              <a:tr h="381000">
                <a:tc>
                  <a:txBody>
                    <a:bodyPr/>
                    <a:lstStyle/>
                    <a:p>
                      <a:pPr algn="l">
                        <a:lnSpc>
                          <a:spcPts val="3240"/>
                        </a:lnSpc>
                        <a:defRPr/>
                      </a:pPr>
                      <a:r>
                        <a:rPr lang="en-US" sz="2700">
                          <a:solidFill>
                            <a:srgbClr val="000000"/>
                          </a:solidFill>
                          <a:latin typeface="Arial"/>
                          <a:ea typeface="Arial"/>
                          <a:cs typeface="Arial"/>
                          <a:sym typeface="Arial"/>
                        </a:rPr>
                        <a:t>PassengerId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tc>
                  <a:txBody>
                    <a:bodyPr/>
                    <a:lstStyle/>
                    <a:p>
                      <a:pPr algn="l">
                        <a:lnSpc>
                          <a:spcPts val="3240"/>
                        </a:lnSpc>
                        <a:defRPr/>
                      </a:pPr>
                      <a:r>
                        <a:rPr lang="en-US" sz="2700">
                          <a:solidFill>
                            <a:srgbClr val="000000"/>
                          </a:solidFill>
                          <a:latin typeface="Arial"/>
                          <a:ea typeface="Arial"/>
                          <a:cs typeface="Arial"/>
                          <a:sym typeface="Arial"/>
                        </a:rPr>
                        <a:t>ID hành khách</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extLst>
                  <a:ext uri="{0D108BD9-81ED-4DB2-BD59-A6C34878D82A}">
                    <a16:rowId xmlns:a16="http://schemas.microsoft.com/office/drawing/2014/main" val="10000"/>
                  </a:ext>
                </a:extLst>
              </a:tr>
              <a:tr h="381000">
                <a:tc>
                  <a:txBody>
                    <a:bodyPr/>
                    <a:lstStyle/>
                    <a:p>
                      <a:pPr algn="l">
                        <a:lnSpc>
                          <a:spcPts val="3240"/>
                        </a:lnSpc>
                        <a:defRPr/>
                      </a:pPr>
                      <a:r>
                        <a:rPr lang="en-US" sz="2700">
                          <a:solidFill>
                            <a:srgbClr val="000000"/>
                          </a:solidFill>
                          <a:latin typeface="Arial"/>
                          <a:ea typeface="Arial"/>
                          <a:cs typeface="Arial"/>
                          <a:sym typeface="Arial"/>
                        </a:rPr>
                        <a:t>Survived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tc>
                  <a:txBody>
                    <a:bodyPr/>
                    <a:lstStyle/>
                    <a:p>
                      <a:pPr algn="l">
                        <a:lnSpc>
                          <a:spcPts val="3240"/>
                        </a:lnSpc>
                        <a:defRPr/>
                      </a:pPr>
                      <a:r>
                        <a:rPr lang="en-US" sz="2700">
                          <a:solidFill>
                            <a:srgbClr val="000000"/>
                          </a:solidFill>
                          <a:latin typeface="Arial"/>
                          <a:ea typeface="Arial"/>
                          <a:cs typeface="Arial"/>
                          <a:sym typeface="Arial"/>
                        </a:rPr>
                        <a:t>Trạng thái sống sót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extLst>
                  <a:ext uri="{0D108BD9-81ED-4DB2-BD59-A6C34878D82A}">
                    <a16:rowId xmlns:a16="http://schemas.microsoft.com/office/drawing/2014/main" val="10001"/>
                  </a:ext>
                </a:extLst>
              </a:tr>
              <a:tr h="381000">
                <a:tc>
                  <a:txBody>
                    <a:bodyPr/>
                    <a:lstStyle/>
                    <a:p>
                      <a:pPr algn="l">
                        <a:lnSpc>
                          <a:spcPts val="3240"/>
                        </a:lnSpc>
                        <a:defRPr/>
                      </a:pPr>
                      <a:r>
                        <a:rPr lang="en-US" sz="2700">
                          <a:solidFill>
                            <a:srgbClr val="000000"/>
                          </a:solidFill>
                          <a:latin typeface="Arial"/>
                          <a:ea typeface="Arial"/>
                          <a:cs typeface="Arial"/>
                          <a:sym typeface="Arial"/>
                        </a:rPr>
                        <a:t>Pclass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tc>
                  <a:txBody>
                    <a:bodyPr/>
                    <a:lstStyle/>
                    <a:p>
                      <a:pPr algn="l">
                        <a:lnSpc>
                          <a:spcPts val="3240"/>
                        </a:lnSpc>
                        <a:defRPr/>
                      </a:pPr>
                      <a:r>
                        <a:rPr lang="en-US" sz="2700">
                          <a:solidFill>
                            <a:srgbClr val="000000"/>
                          </a:solidFill>
                          <a:latin typeface="Arial"/>
                          <a:ea typeface="Arial"/>
                          <a:cs typeface="Arial"/>
                          <a:sym typeface="Arial"/>
                        </a:rPr>
                        <a:t>Hạng vé</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extLst>
                  <a:ext uri="{0D108BD9-81ED-4DB2-BD59-A6C34878D82A}">
                    <a16:rowId xmlns:a16="http://schemas.microsoft.com/office/drawing/2014/main" val="10002"/>
                  </a:ext>
                </a:extLst>
              </a:tr>
              <a:tr h="381000">
                <a:tc>
                  <a:txBody>
                    <a:bodyPr/>
                    <a:lstStyle/>
                    <a:p>
                      <a:pPr algn="l">
                        <a:lnSpc>
                          <a:spcPts val="3240"/>
                        </a:lnSpc>
                        <a:defRPr/>
                      </a:pPr>
                      <a:r>
                        <a:rPr lang="en-US" sz="2700">
                          <a:solidFill>
                            <a:srgbClr val="000000"/>
                          </a:solidFill>
                          <a:latin typeface="Arial"/>
                          <a:ea typeface="Arial"/>
                          <a:cs typeface="Arial"/>
                          <a:sym typeface="Arial"/>
                        </a:rPr>
                        <a:t>Name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tc>
                  <a:txBody>
                    <a:bodyPr/>
                    <a:lstStyle/>
                    <a:p>
                      <a:pPr algn="l">
                        <a:lnSpc>
                          <a:spcPts val="3240"/>
                        </a:lnSpc>
                        <a:defRPr/>
                      </a:pPr>
                      <a:r>
                        <a:rPr lang="en-US" sz="2700">
                          <a:solidFill>
                            <a:srgbClr val="000000"/>
                          </a:solidFill>
                          <a:latin typeface="Arial"/>
                          <a:ea typeface="Arial"/>
                          <a:cs typeface="Arial"/>
                          <a:sym typeface="Arial"/>
                        </a:rPr>
                        <a:t>Tên hành khách</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extLst>
                  <a:ext uri="{0D108BD9-81ED-4DB2-BD59-A6C34878D82A}">
                    <a16:rowId xmlns:a16="http://schemas.microsoft.com/office/drawing/2014/main" val="10003"/>
                  </a:ext>
                </a:extLst>
              </a:tr>
              <a:tr h="381000">
                <a:tc>
                  <a:txBody>
                    <a:bodyPr/>
                    <a:lstStyle/>
                    <a:p>
                      <a:pPr algn="l">
                        <a:lnSpc>
                          <a:spcPts val="3240"/>
                        </a:lnSpc>
                        <a:defRPr/>
                      </a:pPr>
                      <a:r>
                        <a:rPr lang="en-US" sz="2700">
                          <a:solidFill>
                            <a:srgbClr val="000000"/>
                          </a:solidFill>
                          <a:latin typeface="Arial"/>
                          <a:ea typeface="Arial"/>
                          <a:cs typeface="Arial"/>
                          <a:sym typeface="Arial"/>
                        </a:rPr>
                        <a:t>Sex</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tc>
                  <a:txBody>
                    <a:bodyPr/>
                    <a:lstStyle/>
                    <a:p>
                      <a:pPr algn="l">
                        <a:lnSpc>
                          <a:spcPts val="3240"/>
                        </a:lnSpc>
                        <a:defRPr/>
                      </a:pPr>
                      <a:r>
                        <a:rPr lang="en-US" sz="2700">
                          <a:solidFill>
                            <a:srgbClr val="000000"/>
                          </a:solidFill>
                          <a:latin typeface="Arial"/>
                          <a:ea typeface="Arial"/>
                          <a:cs typeface="Arial"/>
                          <a:sym typeface="Arial"/>
                        </a:rPr>
                        <a:t>Giới tính</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extLst>
                  <a:ext uri="{0D108BD9-81ED-4DB2-BD59-A6C34878D82A}">
                    <a16:rowId xmlns:a16="http://schemas.microsoft.com/office/drawing/2014/main" val="10004"/>
                  </a:ext>
                </a:extLst>
              </a:tr>
              <a:tr h="381000">
                <a:tc>
                  <a:txBody>
                    <a:bodyPr/>
                    <a:lstStyle/>
                    <a:p>
                      <a:pPr algn="l">
                        <a:lnSpc>
                          <a:spcPts val="3240"/>
                        </a:lnSpc>
                        <a:defRPr/>
                      </a:pPr>
                      <a:r>
                        <a:rPr lang="en-US" sz="2700">
                          <a:solidFill>
                            <a:srgbClr val="000000"/>
                          </a:solidFill>
                          <a:latin typeface="Arial"/>
                          <a:ea typeface="Arial"/>
                          <a:cs typeface="Arial"/>
                          <a:sym typeface="Arial"/>
                        </a:rPr>
                        <a:t>Age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tc>
                  <a:txBody>
                    <a:bodyPr/>
                    <a:lstStyle/>
                    <a:p>
                      <a:pPr algn="l">
                        <a:lnSpc>
                          <a:spcPts val="3240"/>
                        </a:lnSpc>
                        <a:defRPr/>
                      </a:pPr>
                      <a:r>
                        <a:rPr lang="en-US" sz="2700">
                          <a:solidFill>
                            <a:srgbClr val="000000"/>
                          </a:solidFill>
                          <a:latin typeface="Arial"/>
                          <a:ea typeface="Arial"/>
                          <a:cs typeface="Arial"/>
                          <a:sym typeface="Arial"/>
                        </a:rPr>
                        <a:t>Tuổi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extLst>
                  <a:ext uri="{0D108BD9-81ED-4DB2-BD59-A6C34878D82A}">
                    <a16:rowId xmlns:a16="http://schemas.microsoft.com/office/drawing/2014/main" val="10005"/>
                  </a:ext>
                </a:extLst>
              </a:tr>
              <a:tr h="381000">
                <a:tc>
                  <a:txBody>
                    <a:bodyPr/>
                    <a:lstStyle/>
                    <a:p>
                      <a:pPr algn="l">
                        <a:lnSpc>
                          <a:spcPts val="3240"/>
                        </a:lnSpc>
                        <a:defRPr/>
                      </a:pPr>
                      <a:r>
                        <a:rPr lang="en-US" sz="2700">
                          <a:solidFill>
                            <a:srgbClr val="000000"/>
                          </a:solidFill>
                          <a:latin typeface="Arial"/>
                          <a:ea typeface="Arial"/>
                          <a:cs typeface="Arial"/>
                          <a:sym typeface="Arial"/>
                        </a:rPr>
                        <a:t>SibSp </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tc>
                  <a:txBody>
                    <a:bodyPr/>
                    <a:lstStyle/>
                    <a:p>
                      <a:pPr algn="l">
                        <a:lnSpc>
                          <a:spcPts val="3240"/>
                        </a:lnSpc>
                        <a:defRPr/>
                      </a:pPr>
                      <a:r>
                        <a:rPr lang="en-US" sz="2700">
                          <a:solidFill>
                            <a:srgbClr val="000000"/>
                          </a:solidFill>
                          <a:latin typeface="Arial"/>
                          <a:ea typeface="Arial"/>
                          <a:cs typeface="Arial"/>
                          <a:sym typeface="Arial"/>
                        </a:rPr>
                        <a:t>Số anh chị em/vợ chồng đi cùng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extLst>
                  <a:ext uri="{0D108BD9-81ED-4DB2-BD59-A6C34878D82A}">
                    <a16:rowId xmlns:a16="http://schemas.microsoft.com/office/drawing/2014/main" val="10006"/>
                  </a:ext>
                </a:extLst>
              </a:tr>
              <a:tr h="381000">
                <a:tc>
                  <a:txBody>
                    <a:bodyPr/>
                    <a:lstStyle/>
                    <a:p>
                      <a:pPr algn="l">
                        <a:lnSpc>
                          <a:spcPts val="3240"/>
                        </a:lnSpc>
                        <a:defRPr/>
                      </a:pPr>
                      <a:r>
                        <a:rPr lang="en-US" sz="2700">
                          <a:solidFill>
                            <a:srgbClr val="000000"/>
                          </a:solidFill>
                          <a:latin typeface="Arial"/>
                          <a:ea typeface="Arial"/>
                          <a:cs typeface="Arial"/>
                          <a:sym typeface="Arial"/>
                        </a:rPr>
                        <a:t>Parch</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tc>
                  <a:txBody>
                    <a:bodyPr/>
                    <a:lstStyle/>
                    <a:p>
                      <a:pPr algn="l">
                        <a:lnSpc>
                          <a:spcPts val="3240"/>
                        </a:lnSpc>
                        <a:defRPr/>
                      </a:pPr>
                      <a:r>
                        <a:rPr lang="en-US" sz="2700">
                          <a:solidFill>
                            <a:srgbClr val="000000"/>
                          </a:solidFill>
                          <a:latin typeface="Arial"/>
                          <a:ea typeface="Arial"/>
                          <a:cs typeface="Arial"/>
                          <a:sym typeface="Arial"/>
                        </a:rPr>
                        <a:t>Số cha mẹ/con đi cùng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extLst>
                  <a:ext uri="{0D108BD9-81ED-4DB2-BD59-A6C34878D82A}">
                    <a16:rowId xmlns:a16="http://schemas.microsoft.com/office/drawing/2014/main" val="10007"/>
                  </a:ext>
                </a:extLst>
              </a:tr>
              <a:tr h="381000">
                <a:tc>
                  <a:txBody>
                    <a:bodyPr/>
                    <a:lstStyle/>
                    <a:p>
                      <a:pPr algn="l">
                        <a:lnSpc>
                          <a:spcPts val="3240"/>
                        </a:lnSpc>
                        <a:defRPr/>
                      </a:pPr>
                      <a:r>
                        <a:rPr lang="en-US" sz="2700">
                          <a:solidFill>
                            <a:srgbClr val="000000"/>
                          </a:solidFill>
                          <a:latin typeface="Arial"/>
                          <a:ea typeface="Arial"/>
                          <a:cs typeface="Arial"/>
                          <a:sym typeface="Arial"/>
                        </a:rPr>
                        <a:t>Ticket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tc>
                  <a:txBody>
                    <a:bodyPr/>
                    <a:lstStyle/>
                    <a:p>
                      <a:pPr algn="l">
                        <a:lnSpc>
                          <a:spcPts val="3240"/>
                        </a:lnSpc>
                        <a:defRPr/>
                      </a:pPr>
                      <a:r>
                        <a:rPr lang="en-US" sz="2700">
                          <a:solidFill>
                            <a:srgbClr val="000000"/>
                          </a:solidFill>
                          <a:latin typeface="Arial"/>
                          <a:ea typeface="Arial"/>
                          <a:cs typeface="Arial"/>
                          <a:sym typeface="Arial"/>
                        </a:rPr>
                        <a:t>Số vé</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extLst>
                  <a:ext uri="{0D108BD9-81ED-4DB2-BD59-A6C34878D82A}">
                    <a16:rowId xmlns:a16="http://schemas.microsoft.com/office/drawing/2014/main" val="10008"/>
                  </a:ext>
                </a:extLst>
              </a:tr>
              <a:tr h="381000">
                <a:tc>
                  <a:txBody>
                    <a:bodyPr/>
                    <a:lstStyle/>
                    <a:p>
                      <a:pPr algn="l">
                        <a:lnSpc>
                          <a:spcPts val="3240"/>
                        </a:lnSpc>
                        <a:defRPr/>
                      </a:pPr>
                      <a:r>
                        <a:rPr lang="en-US" sz="2700">
                          <a:solidFill>
                            <a:srgbClr val="000000"/>
                          </a:solidFill>
                          <a:latin typeface="Arial"/>
                          <a:ea typeface="Arial"/>
                          <a:cs typeface="Arial"/>
                          <a:sym typeface="Arial"/>
                        </a:rPr>
                        <a:t>Fare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tc>
                  <a:txBody>
                    <a:bodyPr/>
                    <a:lstStyle/>
                    <a:p>
                      <a:pPr algn="l">
                        <a:lnSpc>
                          <a:spcPts val="3240"/>
                        </a:lnSpc>
                        <a:defRPr/>
                      </a:pPr>
                      <a:r>
                        <a:rPr lang="en-US" sz="2700">
                          <a:solidFill>
                            <a:srgbClr val="000000"/>
                          </a:solidFill>
                          <a:latin typeface="Arial"/>
                          <a:ea typeface="Arial"/>
                          <a:cs typeface="Arial"/>
                          <a:sym typeface="Arial"/>
                        </a:rPr>
                        <a:t>Giá vé</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extLst>
                  <a:ext uri="{0D108BD9-81ED-4DB2-BD59-A6C34878D82A}">
                    <a16:rowId xmlns:a16="http://schemas.microsoft.com/office/drawing/2014/main" val="10009"/>
                  </a:ext>
                </a:extLst>
              </a:tr>
              <a:tr h="381000">
                <a:tc>
                  <a:txBody>
                    <a:bodyPr/>
                    <a:lstStyle/>
                    <a:p>
                      <a:pPr algn="l">
                        <a:lnSpc>
                          <a:spcPts val="3240"/>
                        </a:lnSpc>
                        <a:defRPr/>
                      </a:pPr>
                      <a:r>
                        <a:rPr lang="en-US" sz="2700">
                          <a:solidFill>
                            <a:srgbClr val="000000"/>
                          </a:solidFill>
                          <a:latin typeface="Arial"/>
                          <a:ea typeface="Arial"/>
                          <a:cs typeface="Arial"/>
                          <a:sym typeface="Arial"/>
                        </a:rPr>
                        <a:t>Cabin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tc>
                  <a:txBody>
                    <a:bodyPr/>
                    <a:lstStyle/>
                    <a:p>
                      <a:pPr algn="l">
                        <a:lnSpc>
                          <a:spcPts val="3240"/>
                        </a:lnSpc>
                        <a:defRPr/>
                      </a:pPr>
                      <a:r>
                        <a:rPr lang="en-US" sz="2700">
                          <a:solidFill>
                            <a:srgbClr val="000000"/>
                          </a:solidFill>
                          <a:latin typeface="Arial"/>
                          <a:ea typeface="Arial"/>
                          <a:cs typeface="Arial"/>
                          <a:sym typeface="Arial"/>
                        </a:rPr>
                        <a:t>Cabin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DD3E2"/>
                    </a:solidFill>
                  </a:tcPr>
                </a:tc>
                <a:extLst>
                  <a:ext uri="{0D108BD9-81ED-4DB2-BD59-A6C34878D82A}">
                    <a16:rowId xmlns:a16="http://schemas.microsoft.com/office/drawing/2014/main" val="10010"/>
                  </a:ext>
                </a:extLst>
              </a:tr>
              <a:tr h="381000">
                <a:tc>
                  <a:txBody>
                    <a:bodyPr/>
                    <a:lstStyle/>
                    <a:p>
                      <a:pPr algn="l">
                        <a:lnSpc>
                          <a:spcPts val="3240"/>
                        </a:lnSpc>
                        <a:defRPr/>
                      </a:pPr>
                      <a:r>
                        <a:rPr lang="en-US" sz="2700">
                          <a:solidFill>
                            <a:srgbClr val="000000"/>
                          </a:solidFill>
                          <a:latin typeface="Arial"/>
                          <a:ea typeface="Arial"/>
                          <a:cs typeface="Arial"/>
                          <a:sym typeface="Arial"/>
                        </a:rPr>
                        <a:t>Embarked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tc>
                  <a:txBody>
                    <a:bodyPr/>
                    <a:lstStyle/>
                    <a:p>
                      <a:pPr algn="l">
                        <a:lnSpc>
                          <a:spcPts val="3240"/>
                        </a:lnSpc>
                        <a:defRPr/>
                      </a:pPr>
                      <a:r>
                        <a:rPr lang="en-US" sz="2700">
                          <a:solidFill>
                            <a:srgbClr val="000000"/>
                          </a:solidFill>
                          <a:latin typeface="Arial"/>
                          <a:ea typeface="Arial"/>
                          <a:cs typeface="Arial"/>
                          <a:sym typeface="Arial"/>
                        </a:rPr>
                        <a:t>Cảng đi</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8EAF1"/>
                    </a:solidFill>
                  </a:tcPr>
                </a:tc>
                <a:extLst>
                  <a:ext uri="{0D108BD9-81ED-4DB2-BD59-A6C34878D82A}">
                    <a16:rowId xmlns:a16="http://schemas.microsoft.com/office/drawing/2014/main" val="10011"/>
                  </a:ext>
                </a:extLst>
              </a:tr>
            </a:tbl>
          </a:graphicData>
        </a:graphic>
      </p:graphicFrame>
      <p:pic>
        <p:nvPicPr>
          <p:cNvPr id="7" name="Picture 7"/>
          <p:cNvPicPr>
            <a:picLocks noChangeAspect="1"/>
          </p:cNvPicPr>
          <p:nvPr/>
        </p:nvPicPr>
        <p:blipFill>
          <a:blip r:embed="rId7"/>
          <a:stretch>
            <a:fillRect/>
          </a:stretch>
        </p:blipFill>
        <p:spPr>
          <a:xfrm>
            <a:off x="9370082" y="2135458"/>
            <a:ext cx="8917918" cy="7899472"/>
          </a:xfrm>
          <a:prstGeom prst="rect">
            <a:avLst/>
          </a:prstGeom>
        </p:spPr>
      </p:pic>
      <p:sp>
        <p:nvSpPr>
          <p:cNvPr id="8" name="TextBox 7">
            <a:extLst>
              <a:ext uri="{FF2B5EF4-FFF2-40B4-BE49-F238E27FC236}">
                <a16:creationId xmlns:a16="http://schemas.microsoft.com/office/drawing/2014/main" id="{8ED1FB41-E9AA-1630-E0AC-0B6DBC24786A}"/>
              </a:ext>
            </a:extLst>
          </p:cNvPr>
          <p:cNvSpPr txBox="1"/>
          <p:nvPr/>
        </p:nvSpPr>
        <p:spPr>
          <a:xfrm>
            <a:off x="11582400" y="3106618"/>
            <a:ext cx="533400" cy="369332"/>
          </a:xfrm>
          <a:prstGeom prst="rect">
            <a:avLst/>
          </a:prstGeom>
          <a:noFill/>
        </p:spPr>
        <p:txBody>
          <a:bodyPr wrap="square" rtlCol="0">
            <a:spAutoFit/>
          </a:bodyPr>
          <a:lstStyle/>
          <a:p>
            <a:r>
              <a:rPr lang="en-US" dirty="0"/>
              <a:t>891</a:t>
            </a:r>
          </a:p>
        </p:txBody>
      </p:sp>
      <p:sp>
        <p:nvSpPr>
          <p:cNvPr id="9" name="TextBox 8">
            <a:extLst>
              <a:ext uri="{FF2B5EF4-FFF2-40B4-BE49-F238E27FC236}">
                <a16:creationId xmlns:a16="http://schemas.microsoft.com/office/drawing/2014/main" id="{FD0DBE76-A99E-D002-9E63-C88FC19621EA}"/>
              </a:ext>
            </a:extLst>
          </p:cNvPr>
          <p:cNvSpPr txBox="1"/>
          <p:nvPr/>
        </p:nvSpPr>
        <p:spPr>
          <a:xfrm>
            <a:off x="15316200" y="6085194"/>
            <a:ext cx="533400" cy="369332"/>
          </a:xfrm>
          <a:prstGeom prst="rect">
            <a:avLst/>
          </a:prstGeom>
          <a:noFill/>
        </p:spPr>
        <p:txBody>
          <a:bodyPr wrap="square" rtlCol="0">
            <a:spAutoFit/>
          </a:bodyPr>
          <a:lstStyle/>
          <a:p>
            <a:r>
              <a:rPr lang="en-US" dirty="0"/>
              <a:t>418</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961" y="-14606"/>
            <a:ext cx="10047801" cy="2717511"/>
          </a:xfrm>
          <a:custGeom>
            <a:avLst/>
            <a:gdLst/>
            <a:ahLst/>
            <a:cxnLst/>
            <a:rect l="l" t="t" r="r" b="b"/>
            <a:pathLst>
              <a:path w="10047801" h="2717511">
                <a:moveTo>
                  <a:pt x="0" y="0"/>
                </a:moveTo>
                <a:lnTo>
                  <a:pt x="10047800" y="0"/>
                </a:lnTo>
                <a:lnTo>
                  <a:pt x="10047800"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381000" y="21275"/>
            <a:ext cx="15443835" cy="1009828"/>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1. Introduction</a:t>
            </a:r>
          </a:p>
        </p:txBody>
      </p:sp>
      <p:sp>
        <p:nvSpPr>
          <p:cNvPr id="5" name="TextBox 5"/>
          <p:cNvSpPr txBox="1"/>
          <p:nvPr/>
        </p:nvSpPr>
        <p:spPr>
          <a:xfrm>
            <a:off x="1228314" y="2240196"/>
            <a:ext cx="7382286" cy="4514056"/>
          </a:xfrm>
          <a:prstGeom prst="rect">
            <a:avLst/>
          </a:prstGeom>
        </p:spPr>
        <p:txBody>
          <a:bodyPr wrap="square" lIns="0" tIns="0" rIns="0" bIns="0" rtlCol="0" anchor="t">
            <a:spAutoFit/>
          </a:bodyPr>
          <a:lstStyle/>
          <a:p>
            <a:pPr algn="l">
              <a:lnSpc>
                <a:spcPts val="3240"/>
              </a:lnSpc>
            </a:pPr>
            <a:r>
              <a:rPr lang="en-US" sz="2700" dirty="0" err="1">
                <a:solidFill>
                  <a:srgbClr val="000000"/>
                </a:solidFill>
                <a:latin typeface="Arial"/>
                <a:ea typeface="Arial"/>
                <a:cs typeface="Arial"/>
                <a:sym typeface="Arial"/>
              </a:rPr>
              <a:t>Thách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thức</a:t>
            </a:r>
            <a:r>
              <a:rPr lang="en-US" sz="2700" dirty="0">
                <a:solidFill>
                  <a:srgbClr val="000000"/>
                </a:solidFill>
                <a:latin typeface="Arial"/>
                <a:ea typeface="Arial"/>
                <a:cs typeface="Arial"/>
                <a:sym typeface="Arial"/>
              </a:rPr>
              <a:t>:</a:t>
            </a:r>
          </a:p>
          <a:p>
            <a:pPr marL="488632" lvl="1" indent="-244316" algn="l">
              <a:lnSpc>
                <a:spcPts val="3240"/>
              </a:lnSpc>
              <a:buFont typeface="Arial"/>
              <a:buChar char="•"/>
            </a:pPr>
            <a:r>
              <a:rPr lang="en-US" sz="2700" dirty="0" err="1">
                <a:solidFill>
                  <a:srgbClr val="000000"/>
                </a:solidFill>
                <a:latin typeface="Arial"/>
                <a:ea typeface="Arial"/>
                <a:cs typeface="Arial"/>
                <a:sym typeface="Arial"/>
              </a:rPr>
              <a:t>Dữ</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liệu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không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hoàn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chỉnh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nhiều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giá</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trị</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bị</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thiếu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đặc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biệt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là</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cột</a:t>
            </a:r>
            <a:r>
              <a:rPr lang="en-US" sz="2700" dirty="0">
                <a:solidFill>
                  <a:srgbClr val="000000"/>
                </a:solidFill>
                <a:latin typeface="Arial"/>
                <a:ea typeface="Arial"/>
                <a:cs typeface="Arial"/>
                <a:sym typeface="Arial"/>
              </a:rPr>
              <a:t> </a:t>
            </a:r>
            <a:r>
              <a:rPr lang="en-US" sz="2700" i="1" dirty="0">
                <a:solidFill>
                  <a:srgbClr val="000000"/>
                </a:solidFill>
                <a:latin typeface="Arial Italics"/>
                <a:ea typeface="Arial Italics"/>
                <a:cs typeface="Arial Italics"/>
                <a:sym typeface="Arial Italics"/>
              </a:rPr>
              <a:t>Age</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và</a:t>
            </a:r>
            <a:r>
              <a:rPr lang="en-US" sz="2700" dirty="0">
                <a:solidFill>
                  <a:srgbClr val="000000"/>
                </a:solidFill>
                <a:latin typeface="Arial"/>
                <a:ea typeface="Arial"/>
                <a:cs typeface="Arial"/>
                <a:sym typeface="Arial"/>
              </a:rPr>
              <a:t> </a:t>
            </a:r>
            <a:r>
              <a:rPr lang="en-US" sz="2700" i="1" dirty="0">
                <a:solidFill>
                  <a:srgbClr val="000000"/>
                </a:solidFill>
                <a:latin typeface="Arial Italics"/>
                <a:ea typeface="Arial Italics"/>
                <a:cs typeface="Arial Italics"/>
                <a:sym typeface="Arial Italics"/>
              </a:rPr>
              <a:t>Cabin</a:t>
            </a:r>
            <a:r>
              <a:rPr lang="en-US" sz="2700" dirty="0">
                <a:solidFill>
                  <a:srgbClr val="000000"/>
                </a:solidFill>
                <a:latin typeface="Arial"/>
                <a:ea typeface="Arial"/>
                <a:cs typeface="Arial"/>
                <a:sym typeface="Arial"/>
              </a:rPr>
              <a:t>).</a:t>
            </a:r>
          </a:p>
          <a:p>
            <a:pPr marL="488632" lvl="1" indent="-244316" algn="l">
              <a:lnSpc>
                <a:spcPts val="3240"/>
              </a:lnSpc>
              <a:buFont typeface="Arial"/>
              <a:buChar char="•"/>
            </a:pPr>
            <a:r>
              <a:rPr lang="en-US" sz="2700" dirty="0">
                <a:solidFill>
                  <a:srgbClr val="000000"/>
                </a:solidFill>
                <a:latin typeface="Arial"/>
                <a:ea typeface="Arial"/>
                <a:cs typeface="Arial"/>
                <a:sym typeface="Arial"/>
              </a:rPr>
              <a:t>Các </a:t>
            </a:r>
            <a:r>
              <a:rPr lang="en-US" sz="2700" dirty="0" err="1">
                <a:solidFill>
                  <a:srgbClr val="000000"/>
                </a:solidFill>
                <a:latin typeface="Arial"/>
                <a:ea typeface="Arial"/>
                <a:cs typeface="Arial"/>
                <a:sym typeface="Arial"/>
              </a:rPr>
              <a:t>biến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không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đồng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nhất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về</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kiểu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và</a:t>
            </a:r>
            <a:r>
              <a:rPr lang="en-US" sz="2700" dirty="0">
                <a:solidFill>
                  <a:srgbClr val="000000"/>
                </a:solidFill>
                <a:latin typeface="Arial"/>
                <a:ea typeface="Arial"/>
                <a:cs typeface="Arial"/>
                <a:sym typeface="Arial"/>
              </a:rPr>
              <a:t> thang </a:t>
            </a:r>
            <a:r>
              <a:rPr lang="en-US" sz="2700" dirty="0" err="1">
                <a:solidFill>
                  <a:srgbClr val="000000"/>
                </a:solidFill>
                <a:latin typeface="Arial"/>
                <a:ea typeface="Arial"/>
                <a:cs typeface="Arial"/>
                <a:sym typeface="Arial"/>
              </a:rPr>
              <a:t>đo</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kết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hợp</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giữa</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dữ</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liệu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số</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phân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loại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và</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thứ</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bậc</a:t>
            </a:r>
            <a:r>
              <a:rPr lang="en-US" sz="2700" dirty="0">
                <a:solidFill>
                  <a:srgbClr val="000000"/>
                </a:solidFill>
                <a:latin typeface="Arial"/>
                <a:ea typeface="Arial"/>
                <a:cs typeface="Arial"/>
                <a:sym typeface="Arial"/>
              </a:rPr>
              <a:t>).</a:t>
            </a:r>
          </a:p>
          <a:p>
            <a:pPr marL="488632" lvl="1" indent="-244316" algn="l">
              <a:lnSpc>
                <a:spcPts val="3240"/>
              </a:lnSpc>
              <a:buFont typeface="Arial"/>
              <a:buChar char="•"/>
            </a:pPr>
            <a:r>
              <a:rPr lang="en-US" sz="2700" dirty="0">
                <a:solidFill>
                  <a:srgbClr val="000000"/>
                </a:solidFill>
                <a:latin typeface="Arial"/>
                <a:ea typeface="Arial"/>
                <a:cs typeface="Arial"/>
                <a:sym typeface="Arial"/>
              </a:rPr>
              <a:t>Quan </a:t>
            </a:r>
            <a:r>
              <a:rPr lang="en-US" sz="2700" dirty="0" err="1">
                <a:solidFill>
                  <a:srgbClr val="000000"/>
                </a:solidFill>
                <a:latin typeface="Arial"/>
                <a:ea typeface="Arial"/>
                <a:cs typeface="Arial"/>
                <a:sym typeface="Arial"/>
              </a:rPr>
              <a:t>hệ</a:t>
            </a:r>
            <a:r>
              <a:rPr lang="en-US" sz="2700" dirty="0">
                <a:solidFill>
                  <a:srgbClr val="000000"/>
                </a:solidFill>
                <a:latin typeface="Arial"/>
                <a:ea typeface="Arial"/>
                <a:cs typeface="Arial"/>
                <a:sym typeface="Arial"/>
              </a:rPr>
              <a:t> phi </a:t>
            </a:r>
            <a:r>
              <a:rPr lang="en-US" sz="2700" dirty="0" err="1">
                <a:solidFill>
                  <a:srgbClr val="000000"/>
                </a:solidFill>
                <a:latin typeface="Arial"/>
                <a:ea typeface="Arial"/>
                <a:cs typeface="Arial"/>
                <a:sym typeface="Arial"/>
              </a:rPr>
              <a:t>tuyến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và</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tương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tác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phức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tạp</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giữa</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các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đặc</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trưng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ví</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dụ</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giới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tính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và</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hạng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vé</a:t>
            </a:r>
            <a:r>
              <a:rPr lang="en-US" sz="2700" dirty="0">
                <a:solidFill>
                  <a:srgbClr val="000000"/>
                </a:solidFill>
                <a:latin typeface="Arial"/>
                <a:ea typeface="Arial"/>
                <a:cs typeface="Arial"/>
                <a:sym typeface="Arial"/>
              </a:rPr>
              <a:t>).</a:t>
            </a:r>
          </a:p>
          <a:p>
            <a:pPr marL="488632" lvl="1" indent="-244316" algn="l">
              <a:lnSpc>
                <a:spcPts val="3240"/>
              </a:lnSpc>
              <a:buFont typeface="Arial"/>
              <a:buChar char="•"/>
            </a:pPr>
            <a:r>
              <a:rPr lang="en-US" sz="2700" dirty="0" err="1">
                <a:solidFill>
                  <a:srgbClr val="000000"/>
                </a:solidFill>
                <a:latin typeface="Arial"/>
                <a:ea typeface="Arial"/>
                <a:cs typeface="Arial"/>
                <a:sym typeface="Arial"/>
              </a:rPr>
              <a:t>Sự</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chênh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lệch</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nhẹ</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trong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phân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phối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lớp</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số</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người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thiệt</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mạng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nhiều</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hơn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sống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sót</a:t>
            </a:r>
            <a:r>
              <a:rPr lang="en-US" sz="2700" dirty="0">
                <a:solidFill>
                  <a:srgbClr val="000000"/>
                </a:solidFill>
                <a:latin typeface="Arial"/>
                <a:ea typeface="Arial"/>
                <a:cs typeface="Arial"/>
                <a:sym typeface="Arial"/>
              </a:rPr>
              <a:t>).</a:t>
            </a:r>
          </a:p>
        </p:txBody>
      </p:sp>
      <p:sp>
        <p:nvSpPr>
          <p:cNvPr id="6" name="Rectangle 1">
            <a:extLst>
              <a:ext uri="{FF2B5EF4-FFF2-40B4-BE49-F238E27FC236}">
                <a16:creationId xmlns:a16="http://schemas.microsoft.com/office/drawing/2014/main" id="{0AD6BE17-CBF3-7679-8C18-3D520748660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2">
            <a:extLst>
              <a:ext uri="{FF2B5EF4-FFF2-40B4-BE49-F238E27FC236}">
                <a16:creationId xmlns:a16="http://schemas.microsoft.com/office/drawing/2014/main" id="{D80CD66F-17AF-2D34-1FDD-4C14BFFE86F6}"/>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a:extLst>
              <a:ext uri="{FF2B5EF4-FFF2-40B4-BE49-F238E27FC236}">
                <a16:creationId xmlns:a16="http://schemas.microsoft.com/office/drawing/2014/main" id="{6E1681FB-96F1-108E-D09E-8E53C508A861}"/>
              </a:ext>
            </a:extLst>
          </p:cNvPr>
          <p:cNvPicPr>
            <a:picLocks noChangeAspect="1"/>
          </p:cNvPicPr>
          <p:nvPr/>
        </p:nvPicPr>
        <p:blipFill>
          <a:blip r:embed="rId4"/>
          <a:stretch>
            <a:fillRect/>
          </a:stretch>
        </p:blipFill>
        <p:spPr>
          <a:xfrm>
            <a:off x="10824210" y="1155973"/>
            <a:ext cx="5000625" cy="4800600"/>
          </a:xfrm>
          <a:prstGeom prst="rect">
            <a:avLst/>
          </a:prstGeom>
        </p:spPr>
      </p:pic>
      <p:pic>
        <p:nvPicPr>
          <p:cNvPr id="11" name="Picture 10">
            <a:extLst>
              <a:ext uri="{FF2B5EF4-FFF2-40B4-BE49-F238E27FC236}">
                <a16:creationId xmlns:a16="http://schemas.microsoft.com/office/drawing/2014/main" id="{D6A139D0-A3BB-A797-297F-C9BCAE393CAC}"/>
              </a:ext>
            </a:extLst>
          </p:cNvPr>
          <p:cNvPicPr>
            <a:picLocks noChangeAspect="1"/>
          </p:cNvPicPr>
          <p:nvPr/>
        </p:nvPicPr>
        <p:blipFill>
          <a:blip r:embed="rId5"/>
          <a:stretch>
            <a:fillRect/>
          </a:stretch>
        </p:blipFill>
        <p:spPr>
          <a:xfrm>
            <a:off x="9296400" y="6423347"/>
            <a:ext cx="8601905" cy="2338643"/>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014" y="-2507"/>
            <a:ext cx="9201639" cy="2717511"/>
          </a:xfrm>
          <a:custGeom>
            <a:avLst/>
            <a:gdLst/>
            <a:ahLst/>
            <a:cxnLst/>
            <a:rect l="l" t="t" r="r" b="b"/>
            <a:pathLst>
              <a:path w="9201639" h="2717511">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6703310" y="3283463"/>
            <a:ext cx="10981331" cy="5037685"/>
          </a:xfrm>
          <a:custGeom>
            <a:avLst/>
            <a:gdLst/>
            <a:ahLst/>
            <a:cxnLst/>
            <a:rect l="l" t="t" r="r" b="b"/>
            <a:pathLst>
              <a:path w="10981331" h="5037685">
                <a:moveTo>
                  <a:pt x="0" y="0"/>
                </a:moveTo>
                <a:lnTo>
                  <a:pt x="10981331" y="0"/>
                </a:lnTo>
                <a:lnTo>
                  <a:pt x="10981331" y="5037685"/>
                </a:lnTo>
                <a:lnTo>
                  <a:pt x="0" y="5037685"/>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508015" y="2962052"/>
            <a:ext cx="5586011" cy="5359096"/>
          </a:xfrm>
          <a:prstGeom prst="rect">
            <a:avLst/>
          </a:prstGeom>
        </p:spPr>
        <p:txBody>
          <a:bodyPr lIns="0" tIns="0" rIns="0" bIns="0" rtlCol="0" anchor="t">
            <a:spAutoFit/>
          </a:bodyPr>
          <a:lstStyle/>
          <a:p>
            <a:pPr algn="l">
              <a:lnSpc>
                <a:spcPts val="6120"/>
              </a:lnSpc>
              <a:spcBef>
                <a:spcPct val="0"/>
              </a:spcBef>
            </a:pPr>
            <a:r>
              <a:rPr lang="en-US" sz="2700" dirty="0" err="1">
                <a:solidFill>
                  <a:srgbClr val="000000"/>
                </a:solidFill>
                <a:latin typeface="Arimo"/>
                <a:ea typeface="Arimo"/>
                <a:cs typeface="Arimo"/>
                <a:sym typeface="Arimo"/>
              </a:rPr>
              <a:t>Là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phân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loại</a:t>
            </a:r>
            <a:r>
              <a:rPr lang="en-US" sz="2700" dirty="0">
                <a:solidFill>
                  <a:srgbClr val="000000"/>
                </a:solidFill>
                <a:latin typeface="Arimo"/>
                <a:ea typeface="Arimo"/>
                <a:cs typeface="Arimo"/>
                <a:sym typeface="Arimo"/>
              </a:rPr>
              <a:t> (classifier) </a:t>
            </a:r>
            <a:r>
              <a:rPr lang="en-US" sz="2700" dirty="0" err="1">
                <a:solidFill>
                  <a:srgbClr val="000000"/>
                </a:solidFill>
                <a:latin typeface="Arimo"/>
                <a:ea typeface="Arimo"/>
                <a:cs typeface="Arimo"/>
                <a:sym typeface="Arimo"/>
              </a:rPr>
              <a:t>học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giám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sát</a:t>
            </a:r>
            <a:r>
              <a:rPr lang="en-US" sz="2700" dirty="0">
                <a:solidFill>
                  <a:srgbClr val="000000"/>
                </a:solidFill>
                <a:latin typeface="Arimo"/>
                <a:ea typeface="Arimo"/>
                <a:cs typeface="Arimo"/>
                <a:sym typeface="Arimo"/>
              </a:rPr>
              <a:t> (supervised learning), </a:t>
            </a:r>
            <a:r>
              <a:rPr lang="en-US" sz="2700" dirty="0" err="1">
                <a:solidFill>
                  <a:srgbClr val="000000"/>
                </a:solidFill>
                <a:latin typeface="Arimo"/>
                <a:ea typeface="Arimo"/>
                <a:cs typeface="Arimo"/>
                <a:sym typeface="Arimo"/>
              </a:rPr>
              <a:t>không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tham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số</a:t>
            </a:r>
            <a:r>
              <a:rPr lang="en-US" sz="2700" dirty="0">
                <a:solidFill>
                  <a:srgbClr val="000000"/>
                </a:solidFill>
                <a:latin typeface="Arimo"/>
                <a:ea typeface="Arimo"/>
                <a:cs typeface="Arimo"/>
                <a:sym typeface="Arimo"/>
              </a:rPr>
              <a:t> (non-parametric), </a:t>
            </a:r>
            <a:r>
              <a:rPr lang="en-US" sz="2700" dirty="0" err="1">
                <a:solidFill>
                  <a:srgbClr val="000000"/>
                </a:solidFill>
                <a:latin typeface="Arimo"/>
                <a:ea typeface="Arimo"/>
                <a:cs typeface="Arimo"/>
                <a:sym typeface="Arimo"/>
              </a:rPr>
              <a:t>sử</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dụng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sự</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gần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kề</a:t>
            </a:r>
            <a:r>
              <a:rPr lang="en-US" sz="2700" dirty="0">
                <a:solidFill>
                  <a:srgbClr val="000000"/>
                </a:solidFill>
                <a:latin typeface="Arimo"/>
                <a:ea typeface="Arimo"/>
                <a:cs typeface="Arimo"/>
                <a:sym typeface="Arimo"/>
              </a:rPr>
              <a:t> (proximity) </a:t>
            </a:r>
            <a:r>
              <a:rPr lang="en-US" sz="2700" dirty="0" err="1">
                <a:solidFill>
                  <a:srgbClr val="000000"/>
                </a:solidFill>
                <a:latin typeface="Arimo"/>
                <a:ea typeface="Arimo"/>
                <a:cs typeface="Arimo"/>
                <a:sym typeface="Arimo"/>
              </a:rPr>
              <a:t>để</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đưa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ra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phân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loại</a:t>
            </a:r>
            <a:r>
              <a:rPr lang="en-US" sz="2700" dirty="0">
                <a:solidFill>
                  <a:srgbClr val="000000"/>
                </a:solidFill>
                <a:latin typeface="Arimo"/>
                <a:ea typeface="Arimo"/>
                <a:cs typeface="Arimo"/>
                <a:sym typeface="Arimo"/>
              </a:rPr>
              <a:t> (classification) </a:t>
            </a:r>
            <a:r>
              <a:rPr lang="en-US" sz="2700" dirty="0" err="1">
                <a:solidFill>
                  <a:srgbClr val="000000"/>
                </a:solidFill>
                <a:latin typeface="Arimo"/>
                <a:ea typeface="Arimo"/>
                <a:cs typeface="Arimo"/>
                <a:sym typeface="Arimo"/>
              </a:rPr>
              <a:t>hoặc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dự</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đoán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về</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nhóm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của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điểm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dữ</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liệu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nhân</a:t>
            </a:r>
            <a:r>
              <a:rPr lang="en-US" sz="2700" dirty="0">
                <a:solidFill>
                  <a:srgbClr val="000000"/>
                </a:solidFill>
                <a:latin typeface="Arimo"/>
                <a:ea typeface="Arimo"/>
                <a:cs typeface="Arimo"/>
                <a:sym typeface="Arimo"/>
              </a:rPr>
              <a:t>.</a:t>
            </a:r>
          </a:p>
        </p:txBody>
      </p:sp>
      <p:sp>
        <p:nvSpPr>
          <p:cNvPr id="5" name="TextBox 5"/>
          <p:cNvSpPr txBox="1"/>
          <p:nvPr/>
        </p:nvSpPr>
        <p:spPr>
          <a:xfrm>
            <a:off x="152400" y="-7625"/>
            <a:ext cx="6810202"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2. Related Work </a:t>
            </a:r>
          </a:p>
        </p:txBody>
      </p:sp>
      <p:grpSp>
        <p:nvGrpSpPr>
          <p:cNvPr id="6" name="Group 6"/>
          <p:cNvGrpSpPr/>
          <p:nvPr/>
        </p:nvGrpSpPr>
        <p:grpSpPr>
          <a:xfrm>
            <a:off x="4769245" y="1462200"/>
            <a:ext cx="8749509" cy="1376328"/>
            <a:chOff x="0" y="-58622"/>
            <a:chExt cx="2304397" cy="492125"/>
          </a:xfrm>
        </p:grpSpPr>
        <p:sp>
          <p:nvSpPr>
            <p:cNvPr id="7" name="Freeform 7"/>
            <p:cNvSpPr/>
            <p:nvPr/>
          </p:nvSpPr>
          <p:spPr>
            <a:xfrm>
              <a:off x="0" y="0"/>
              <a:ext cx="2304397" cy="406400"/>
            </a:xfrm>
            <a:custGeom>
              <a:avLst/>
              <a:gdLst/>
              <a:ahLst/>
              <a:cxnLst/>
              <a:rect l="l" t="t" r="r" b="b"/>
              <a:pathLst>
                <a:path w="2304397" h="406400">
                  <a:moveTo>
                    <a:pt x="2101197" y="0"/>
                  </a:moveTo>
                  <a:cubicBezTo>
                    <a:pt x="2213422" y="0"/>
                    <a:pt x="2304397" y="90976"/>
                    <a:pt x="2304397" y="203200"/>
                  </a:cubicBezTo>
                  <a:cubicBezTo>
                    <a:pt x="2304397" y="315424"/>
                    <a:pt x="2213422" y="406400"/>
                    <a:pt x="2101197"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a:p>
          </p:txBody>
        </p:sp>
        <p:sp>
          <p:nvSpPr>
            <p:cNvPr id="8" name="TextBox 8"/>
            <p:cNvSpPr txBox="1"/>
            <p:nvPr/>
          </p:nvSpPr>
          <p:spPr>
            <a:xfrm>
              <a:off x="0" y="-58622"/>
              <a:ext cx="2304397" cy="492125"/>
            </a:xfrm>
            <a:prstGeom prst="rect">
              <a:avLst/>
            </a:prstGeom>
          </p:spPr>
          <p:txBody>
            <a:bodyPr lIns="50800" tIns="50800" rIns="50800" bIns="50800" rtlCol="0" anchor="ctr"/>
            <a:lstStyle/>
            <a:p>
              <a:pPr algn="ctr">
                <a:lnSpc>
                  <a:spcPts val="6719"/>
                </a:lnSpc>
              </a:pPr>
              <a:r>
                <a:rPr lang="en-US" sz="4799" dirty="0">
                  <a:solidFill>
                    <a:srgbClr val="FFFFFF"/>
                  </a:solidFill>
                  <a:latin typeface="Canva Sans"/>
                  <a:ea typeface="Canva Sans"/>
                  <a:cs typeface="Canva Sans"/>
                  <a:sym typeface="Canva Sans"/>
                </a:rPr>
                <a:t>K-Nearest Neighbors (KNN) </a:t>
              </a:r>
            </a:p>
          </p:txBody>
        </p:sp>
      </p:gr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014" y="-2507"/>
            <a:ext cx="9201639" cy="2717511"/>
          </a:xfrm>
          <a:custGeom>
            <a:avLst/>
            <a:gdLst/>
            <a:ahLst/>
            <a:cxnLst/>
            <a:rect l="l" t="t" r="r" b="b"/>
            <a:pathLst>
              <a:path w="9201639" h="2717511">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6855253" y="3040491"/>
            <a:ext cx="11432746" cy="5716373"/>
          </a:xfrm>
          <a:custGeom>
            <a:avLst/>
            <a:gdLst/>
            <a:ahLst/>
            <a:cxnLst/>
            <a:rect l="l" t="t" r="r" b="b"/>
            <a:pathLst>
              <a:path w="11432746" h="5716373">
                <a:moveTo>
                  <a:pt x="0" y="0"/>
                </a:moveTo>
                <a:lnTo>
                  <a:pt x="11432747" y="0"/>
                </a:lnTo>
                <a:lnTo>
                  <a:pt x="11432747" y="5716373"/>
                </a:lnTo>
                <a:lnTo>
                  <a:pt x="0" y="5716373"/>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135671" y="45587"/>
            <a:ext cx="6810202"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2. Related Work </a:t>
            </a:r>
          </a:p>
        </p:txBody>
      </p:sp>
      <p:sp>
        <p:nvSpPr>
          <p:cNvPr id="5" name="TextBox 5"/>
          <p:cNvSpPr txBox="1"/>
          <p:nvPr/>
        </p:nvSpPr>
        <p:spPr>
          <a:xfrm>
            <a:off x="739799" y="2610321"/>
            <a:ext cx="5601947" cy="6141361"/>
          </a:xfrm>
          <a:prstGeom prst="rect">
            <a:avLst/>
          </a:prstGeom>
        </p:spPr>
        <p:txBody>
          <a:bodyPr lIns="0" tIns="0" rIns="0" bIns="0" rtlCol="0" anchor="t">
            <a:spAutoFit/>
          </a:bodyPr>
          <a:lstStyle/>
          <a:p>
            <a:pPr algn="l">
              <a:lnSpc>
                <a:spcPts val="6120"/>
              </a:lnSpc>
              <a:spcBef>
                <a:spcPct val="0"/>
              </a:spcBef>
            </a:pPr>
            <a:r>
              <a:rPr lang="en-US" sz="2700" dirty="0" err="1">
                <a:solidFill>
                  <a:srgbClr val="000000"/>
                </a:solidFill>
                <a:latin typeface="Arimo"/>
                <a:ea typeface="Arimo"/>
                <a:cs typeface="Arimo"/>
                <a:sym typeface="Arimo"/>
              </a:rPr>
              <a:t>Là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thuật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toán</a:t>
            </a:r>
            <a:r>
              <a:rPr lang="en-US" sz="2700" dirty="0">
                <a:solidFill>
                  <a:srgbClr val="000000"/>
                </a:solidFill>
                <a:latin typeface="Arimo"/>
                <a:ea typeface="Arimo"/>
                <a:cs typeface="Arimo"/>
                <a:sym typeface="Arimo"/>
              </a:rPr>
              <a:t> </a:t>
            </a:r>
            <a:r>
              <a:rPr lang="en-US" sz="2700" u="none" dirty="0" err="1">
                <a:solidFill>
                  <a:srgbClr val="000000"/>
                </a:solidFill>
                <a:latin typeface="Arimo"/>
                <a:ea typeface="Arimo"/>
                <a:cs typeface="Arimo"/>
                <a:sym typeface="Arimo"/>
              </a:rPr>
              <a:t>học</a:t>
            </a:r>
            <a:r>
              <a:rPr lang="en-US" sz="2700" u="none" dirty="0">
                <a:solidFill>
                  <a:srgbClr val="000000"/>
                </a:solidFill>
                <a:latin typeface="Arimo"/>
                <a:ea typeface="Arimo"/>
                <a:cs typeface="Arimo"/>
                <a:sym typeface="Arimo"/>
              </a:rPr>
              <a:t> </a:t>
            </a:r>
            <a:r>
              <a:rPr lang="en-US" sz="2700" u="none" dirty="0" err="1">
                <a:solidFill>
                  <a:srgbClr val="000000"/>
                </a:solidFill>
                <a:latin typeface="Arimo"/>
                <a:ea typeface="Arimo"/>
                <a:cs typeface="Arimo"/>
                <a:sym typeface="Arimo"/>
              </a:rPr>
              <a:t>máy</a:t>
            </a:r>
            <a:r>
              <a:rPr lang="en-US" sz="2700" u="none" dirty="0">
                <a:solidFill>
                  <a:srgbClr val="000000"/>
                </a:solidFill>
                <a:latin typeface="Arimo"/>
                <a:ea typeface="Arimo"/>
                <a:cs typeface="Arimo"/>
                <a:sym typeface="Arimo"/>
              </a:rPr>
              <a:t> </a:t>
            </a:r>
            <a:r>
              <a:rPr lang="en-US" sz="2700" u="none" dirty="0" err="1">
                <a:solidFill>
                  <a:srgbClr val="000000"/>
                </a:solidFill>
                <a:latin typeface="Arimo"/>
                <a:ea typeface="Arimo"/>
                <a:cs typeface="Arimo"/>
                <a:sym typeface="Arimo"/>
              </a:rPr>
              <a:t>có</a:t>
            </a:r>
            <a:r>
              <a:rPr lang="en-US" sz="2700" u="none" dirty="0">
                <a:solidFill>
                  <a:srgbClr val="000000"/>
                </a:solidFill>
                <a:latin typeface="Arimo"/>
                <a:ea typeface="Arimo"/>
                <a:cs typeface="Arimo"/>
                <a:sym typeface="Arimo"/>
              </a:rPr>
              <a:t> </a:t>
            </a:r>
            <a:r>
              <a:rPr lang="en-US" sz="2700" u="none" dirty="0" err="1">
                <a:solidFill>
                  <a:srgbClr val="000000"/>
                </a:solidFill>
                <a:latin typeface="Arimo"/>
                <a:ea typeface="Arimo"/>
                <a:cs typeface="Arimo"/>
                <a:sym typeface="Arimo"/>
              </a:rPr>
              <a:t>giám</a:t>
            </a:r>
            <a:r>
              <a:rPr lang="en-US" sz="2700" u="none" dirty="0">
                <a:solidFill>
                  <a:srgbClr val="000000"/>
                </a:solidFill>
                <a:latin typeface="Arimo"/>
                <a:ea typeface="Arimo"/>
                <a:cs typeface="Arimo"/>
                <a:sym typeface="Arimo"/>
              </a:rPr>
              <a:t> </a:t>
            </a:r>
            <a:r>
              <a:rPr lang="en-US" sz="2700" u="none" dirty="0" err="1">
                <a:solidFill>
                  <a:srgbClr val="000000"/>
                </a:solidFill>
                <a:latin typeface="Arimo"/>
                <a:ea typeface="Arimo"/>
                <a:cs typeface="Arimo"/>
                <a:sym typeface="Arimo"/>
              </a:rPr>
              <a:t>sát</a:t>
            </a:r>
            <a:r>
              <a:rPr lang="en-US" sz="2700" dirty="0">
                <a:solidFill>
                  <a:srgbClr val="000000"/>
                </a:solidFill>
                <a:latin typeface="Arimo"/>
                <a:ea typeface="Arimo"/>
                <a:cs typeface="Arimo"/>
                <a:sym typeface="Arimo"/>
              </a:rPr>
              <a:t> (supervised machine learning), </a:t>
            </a:r>
            <a:r>
              <a:rPr lang="en-US" sz="2700" dirty="0" err="1">
                <a:solidFill>
                  <a:srgbClr val="000000"/>
                </a:solidFill>
                <a:latin typeface="Arimo"/>
                <a:ea typeface="Arimo"/>
                <a:cs typeface="Arimo"/>
                <a:sym typeface="Arimo"/>
              </a:rPr>
              <a:t>thực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hiện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phân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loại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dữ</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liệu</a:t>
            </a:r>
            <a:r>
              <a:rPr lang="en-US" sz="2700" dirty="0">
                <a:solidFill>
                  <a:srgbClr val="000000"/>
                </a:solidFill>
                <a:latin typeface="Arimo"/>
                <a:ea typeface="Arimo"/>
                <a:cs typeface="Arimo"/>
                <a:sym typeface="Arimo"/>
              </a:rPr>
              <a:t> bằng </a:t>
            </a:r>
            <a:r>
              <a:rPr lang="en-US" sz="2700" dirty="0" err="1">
                <a:solidFill>
                  <a:srgbClr val="000000"/>
                </a:solidFill>
                <a:latin typeface="Arimo"/>
                <a:ea typeface="Arimo"/>
                <a:cs typeface="Arimo"/>
                <a:sym typeface="Arimo"/>
              </a:rPr>
              <a:t>cách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tìm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kiếm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đường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thẳng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hoặc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siêu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phẳng</a:t>
            </a:r>
            <a:r>
              <a:rPr lang="en-US" sz="2700" dirty="0">
                <a:solidFill>
                  <a:srgbClr val="000000"/>
                </a:solidFill>
                <a:latin typeface="Arimo"/>
                <a:ea typeface="Arimo"/>
                <a:cs typeface="Arimo"/>
                <a:sym typeface="Arimo"/>
              </a:rPr>
              <a:t> (hyperplane) </a:t>
            </a:r>
            <a:r>
              <a:rPr lang="en-US" sz="2700" dirty="0" err="1">
                <a:solidFill>
                  <a:srgbClr val="000000"/>
                </a:solidFill>
                <a:latin typeface="Arimo"/>
                <a:ea typeface="Arimo"/>
                <a:cs typeface="Arimo"/>
                <a:sym typeface="Arimo"/>
              </a:rPr>
              <a:t>tối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ưu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khả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năng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tối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hóa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khoảng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giữa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mỗi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lớp</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trong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không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gian</a:t>
            </a:r>
            <a:r>
              <a:rPr lang="en-US" sz="2700" dirty="0">
                <a:solidFill>
                  <a:srgbClr val="000000"/>
                </a:solidFill>
                <a:latin typeface="Arimo"/>
                <a:ea typeface="Arimo"/>
                <a:cs typeface="Arimo"/>
                <a:sym typeface="Arimo"/>
              </a:rPr>
              <a:t> N </a:t>
            </a:r>
            <a:r>
              <a:rPr lang="en-US" sz="2700" dirty="0" err="1">
                <a:solidFill>
                  <a:srgbClr val="000000"/>
                </a:solidFill>
                <a:latin typeface="Arimo"/>
                <a:ea typeface="Arimo"/>
                <a:cs typeface="Arimo"/>
                <a:sym typeface="Arimo"/>
              </a:rPr>
              <a:t>chiều</a:t>
            </a:r>
            <a:r>
              <a:rPr lang="en-US" sz="2700" dirty="0">
                <a:solidFill>
                  <a:srgbClr val="000000"/>
                </a:solidFill>
                <a:latin typeface="Arimo"/>
                <a:ea typeface="Arimo"/>
                <a:cs typeface="Arimo"/>
                <a:sym typeface="Arimo"/>
              </a:rPr>
              <a:t>.</a:t>
            </a:r>
          </a:p>
        </p:txBody>
      </p:sp>
      <p:grpSp>
        <p:nvGrpSpPr>
          <p:cNvPr id="6" name="Group 6"/>
          <p:cNvGrpSpPr/>
          <p:nvPr/>
        </p:nvGrpSpPr>
        <p:grpSpPr>
          <a:xfrm>
            <a:off x="3489750" y="1422707"/>
            <a:ext cx="11758195" cy="1348665"/>
            <a:chOff x="0" y="-58767"/>
            <a:chExt cx="3096809" cy="492125"/>
          </a:xfrm>
        </p:grpSpPr>
        <p:sp>
          <p:nvSpPr>
            <p:cNvPr id="7" name="Freeform 7"/>
            <p:cNvSpPr/>
            <p:nvPr/>
          </p:nvSpPr>
          <p:spPr>
            <a:xfrm>
              <a:off x="0" y="0"/>
              <a:ext cx="3096808" cy="406400"/>
            </a:xfrm>
            <a:custGeom>
              <a:avLst/>
              <a:gdLst/>
              <a:ahLst/>
              <a:cxnLst/>
              <a:rect l="l" t="t" r="r" b="b"/>
              <a:pathLst>
                <a:path w="3096808" h="406400">
                  <a:moveTo>
                    <a:pt x="2893608" y="0"/>
                  </a:moveTo>
                  <a:cubicBezTo>
                    <a:pt x="3005833" y="0"/>
                    <a:pt x="3096808" y="90976"/>
                    <a:pt x="3096808" y="203200"/>
                  </a:cubicBezTo>
                  <a:cubicBezTo>
                    <a:pt x="3096808" y="315424"/>
                    <a:pt x="3005833" y="406400"/>
                    <a:pt x="289360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a:p>
          </p:txBody>
        </p:sp>
        <p:sp>
          <p:nvSpPr>
            <p:cNvPr id="8" name="TextBox 8"/>
            <p:cNvSpPr txBox="1"/>
            <p:nvPr/>
          </p:nvSpPr>
          <p:spPr>
            <a:xfrm>
              <a:off x="0" y="-58767"/>
              <a:ext cx="3096809" cy="492125"/>
            </a:xfrm>
            <a:prstGeom prst="rect">
              <a:avLst/>
            </a:prstGeom>
          </p:spPr>
          <p:txBody>
            <a:bodyPr lIns="50800" tIns="50800" rIns="50800" bIns="50800" rtlCol="0" anchor="ctr"/>
            <a:lstStyle/>
            <a:p>
              <a:pPr algn="ctr">
                <a:lnSpc>
                  <a:spcPts val="6719"/>
                </a:lnSpc>
              </a:pPr>
              <a:r>
                <a:rPr lang="en-US" sz="4799" dirty="0">
                  <a:solidFill>
                    <a:srgbClr val="FFFFFF"/>
                  </a:solidFill>
                  <a:latin typeface="Canva Sans"/>
                  <a:ea typeface="Canva Sans"/>
                  <a:cs typeface="Canva Sans"/>
                  <a:sym typeface="Canva Sans"/>
                </a:rPr>
                <a:t>Support Vector Machine (SVM)</a:t>
              </a:r>
            </a:p>
          </p:txBody>
        </p:sp>
      </p:gr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014" y="-2507"/>
            <a:ext cx="9201639" cy="2717511"/>
          </a:xfrm>
          <a:custGeom>
            <a:avLst/>
            <a:gdLst/>
            <a:ahLst/>
            <a:cxnLst/>
            <a:rect l="l" t="t" r="r" b="b"/>
            <a:pathLst>
              <a:path w="9201639" h="2717511">
                <a:moveTo>
                  <a:pt x="0" y="0"/>
                </a:moveTo>
                <a:lnTo>
                  <a:pt x="9201639" y="0"/>
                </a:lnTo>
                <a:lnTo>
                  <a:pt x="9201639" y="2717511"/>
                </a:lnTo>
                <a:lnTo>
                  <a:pt x="0" y="27175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8839200" y="2535469"/>
            <a:ext cx="8748157" cy="5216061"/>
          </a:xfrm>
          <a:custGeom>
            <a:avLst/>
            <a:gdLst/>
            <a:ahLst/>
            <a:cxnLst/>
            <a:rect l="l" t="t" r="r" b="b"/>
            <a:pathLst>
              <a:path w="9506976" h="5704186">
                <a:moveTo>
                  <a:pt x="0" y="0"/>
                </a:moveTo>
                <a:lnTo>
                  <a:pt x="9506976" y="0"/>
                </a:lnTo>
                <a:lnTo>
                  <a:pt x="9506976" y="5704186"/>
                </a:lnTo>
                <a:lnTo>
                  <a:pt x="0" y="5704186"/>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28600" y="0"/>
            <a:ext cx="6810202"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2. Related Work </a:t>
            </a:r>
          </a:p>
        </p:txBody>
      </p:sp>
      <p:sp>
        <p:nvSpPr>
          <p:cNvPr id="5" name="TextBox 5"/>
          <p:cNvSpPr txBox="1"/>
          <p:nvPr/>
        </p:nvSpPr>
        <p:spPr>
          <a:xfrm>
            <a:off x="313314" y="2749234"/>
            <a:ext cx="8189127" cy="4753161"/>
          </a:xfrm>
          <a:prstGeom prst="rect">
            <a:avLst/>
          </a:prstGeom>
        </p:spPr>
        <p:txBody>
          <a:bodyPr lIns="0" tIns="0" rIns="0" bIns="0" rtlCol="0" anchor="t">
            <a:spAutoFit/>
          </a:bodyPr>
          <a:lstStyle/>
          <a:p>
            <a:pPr algn="l">
              <a:lnSpc>
                <a:spcPts val="5400"/>
              </a:lnSpc>
              <a:spcBef>
                <a:spcPct val="0"/>
              </a:spcBef>
            </a:pPr>
            <a:r>
              <a:rPr lang="en-US" sz="2700" b="1" dirty="0" err="1">
                <a:solidFill>
                  <a:srgbClr val="000000"/>
                </a:solidFill>
                <a:latin typeface="Arimo Bold"/>
                <a:ea typeface="Arimo Bold"/>
                <a:cs typeface="Arimo Bold"/>
                <a:sym typeface="Arimo Bold"/>
              </a:rPr>
              <a:t>Cây</a:t>
            </a:r>
            <a:r>
              <a:rPr lang="en-US" sz="2700" b="1" dirty="0">
                <a:solidFill>
                  <a:srgbClr val="000000"/>
                </a:solidFill>
                <a:latin typeface="Arimo Bold"/>
                <a:ea typeface="Arimo Bold"/>
                <a:cs typeface="Arimo Bold"/>
                <a:sym typeface="Arimo Bold"/>
              </a:rPr>
              <a:t> </a:t>
            </a:r>
            <a:r>
              <a:rPr lang="en-US" sz="2700" b="1" dirty="0" err="1">
                <a:solidFill>
                  <a:srgbClr val="000000"/>
                </a:solidFill>
                <a:latin typeface="Arimo Bold"/>
                <a:ea typeface="Arimo Bold"/>
                <a:cs typeface="Arimo Bold"/>
                <a:sym typeface="Arimo Bold"/>
              </a:rPr>
              <a:t>Quyết</a:t>
            </a:r>
            <a:r>
              <a:rPr lang="en-US" sz="2700" b="1" dirty="0">
                <a:solidFill>
                  <a:srgbClr val="000000"/>
                </a:solidFill>
                <a:latin typeface="Arimo Bold"/>
                <a:ea typeface="Arimo Bold"/>
                <a:cs typeface="Arimo Bold"/>
                <a:sym typeface="Arimo Bold"/>
              </a:rPr>
              <a:t> </a:t>
            </a:r>
            <a:r>
              <a:rPr lang="en-US" sz="2700" b="1" dirty="0" err="1">
                <a:solidFill>
                  <a:srgbClr val="000000"/>
                </a:solidFill>
                <a:latin typeface="Arimo Bold"/>
                <a:ea typeface="Arimo Bold"/>
                <a:cs typeface="Arimo Bold"/>
                <a:sym typeface="Arimo Bold"/>
              </a:rPr>
              <a:t>định</a:t>
            </a:r>
            <a:r>
              <a:rPr lang="en-US" sz="2700" b="1" dirty="0">
                <a:solidFill>
                  <a:srgbClr val="000000"/>
                </a:solidFill>
                <a:latin typeface="Arimo Bold"/>
                <a:ea typeface="Arimo Bold"/>
                <a:cs typeface="Arimo Bold"/>
                <a:sym typeface="Arimo Bold"/>
              </a:rPr>
              <a:t> (Decision Tree)</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thuật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toán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học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giám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sát</a:t>
            </a:r>
            <a:r>
              <a:rPr lang="en-US" sz="2700" dirty="0">
                <a:solidFill>
                  <a:srgbClr val="000000"/>
                </a:solidFill>
                <a:latin typeface="Arimo"/>
                <a:ea typeface="Arimo"/>
                <a:cs typeface="Arimo"/>
                <a:sym typeface="Arimo"/>
              </a:rPr>
              <a:t> (supervised learning) </a:t>
            </a:r>
            <a:r>
              <a:rPr lang="en-US" sz="2700" dirty="0" err="1">
                <a:solidFill>
                  <a:srgbClr val="000000"/>
                </a:solidFill>
                <a:latin typeface="Arimo"/>
                <a:ea typeface="Arimo"/>
                <a:cs typeface="Arimo"/>
                <a:sym typeface="Arimo"/>
              </a:rPr>
              <a:t>không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tham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số</a:t>
            </a:r>
            <a:r>
              <a:rPr lang="en-US" sz="2700" dirty="0">
                <a:solidFill>
                  <a:srgbClr val="000000"/>
                </a:solidFill>
                <a:latin typeface="Arimo"/>
                <a:ea typeface="Arimo"/>
                <a:cs typeface="Arimo"/>
                <a:sym typeface="Arimo"/>
              </a:rPr>
              <a:t> (non-parametric), </a:t>
            </a:r>
            <a:r>
              <a:rPr lang="en-US" sz="2700" dirty="0" err="1">
                <a:solidFill>
                  <a:srgbClr val="000000"/>
                </a:solidFill>
                <a:latin typeface="Arimo"/>
                <a:ea typeface="Arimo"/>
                <a:cs typeface="Arimo"/>
                <a:sym typeface="Arimo"/>
              </a:rPr>
              <a:t>được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sử</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dụng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nhiệm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vụ</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phân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loại</a:t>
            </a:r>
            <a:r>
              <a:rPr lang="en-US" sz="2700" dirty="0">
                <a:solidFill>
                  <a:srgbClr val="000000"/>
                </a:solidFill>
                <a:latin typeface="Arimo"/>
                <a:ea typeface="Arimo"/>
                <a:cs typeface="Arimo"/>
                <a:sym typeface="Arimo"/>
              </a:rPr>
              <a:t> (classification)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hồi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quy</a:t>
            </a:r>
            <a:r>
              <a:rPr lang="en-US" sz="2700" dirty="0">
                <a:solidFill>
                  <a:srgbClr val="000000"/>
                </a:solidFill>
                <a:latin typeface="Arimo"/>
                <a:ea typeface="Arimo"/>
                <a:cs typeface="Arimo"/>
                <a:sym typeface="Arimo"/>
              </a:rPr>
              <a:t> (regression). </a:t>
            </a:r>
            <a:r>
              <a:rPr lang="en-US" sz="2700" dirty="0" err="1">
                <a:solidFill>
                  <a:srgbClr val="000000"/>
                </a:solidFill>
                <a:latin typeface="Arimo"/>
                <a:ea typeface="Arimo"/>
                <a:cs typeface="Arimo"/>
                <a:sym typeface="Arimo"/>
              </a:rPr>
              <a:t>Nó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cấu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trúc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phân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cấp</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dạng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cây</a:t>
            </a:r>
            <a:r>
              <a:rPr lang="en-US" sz="2700" dirty="0">
                <a:solidFill>
                  <a:srgbClr val="000000"/>
                </a:solidFill>
                <a:latin typeface="Arimo"/>
                <a:ea typeface="Arimo"/>
                <a:cs typeface="Arimo"/>
                <a:sym typeface="Arimo"/>
              </a:rPr>
              <a:t>, bao </a:t>
            </a:r>
            <a:r>
              <a:rPr lang="en-US" sz="2700" dirty="0" err="1">
                <a:solidFill>
                  <a:srgbClr val="000000"/>
                </a:solidFill>
                <a:latin typeface="Arimo"/>
                <a:ea typeface="Arimo"/>
                <a:cs typeface="Arimo"/>
                <a:sym typeface="Arimo"/>
              </a:rPr>
              <a:t>gồm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nút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gốc</a:t>
            </a:r>
            <a:r>
              <a:rPr lang="en-US" sz="2700" dirty="0">
                <a:solidFill>
                  <a:srgbClr val="000000"/>
                </a:solidFill>
                <a:latin typeface="Arimo"/>
                <a:ea typeface="Arimo"/>
                <a:cs typeface="Arimo"/>
                <a:sym typeface="Arimo"/>
              </a:rPr>
              <a:t> (root node),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nhánh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nút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bên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trong</a:t>
            </a:r>
            <a:r>
              <a:rPr lang="en-US" sz="2700" dirty="0">
                <a:solidFill>
                  <a:srgbClr val="000000"/>
                </a:solidFill>
                <a:latin typeface="Arimo"/>
                <a:ea typeface="Arimo"/>
                <a:cs typeface="Arimo"/>
                <a:sym typeface="Arimo"/>
              </a:rPr>
              <a:t> (internal nodes)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nút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lá</a:t>
            </a:r>
            <a:r>
              <a:rPr lang="en-US" sz="2700" dirty="0">
                <a:solidFill>
                  <a:srgbClr val="000000"/>
                </a:solidFill>
                <a:latin typeface="Arimo"/>
                <a:ea typeface="Arimo"/>
                <a:cs typeface="Arimo"/>
                <a:sym typeface="Arimo"/>
              </a:rPr>
              <a:t> (leaf nodes).</a:t>
            </a:r>
          </a:p>
        </p:txBody>
      </p:sp>
      <p:sp>
        <p:nvSpPr>
          <p:cNvPr id="6" name="TextBox 6"/>
          <p:cNvSpPr txBox="1"/>
          <p:nvPr/>
        </p:nvSpPr>
        <p:spPr>
          <a:xfrm>
            <a:off x="313315" y="8008467"/>
            <a:ext cx="16776656" cy="2019297"/>
          </a:xfrm>
          <a:prstGeom prst="rect">
            <a:avLst/>
          </a:prstGeom>
        </p:spPr>
        <p:txBody>
          <a:bodyPr lIns="0" tIns="0" rIns="0" bIns="0" rtlCol="0" anchor="t">
            <a:spAutoFit/>
          </a:bodyPr>
          <a:lstStyle/>
          <a:p>
            <a:pPr algn="l">
              <a:lnSpc>
                <a:spcPts val="5400"/>
              </a:lnSpc>
              <a:spcBef>
                <a:spcPct val="0"/>
              </a:spcBef>
            </a:pPr>
            <a:r>
              <a:rPr lang="en-US" sz="2700" b="1" dirty="0">
                <a:solidFill>
                  <a:srgbClr val="000000"/>
                </a:solidFill>
                <a:latin typeface="Arimo Bold"/>
                <a:ea typeface="Arimo Bold"/>
                <a:cs typeface="Arimo Bold"/>
                <a:sym typeface="Arimo Bold"/>
              </a:rPr>
              <a:t>Random Forest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thuật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toán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học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máy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phổ</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biến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Thuật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toán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này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kết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hợp</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kết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đầu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ra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của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nhiều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cây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quyết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định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để</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đưa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ra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một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kết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duy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nhất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Sự</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dễ</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sử</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dụng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tính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linh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hoạt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thúc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đẩy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việc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ứng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dụng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rộng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rãi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vì</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xử</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lý</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được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bài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toán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phân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loại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hồi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quy</a:t>
            </a:r>
            <a:r>
              <a:rPr lang="en-US" sz="2700" dirty="0">
                <a:solidFill>
                  <a:srgbClr val="000000"/>
                </a:solidFill>
                <a:latin typeface="Arimo"/>
                <a:ea typeface="Arimo"/>
                <a:cs typeface="Arimo"/>
                <a:sym typeface="Arimo"/>
              </a:rPr>
              <a:t>.</a:t>
            </a:r>
          </a:p>
        </p:txBody>
      </p:sp>
      <p:grpSp>
        <p:nvGrpSpPr>
          <p:cNvPr id="7" name="Group 7"/>
          <p:cNvGrpSpPr/>
          <p:nvPr/>
        </p:nvGrpSpPr>
        <p:grpSpPr>
          <a:xfrm>
            <a:off x="9906000" y="786396"/>
            <a:ext cx="6057918" cy="1262671"/>
            <a:chOff x="0" y="-81414"/>
            <a:chExt cx="1535293" cy="492125"/>
          </a:xfrm>
        </p:grpSpPr>
        <p:sp>
          <p:nvSpPr>
            <p:cNvPr id="8" name="Freeform 8"/>
            <p:cNvSpPr/>
            <p:nvPr/>
          </p:nvSpPr>
          <p:spPr>
            <a:xfrm>
              <a:off x="0" y="0"/>
              <a:ext cx="1535293" cy="406400"/>
            </a:xfrm>
            <a:custGeom>
              <a:avLst/>
              <a:gdLst/>
              <a:ahLst/>
              <a:cxnLst/>
              <a:rect l="l" t="t" r="r" b="b"/>
              <a:pathLst>
                <a:path w="1535293" h="406400">
                  <a:moveTo>
                    <a:pt x="1332093" y="0"/>
                  </a:moveTo>
                  <a:cubicBezTo>
                    <a:pt x="1444317" y="0"/>
                    <a:pt x="1535293" y="90976"/>
                    <a:pt x="1535293" y="203200"/>
                  </a:cubicBezTo>
                  <a:cubicBezTo>
                    <a:pt x="1535293" y="315424"/>
                    <a:pt x="1444317" y="406400"/>
                    <a:pt x="1332093"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a:p>
          </p:txBody>
        </p:sp>
        <p:sp>
          <p:nvSpPr>
            <p:cNvPr id="9" name="TextBox 9"/>
            <p:cNvSpPr txBox="1"/>
            <p:nvPr/>
          </p:nvSpPr>
          <p:spPr>
            <a:xfrm>
              <a:off x="0" y="-81414"/>
              <a:ext cx="1535292" cy="492125"/>
            </a:xfrm>
            <a:prstGeom prst="rect">
              <a:avLst/>
            </a:prstGeom>
          </p:spPr>
          <p:txBody>
            <a:bodyPr lIns="50800" tIns="50800" rIns="50800" bIns="50800" rtlCol="0" anchor="ctr"/>
            <a:lstStyle/>
            <a:p>
              <a:pPr algn="ctr">
                <a:lnSpc>
                  <a:spcPts val="6719"/>
                </a:lnSpc>
              </a:pPr>
              <a:r>
                <a:rPr lang="en-US" sz="4799" dirty="0">
                  <a:solidFill>
                    <a:srgbClr val="FFFFFF"/>
                  </a:solidFill>
                  <a:latin typeface="Canva Sans"/>
                  <a:ea typeface="Canva Sans"/>
                  <a:cs typeface="Canva Sans"/>
                  <a:sym typeface="Canva Sans"/>
                </a:rPr>
                <a:t>Random Forest</a:t>
              </a:r>
            </a:p>
          </p:txBody>
        </p: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3402682" y="4538776"/>
            <a:ext cx="4141929" cy="1776412"/>
            <a:chOff x="0" y="0"/>
            <a:chExt cx="812800" cy="406400"/>
          </a:xfrm>
        </p:grpSpPr>
        <p:sp>
          <p:nvSpPr>
            <p:cNvPr id="5" name="Freeform 5"/>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chemeClr val="accent1"/>
            </a:solidFill>
          </p:spPr>
          <p:txBody>
            <a:bodyPr/>
            <a:lstStyle/>
            <a:p>
              <a:endParaRPr lang="en-US"/>
            </a:p>
          </p:txBody>
        </p:sp>
        <p:sp>
          <p:nvSpPr>
            <p:cNvPr id="6" name="TextBox 6"/>
            <p:cNvSpPr txBox="1"/>
            <p:nvPr/>
          </p:nvSpPr>
          <p:spPr>
            <a:xfrm>
              <a:off x="177800" y="-38100"/>
              <a:ext cx="558800" cy="444500"/>
            </a:xfrm>
            <a:prstGeom prst="rect">
              <a:avLst/>
            </a:prstGeom>
          </p:spPr>
          <p:txBody>
            <a:bodyPr lIns="50800" tIns="50800" rIns="50800" bIns="50800" rtlCol="0" anchor="ctr"/>
            <a:lstStyle/>
            <a:p>
              <a:pPr algn="ctr">
                <a:lnSpc>
                  <a:spcPts val="3359"/>
                </a:lnSpc>
                <a:spcBef>
                  <a:spcPct val="0"/>
                </a:spcBef>
              </a:pPr>
              <a:r>
                <a:rPr lang="en-US" sz="2399" dirty="0" err="1">
                  <a:solidFill>
                    <a:srgbClr val="FFFFFF"/>
                  </a:solidFill>
                  <a:latin typeface="Arial" panose="020B0604020202020204" pitchFamily="34" charset="0"/>
                  <a:ea typeface="Canva Sans"/>
                  <a:cs typeface="Arial" panose="020B0604020202020204" pitchFamily="34" charset="0"/>
                  <a:sym typeface="Canva Sans"/>
                </a:rPr>
                <a:t>Phân</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tích</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và</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khám</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phá</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dữ</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liệu</a:t>
              </a:r>
              <a:endParaRPr lang="en-US" sz="2399" dirty="0">
                <a:solidFill>
                  <a:srgbClr val="FFFFFF"/>
                </a:solidFill>
                <a:latin typeface="Arial" panose="020B0604020202020204" pitchFamily="34" charset="0"/>
                <a:ea typeface="Canva Sans"/>
                <a:cs typeface="Arial" panose="020B0604020202020204" pitchFamily="34" charset="0"/>
                <a:sym typeface="Canva Sans"/>
              </a:endParaRPr>
            </a:p>
          </p:txBody>
        </p:sp>
      </p:grpSp>
      <p:grpSp>
        <p:nvGrpSpPr>
          <p:cNvPr id="7" name="Group 7"/>
          <p:cNvGrpSpPr/>
          <p:nvPr/>
        </p:nvGrpSpPr>
        <p:grpSpPr>
          <a:xfrm>
            <a:off x="6947118" y="4538776"/>
            <a:ext cx="3552825" cy="1776412"/>
            <a:chOff x="0" y="0"/>
            <a:chExt cx="812800" cy="406400"/>
          </a:xfrm>
        </p:grpSpPr>
        <p:sp>
          <p:nvSpPr>
            <p:cNvPr id="8" name="Freeform 8"/>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chemeClr val="accent1"/>
            </a:solidFill>
          </p:spPr>
          <p:txBody>
            <a:bodyPr/>
            <a:lstStyle/>
            <a:p>
              <a:endParaRPr lang="en-US" dirty="0"/>
            </a:p>
          </p:txBody>
        </p:sp>
        <p:sp>
          <p:nvSpPr>
            <p:cNvPr id="9" name="TextBox 9"/>
            <p:cNvSpPr txBox="1"/>
            <p:nvPr/>
          </p:nvSpPr>
          <p:spPr>
            <a:xfrm>
              <a:off x="177800" y="-38100"/>
              <a:ext cx="558800" cy="444500"/>
            </a:xfrm>
            <a:prstGeom prst="rect">
              <a:avLst/>
            </a:prstGeom>
          </p:spPr>
          <p:txBody>
            <a:bodyPr lIns="50800" tIns="50800" rIns="50800" bIns="50800" rtlCol="0" anchor="ctr"/>
            <a:lstStyle/>
            <a:p>
              <a:pPr algn="ctr">
                <a:lnSpc>
                  <a:spcPts val="3359"/>
                </a:lnSpc>
              </a:pPr>
              <a:r>
                <a:rPr lang="en-US" sz="2399" dirty="0" err="1">
                  <a:solidFill>
                    <a:srgbClr val="FFFFFF"/>
                  </a:solidFill>
                  <a:latin typeface="Arial" panose="020B0604020202020204" pitchFamily="34" charset="0"/>
                  <a:ea typeface="Canva Sans"/>
                  <a:cs typeface="Arial" panose="020B0604020202020204" pitchFamily="34" charset="0"/>
                  <a:sym typeface="Canva Sans"/>
                </a:rPr>
                <a:t>Xử</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lí</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dữ</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liệu</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và</a:t>
              </a:r>
              <a:endParaRPr lang="en-US" sz="2399" dirty="0">
                <a:solidFill>
                  <a:srgbClr val="FFFFFF"/>
                </a:solidFill>
                <a:latin typeface="Arial" panose="020B0604020202020204" pitchFamily="34" charset="0"/>
                <a:ea typeface="Canva Sans"/>
                <a:cs typeface="Arial" panose="020B0604020202020204" pitchFamily="34" charset="0"/>
                <a:sym typeface="Canva Sans"/>
              </a:endParaRPr>
            </a:p>
            <a:p>
              <a:pPr algn="ctr">
                <a:lnSpc>
                  <a:spcPts val="3359"/>
                </a:lnSpc>
                <a:spcBef>
                  <a:spcPct val="0"/>
                </a:spcBef>
              </a:pPr>
              <a:r>
                <a:rPr lang="en-US" sz="2399" dirty="0" err="1">
                  <a:solidFill>
                    <a:srgbClr val="FFFFFF"/>
                  </a:solidFill>
                  <a:latin typeface="Arial" panose="020B0604020202020204" pitchFamily="34" charset="0"/>
                  <a:ea typeface="Canva Sans"/>
                  <a:cs typeface="Arial" panose="020B0604020202020204" pitchFamily="34" charset="0"/>
                  <a:sym typeface="Canva Sans"/>
                </a:rPr>
                <a:t>chọn</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đặc</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trưng</a:t>
              </a:r>
              <a:endParaRPr lang="en-US" sz="2399" dirty="0">
                <a:solidFill>
                  <a:srgbClr val="FFFFFF"/>
                </a:solidFill>
                <a:latin typeface="Arial" panose="020B0604020202020204" pitchFamily="34" charset="0"/>
                <a:ea typeface="Canva Sans"/>
                <a:cs typeface="Arial" panose="020B0604020202020204" pitchFamily="34" charset="0"/>
                <a:sym typeface="Canva Sans"/>
              </a:endParaRPr>
            </a:p>
          </p:txBody>
        </p:sp>
      </p:grpSp>
      <p:grpSp>
        <p:nvGrpSpPr>
          <p:cNvPr id="10" name="Group 10"/>
          <p:cNvGrpSpPr/>
          <p:nvPr/>
        </p:nvGrpSpPr>
        <p:grpSpPr>
          <a:xfrm>
            <a:off x="9971189" y="4538776"/>
            <a:ext cx="3729807" cy="1776412"/>
            <a:chOff x="0" y="0"/>
            <a:chExt cx="853289" cy="406400"/>
          </a:xfrm>
        </p:grpSpPr>
        <p:sp>
          <p:nvSpPr>
            <p:cNvPr id="11" name="Freeform 11"/>
            <p:cNvSpPr/>
            <p:nvPr/>
          </p:nvSpPr>
          <p:spPr>
            <a:xfrm>
              <a:off x="0" y="0"/>
              <a:ext cx="853289" cy="406400"/>
            </a:xfrm>
            <a:custGeom>
              <a:avLst/>
              <a:gdLst/>
              <a:ahLst/>
              <a:cxnLst/>
              <a:rect l="l" t="t" r="r" b="b"/>
              <a:pathLst>
                <a:path w="853289" h="406400">
                  <a:moveTo>
                    <a:pt x="0" y="0"/>
                  </a:moveTo>
                  <a:lnTo>
                    <a:pt x="650089" y="0"/>
                  </a:lnTo>
                  <a:lnTo>
                    <a:pt x="853289" y="203200"/>
                  </a:lnTo>
                  <a:lnTo>
                    <a:pt x="650089" y="406400"/>
                  </a:lnTo>
                  <a:lnTo>
                    <a:pt x="0" y="406400"/>
                  </a:lnTo>
                  <a:lnTo>
                    <a:pt x="203200" y="203200"/>
                  </a:lnTo>
                  <a:lnTo>
                    <a:pt x="0" y="0"/>
                  </a:lnTo>
                  <a:close/>
                </a:path>
              </a:pathLst>
            </a:custGeom>
            <a:solidFill>
              <a:schemeClr val="accent1"/>
            </a:solidFill>
          </p:spPr>
          <p:txBody>
            <a:bodyPr/>
            <a:lstStyle/>
            <a:p>
              <a:endParaRPr lang="en-US" dirty="0"/>
            </a:p>
          </p:txBody>
        </p:sp>
        <p:sp>
          <p:nvSpPr>
            <p:cNvPr id="12" name="TextBox 12"/>
            <p:cNvSpPr txBox="1"/>
            <p:nvPr/>
          </p:nvSpPr>
          <p:spPr>
            <a:xfrm>
              <a:off x="177800" y="-38100"/>
              <a:ext cx="599289" cy="444500"/>
            </a:xfrm>
            <a:prstGeom prst="rect">
              <a:avLst/>
            </a:prstGeom>
          </p:spPr>
          <p:txBody>
            <a:bodyPr lIns="50800" tIns="50800" rIns="50800" bIns="50800" rtlCol="0" anchor="ctr"/>
            <a:lstStyle/>
            <a:p>
              <a:pPr algn="ctr">
                <a:lnSpc>
                  <a:spcPts val="3359"/>
                </a:lnSpc>
              </a:pPr>
              <a:r>
                <a:rPr lang="en-US" sz="2399" dirty="0" err="1">
                  <a:solidFill>
                    <a:srgbClr val="FFFFFF"/>
                  </a:solidFill>
                  <a:latin typeface="Arial" panose="020B0604020202020204" pitchFamily="34" charset="0"/>
                  <a:ea typeface="Canva Sans"/>
                  <a:cs typeface="Arial" panose="020B0604020202020204" pitchFamily="34" charset="0"/>
                  <a:sym typeface="Canva Sans"/>
                </a:rPr>
                <a:t>Sử</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dụng</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mô</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hình</a:t>
              </a:r>
              <a:endParaRPr lang="en-US" sz="2399" dirty="0">
                <a:solidFill>
                  <a:srgbClr val="FFFFFF"/>
                </a:solidFill>
                <a:latin typeface="Arial" panose="020B0604020202020204" pitchFamily="34" charset="0"/>
                <a:ea typeface="Canva Sans"/>
                <a:cs typeface="Arial" panose="020B0604020202020204" pitchFamily="34" charset="0"/>
                <a:sym typeface="Canva Sans"/>
              </a:endParaRPr>
            </a:p>
            <a:p>
              <a:pPr algn="ctr">
                <a:lnSpc>
                  <a:spcPts val="3359"/>
                </a:lnSpc>
                <a:spcBef>
                  <a:spcPct val="0"/>
                </a:spcBef>
              </a:pPr>
              <a:r>
                <a:rPr lang="en-US" sz="2399" dirty="0">
                  <a:solidFill>
                    <a:srgbClr val="FFFFFF"/>
                  </a:solidFill>
                  <a:latin typeface="Arial" panose="020B0604020202020204" pitchFamily="34" charset="0"/>
                  <a:ea typeface="Canva Sans"/>
                  <a:cs typeface="Arial" panose="020B0604020202020204" pitchFamily="34" charset="0"/>
                  <a:sym typeface="Canva Sans"/>
                </a:rPr>
                <a:t>(KNN, SVM, RF)</a:t>
              </a:r>
            </a:p>
          </p:txBody>
        </p:sp>
      </p:grpSp>
      <p:grpSp>
        <p:nvGrpSpPr>
          <p:cNvPr id="13" name="Group 13"/>
          <p:cNvGrpSpPr/>
          <p:nvPr/>
        </p:nvGrpSpPr>
        <p:grpSpPr>
          <a:xfrm>
            <a:off x="13258800" y="4538776"/>
            <a:ext cx="3552825" cy="1776412"/>
            <a:chOff x="0" y="0"/>
            <a:chExt cx="812800" cy="406400"/>
          </a:xfrm>
        </p:grpSpPr>
        <p:sp>
          <p:nvSpPr>
            <p:cNvPr id="14" name="Freeform 14"/>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chemeClr val="accent1"/>
            </a:solidFill>
          </p:spPr>
          <p:txBody>
            <a:bodyPr/>
            <a:lstStyle/>
            <a:p>
              <a:endParaRPr lang="en-US"/>
            </a:p>
          </p:txBody>
        </p:sp>
        <p:sp>
          <p:nvSpPr>
            <p:cNvPr id="15" name="TextBox 15"/>
            <p:cNvSpPr txBox="1"/>
            <p:nvPr/>
          </p:nvSpPr>
          <p:spPr>
            <a:xfrm>
              <a:off x="177800" y="-38100"/>
              <a:ext cx="558800" cy="444500"/>
            </a:xfrm>
            <a:prstGeom prst="rect">
              <a:avLst/>
            </a:prstGeom>
          </p:spPr>
          <p:txBody>
            <a:bodyPr lIns="50800" tIns="50800" rIns="50800" bIns="50800" rtlCol="0" anchor="ctr"/>
            <a:lstStyle/>
            <a:p>
              <a:pPr algn="ctr">
                <a:lnSpc>
                  <a:spcPts val="3359"/>
                </a:lnSpc>
                <a:spcBef>
                  <a:spcPct val="0"/>
                </a:spcBef>
              </a:pPr>
              <a:r>
                <a:rPr lang="en-US" sz="2399" dirty="0" err="1">
                  <a:solidFill>
                    <a:srgbClr val="FFFFFF"/>
                  </a:solidFill>
                  <a:latin typeface="Arial" panose="020B0604020202020204" pitchFamily="34" charset="0"/>
                  <a:ea typeface="Canva Sans"/>
                  <a:cs typeface="Arial" panose="020B0604020202020204" pitchFamily="34" charset="0"/>
                  <a:sym typeface="Canva Sans"/>
                </a:rPr>
                <a:t>Đánh</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giá</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mô</a:t>
              </a:r>
              <a:r>
                <a:rPr lang="en-US" sz="2399" dirty="0">
                  <a:solidFill>
                    <a:srgbClr val="FFFFFF"/>
                  </a:solidFill>
                  <a:latin typeface="Arial" panose="020B0604020202020204" pitchFamily="34" charset="0"/>
                  <a:ea typeface="Canva Sans"/>
                  <a:cs typeface="Arial" panose="020B0604020202020204" pitchFamily="34" charset="0"/>
                  <a:sym typeface="Canva Sans"/>
                </a:rPr>
                <a:t> </a:t>
              </a:r>
              <a:r>
                <a:rPr lang="en-US" sz="2399" dirty="0" err="1">
                  <a:solidFill>
                    <a:srgbClr val="FFFFFF"/>
                  </a:solidFill>
                  <a:latin typeface="Arial" panose="020B0604020202020204" pitchFamily="34" charset="0"/>
                  <a:ea typeface="Canva Sans"/>
                  <a:cs typeface="Arial" panose="020B0604020202020204" pitchFamily="34" charset="0"/>
                  <a:sym typeface="Canva Sans"/>
                </a:rPr>
                <a:t>hình</a:t>
              </a:r>
              <a:endParaRPr lang="en-US" sz="2399" dirty="0">
                <a:solidFill>
                  <a:srgbClr val="FFFFFF"/>
                </a:solidFill>
                <a:latin typeface="Arial" panose="020B0604020202020204" pitchFamily="34" charset="0"/>
                <a:ea typeface="Canva Sans"/>
                <a:cs typeface="Arial" panose="020B0604020202020204" pitchFamily="34" charset="0"/>
                <a:sym typeface="Canva Sans"/>
              </a:endParaRPr>
            </a:p>
          </p:txBody>
        </p:sp>
      </p:grpSp>
      <p:grpSp>
        <p:nvGrpSpPr>
          <p:cNvPr id="16" name="Group 16"/>
          <p:cNvGrpSpPr/>
          <p:nvPr/>
        </p:nvGrpSpPr>
        <p:grpSpPr>
          <a:xfrm>
            <a:off x="406762" y="4538776"/>
            <a:ext cx="3552825" cy="1776412"/>
            <a:chOff x="0" y="0"/>
            <a:chExt cx="812800" cy="406400"/>
          </a:xfrm>
        </p:grpSpPr>
        <p:sp>
          <p:nvSpPr>
            <p:cNvPr id="17" name="Freeform 17"/>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chemeClr val="accent1"/>
            </a:solidFill>
          </p:spPr>
          <p:txBody>
            <a:bodyPr/>
            <a:lstStyle/>
            <a:p>
              <a:endParaRPr lang="en-US" dirty="0"/>
            </a:p>
          </p:txBody>
        </p:sp>
        <p:sp>
          <p:nvSpPr>
            <p:cNvPr id="18" name="TextBox 18"/>
            <p:cNvSpPr txBox="1"/>
            <p:nvPr/>
          </p:nvSpPr>
          <p:spPr>
            <a:xfrm>
              <a:off x="177800" y="-38100"/>
              <a:ext cx="558800" cy="444500"/>
            </a:xfrm>
            <a:prstGeom prst="rect">
              <a:avLst/>
            </a:prstGeom>
          </p:spPr>
          <p:txBody>
            <a:bodyPr lIns="50800" tIns="50800" rIns="50800" bIns="50800" rtlCol="0" anchor="ctr"/>
            <a:lstStyle/>
            <a:p>
              <a:pPr algn="ctr">
                <a:lnSpc>
                  <a:spcPts val="3359"/>
                </a:lnSpc>
                <a:spcBef>
                  <a:spcPct val="0"/>
                </a:spcBef>
              </a:pPr>
              <a:r>
                <a:rPr lang="en-US" sz="2399" dirty="0">
                  <a:solidFill>
                    <a:srgbClr val="FFFFFF"/>
                  </a:solidFill>
                  <a:latin typeface="Arial" panose="020B0604020202020204" pitchFamily="34" charset="0"/>
                  <a:ea typeface="Canva Sans"/>
                  <a:cs typeface="Arial" panose="020B0604020202020204" pitchFamily="34" charset="0"/>
                  <a:sym typeface="Canva Sans"/>
                </a:rPr>
                <a:t>Data input</a:t>
              </a:r>
            </a:p>
          </p:txBody>
        </p:sp>
      </p:grpSp>
      <p:sp>
        <p:nvSpPr>
          <p:cNvPr id="19" name="Freeform 2">
            <a:extLst>
              <a:ext uri="{FF2B5EF4-FFF2-40B4-BE49-F238E27FC236}">
                <a16:creationId xmlns:a16="http://schemas.microsoft.com/office/drawing/2014/main" id="{D3A6D4F0-362A-4F89-435D-DCE22DF74EEC}"/>
              </a:ext>
            </a:extLst>
          </p:cNvPr>
          <p:cNvSpPr/>
          <p:nvPr/>
        </p:nvSpPr>
        <p:spPr>
          <a:xfrm>
            <a:off x="-53026" y="-22205"/>
            <a:ext cx="12549825" cy="2651106"/>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0" name="TextBox 3">
            <a:extLst>
              <a:ext uri="{FF2B5EF4-FFF2-40B4-BE49-F238E27FC236}">
                <a16:creationId xmlns:a16="http://schemas.microsoft.com/office/drawing/2014/main" id="{6A7B1EF5-5786-7D63-F6D9-AF0A2A8FDCBE}"/>
              </a:ext>
            </a:extLst>
          </p:cNvPr>
          <p:cNvSpPr txBox="1"/>
          <p:nvPr/>
        </p:nvSpPr>
        <p:spPr>
          <a:xfrm>
            <a:off x="163830" y="34020"/>
            <a:ext cx="8980170"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6">
            <a:extLst>
              <a:ext uri="{FF2B5EF4-FFF2-40B4-BE49-F238E27FC236}">
                <a16:creationId xmlns:a16="http://schemas.microsoft.com/office/drawing/2014/main" id="{9F5B6D18-16C2-C98F-4855-53D342F3B816}"/>
              </a:ext>
            </a:extLst>
          </p:cNvPr>
          <p:cNvGrpSpPr/>
          <p:nvPr/>
        </p:nvGrpSpPr>
        <p:grpSpPr>
          <a:xfrm>
            <a:off x="6172200" y="1566410"/>
            <a:ext cx="10852348" cy="1024890"/>
            <a:chOff x="0" y="0"/>
            <a:chExt cx="2117948" cy="406400"/>
          </a:xfrm>
        </p:grpSpPr>
        <p:sp>
          <p:nvSpPr>
            <p:cNvPr id="5" name="Freeform 27">
              <a:extLst>
                <a:ext uri="{FF2B5EF4-FFF2-40B4-BE49-F238E27FC236}">
                  <a16:creationId xmlns:a16="http://schemas.microsoft.com/office/drawing/2014/main" id="{8562FB45-4840-F6C7-DCFC-123808C736D1}"/>
                </a:ext>
              </a:extLst>
            </p:cNvPr>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dirty="0"/>
            </a:p>
          </p:txBody>
        </p:sp>
        <p:sp>
          <p:nvSpPr>
            <p:cNvPr id="6" name="TextBox 28">
              <a:extLst>
                <a:ext uri="{FF2B5EF4-FFF2-40B4-BE49-F238E27FC236}">
                  <a16:creationId xmlns:a16="http://schemas.microsoft.com/office/drawing/2014/main" id="{77557A30-02B3-68BC-B35B-3BEBE73BBB44}"/>
                </a:ext>
              </a:extLst>
            </p:cNvPr>
            <p:cNvSpPr txBox="1"/>
            <p:nvPr/>
          </p:nvSpPr>
          <p:spPr>
            <a:xfrm>
              <a:off x="0" y="-85725"/>
              <a:ext cx="2117948" cy="492125"/>
            </a:xfrm>
            <a:prstGeom prst="rect">
              <a:avLst/>
            </a:prstGeom>
          </p:spPr>
          <p:txBody>
            <a:bodyPr lIns="50800" tIns="50800" rIns="50800" bIns="50800" rtlCol="0" anchor="ctr"/>
            <a:lstStyle/>
            <a:p>
              <a:pPr algn="ctr">
                <a:lnSpc>
                  <a:spcPts val="6719"/>
                </a:lnSpc>
              </a:pPr>
              <a:r>
                <a:rPr lang="en-US" sz="4799" dirty="0" err="1">
                  <a:solidFill>
                    <a:srgbClr val="FFFFFF"/>
                  </a:solidFill>
                  <a:latin typeface="Canva Sans"/>
                  <a:ea typeface="Canva Sans"/>
                  <a:cs typeface="Canva Sans"/>
                  <a:sym typeface="Canva Sans"/>
                </a:rPr>
                <a:t>Phân</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tích</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khám</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phá</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dữ</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liệu</a:t>
              </a:r>
              <a:endParaRPr lang="en-US" sz="4799" dirty="0">
                <a:solidFill>
                  <a:srgbClr val="FFFFFF"/>
                </a:solidFill>
                <a:latin typeface="Canva Sans"/>
                <a:ea typeface="Canva Sans"/>
                <a:cs typeface="Canva Sans"/>
                <a:sym typeface="Canva Sans"/>
              </a:endParaRPr>
            </a:p>
          </p:txBody>
        </p:sp>
      </p:grpSp>
      <p:pic>
        <p:nvPicPr>
          <p:cNvPr id="8" name="Picture 7">
            <a:extLst>
              <a:ext uri="{FF2B5EF4-FFF2-40B4-BE49-F238E27FC236}">
                <a16:creationId xmlns:a16="http://schemas.microsoft.com/office/drawing/2014/main" id="{EC57C381-A848-4307-F2E4-105B6FF87A7B}"/>
              </a:ext>
            </a:extLst>
          </p:cNvPr>
          <p:cNvPicPr>
            <a:picLocks noChangeAspect="1"/>
          </p:cNvPicPr>
          <p:nvPr/>
        </p:nvPicPr>
        <p:blipFill>
          <a:blip r:embed="rId2"/>
          <a:stretch>
            <a:fillRect/>
          </a:stretch>
        </p:blipFill>
        <p:spPr>
          <a:xfrm>
            <a:off x="1072854" y="2591300"/>
            <a:ext cx="6377525" cy="5081916"/>
          </a:xfrm>
          <a:prstGeom prst="rect">
            <a:avLst/>
          </a:prstGeom>
        </p:spPr>
      </p:pic>
      <p:pic>
        <p:nvPicPr>
          <p:cNvPr id="10" name="Picture 9">
            <a:extLst>
              <a:ext uri="{FF2B5EF4-FFF2-40B4-BE49-F238E27FC236}">
                <a16:creationId xmlns:a16="http://schemas.microsoft.com/office/drawing/2014/main" id="{C56C3B66-90D9-E8B6-4B07-D1BA0AA5492A}"/>
              </a:ext>
            </a:extLst>
          </p:cNvPr>
          <p:cNvPicPr>
            <a:picLocks noChangeAspect="1"/>
          </p:cNvPicPr>
          <p:nvPr/>
        </p:nvPicPr>
        <p:blipFill>
          <a:blip r:embed="rId3"/>
          <a:stretch>
            <a:fillRect/>
          </a:stretch>
        </p:blipFill>
        <p:spPr>
          <a:xfrm>
            <a:off x="10058400" y="2704995"/>
            <a:ext cx="6553200" cy="5019707"/>
          </a:xfrm>
          <a:prstGeom prst="rect">
            <a:avLst/>
          </a:prstGeom>
        </p:spPr>
      </p:pic>
      <p:sp>
        <p:nvSpPr>
          <p:cNvPr id="11" name="TextBox 10">
            <a:extLst>
              <a:ext uri="{FF2B5EF4-FFF2-40B4-BE49-F238E27FC236}">
                <a16:creationId xmlns:a16="http://schemas.microsoft.com/office/drawing/2014/main" id="{E6347D03-42DD-1FCC-F355-235A4B79F880}"/>
              </a:ext>
            </a:extLst>
          </p:cNvPr>
          <p:cNvSpPr txBox="1"/>
          <p:nvPr/>
        </p:nvSpPr>
        <p:spPr>
          <a:xfrm>
            <a:off x="1070579" y="7705658"/>
            <a:ext cx="7391399" cy="2585323"/>
          </a:xfrm>
          <a:prstGeom prst="rect">
            <a:avLst/>
          </a:prstGeom>
          <a:noFill/>
        </p:spPr>
        <p:txBody>
          <a:bodyPr wrap="square" rtlCol="0">
            <a:spAutoFit/>
          </a:bodyPr>
          <a:lstStyle/>
          <a:p>
            <a:r>
              <a:rPr lang="vi-VN" sz="2700" dirty="0"/>
              <a:t>Giới tính là một yếu tố dự đoán sống sót rất mạnh. Nữ giới có tỷ lệ sống sót cao hơn Nam giới rất nhiều.</a:t>
            </a:r>
            <a:endParaRPr lang="en-US" sz="2700" dirty="0"/>
          </a:p>
          <a:p>
            <a:r>
              <a:rPr lang="en-US" sz="2700" dirty="0">
                <a:latin typeface="Arial" panose="020B0604020202020204" pitchFamily="34" charset="0"/>
                <a:cs typeface="Arial" panose="020B0604020202020204" pitchFamily="34" charset="0"/>
              </a:rPr>
              <a:t>Xu </a:t>
            </a:r>
            <a:r>
              <a:rPr lang="en-US" sz="2700" dirty="0" err="1">
                <a:latin typeface="Arial" panose="020B0604020202020204" pitchFamily="34" charset="0"/>
                <a:cs typeface="Arial" panose="020B0604020202020204" pitchFamily="34" charset="0"/>
              </a:rPr>
              <a:t>hướng</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này</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diễn</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ra</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là</a:t>
            </a:r>
            <a:r>
              <a:rPr lang="en-US" sz="2700" dirty="0">
                <a:latin typeface="Arial" panose="020B0604020202020204" pitchFamily="34" charset="0"/>
                <a:cs typeface="Arial" panose="020B0604020202020204" pitchFamily="34" charset="0"/>
              </a:rPr>
              <a:t> do </a:t>
            </a:r>
            <a:r>
              <a:rPr lang="en-US" sz="2700" dirty="0" err="1">
                <a:latin typeface="Arial" panose="020B0604020202020204" pitchFamily="34" charset="0"/>
                <a:cs typeface="Arial" panose="020B0604020202020204" pitchFamily="34" charset="0"/>
              </a:rPr>
              <a:t>ưu</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tiên</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phụ</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nữ</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và</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trẻ</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em</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trước</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trong</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quá</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trình</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giải</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cứu</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các</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hành</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khách</a:t>
            </a:r>
            <a:endParaRPr lang="en-US" sz="27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0FE22B8-2F3E-0ADF-9C16-19D35A770EA8}"/>
              </a:ext>
            </a:extLst>
          </p:cNvPr>
          <p:cNvSpPr txBox="1"/>
          <p:nvPr/>
        </p:nvSpPr>
        <p:spPr>
          <a:xfrm>
            <a:off x="10058400" y="7644116"/>
            <a:ext cx="7391399" cy="1815882"/>
          </a:xfrm>
          <a:prstGeom prst="rect">
            <a:avLst/>
          </a:prstGeom>
          <a:noFill/>
        </p:spPr>
        <p:txBody>
          <a:bodyPr wrap="square" rtlCol="0">
            <a:spAutoFit/>
          </a:bodyPr>
          <a:lstStyle/>
          <a:p>
            <a:r>
              <a:rPr lang="vi-VN" sz="2800" dirty="0"/>
              <a:t>Tuổi tác cũng là một yếu tố quan trọng. Trẻ em (đặc biệt là trẻ sơ sinh và trẻ nhỏ) có ưu tiên sống sót cao. Đối với người lớn, phần lớn số người chết tập trung ở độ tuổi 20-40.</a:t>
            </a:r>
            <a:endParaRPr lang="en-US" sz="2700" dirty="0">
              <a:latin typeface="Arial" panose="020B0604020202020204" pitchFamily="34" charset="0"/>
              <a:cs typeface="Arial" panose="020B0604020202020204" pitchFamily="34" charset="0"/>
            </a:endParaRPr>
          </a:p>
        </p:txBody>
      </p:sp>
      <p:sp>
        <p:nvSpPr>
          <p:cNvPr id="13" name="Freeform 2">
            <a:extLst>
              <a:ext uri="{FF2B5EF4-FFF2-40B4-BE49-F238E27FC236}">
                <a16:creationId xmlns:a16="http://schemas.microsoft.com/office/drawing/2014/main" id="{00B73A82-9C11-4962-D925-02103118CB2E}"/>
              </a:ext>
            </a:extLst>
          </p:cNvPr>
          <p:cNvSpPr/>
          <p:nvPr/>
        </p:nvSpPr>
        <p:spPr>
          <a:xfrm>
            <a:off x="-53026" y="-22205"/>
            <a:ext cx="12549825" cy="2651106"/>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4" name="TextBox 3">
            <a:extLst>
              <a:ext uri="{FF2B5EF4-FFF2-40B4-BE49-F238E27FC236}">
                <a16:creationId xmlns:a16="http://schemas.microsoft.com/office/drawing/2014/main" id="{2621DB8F-E07B-BFF2-7E29-85F02F24B976}"/>
              </a:ext>
            </a:extLst>
          </p:cNvPr>
          <p:cNvSpPr txBox="1"/>
          <p:nvPr/>
        </p:nvSpPr>
        <p:spPr>
          <a:xfrm>
            <a:off x="163830" y="34020"/>
            <a:ext cx="8980170"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spTree>
    <p:extLst>
      <p:ext uri="{BB962C8B-B14F-4D97-AF65-F5344CB8AC3E}">
        <p14:creationId xmlns:p14="http://schemas.microsoft.com/office/powerpoint/2010/main" val="946601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16070-3D3F-7E61-2D91-149F1337DA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CFB5B8-236F-7C51-68DF-AF576B2348EA}"/>
              </a:ext>
            </a:extLst>
          </p:cNvPr>
          <p:cNvSpPr/>
          <p:nvPr/>
        </p:nvSpPr>
        <p:spPr>
          <a:xfrm>
            <a:off x="-37531" y="-8558"/>
            <a:ext cx="10852348" cy="3420840"/>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729C95BF-6B16-B528-C915-33BE0536CF5A}"/>
              </a:ext>
            </a:extLst>
          </p:cNvPr>
          <p:cNvSpPr txBox="1"/>
          <p:nvPr/>
        </p:nvSpPr>
        <p:spPr>
          <a:xfrm>
            <a:off x="197583" y="-8558"/>
            <a:ext cx="7680960" cy="1024890"/>
          </a:xfrm>
          <a:prstGeom prst="rect">
            <a:avLst/>
          </a:prstGeom>
        </p:spPr>
        <p:txBody>
          <a:bodyPr wrap="square"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grpSp>
        <p:nvGrpSpPr>
          <p:cNvPr id="4" name="Group 26">
            <a:extLst>
              <a:ext uri="{FF2B5EF4-FFF2-40B4-BE49-F238E27FC236}">
                <a16:creationId xmlns:a16="http://schemas.microsoft.com/office/drawing/2014/main" id="{5A503AFB-3B75-775D-D2EE-937F655FB9F3}"/>
              </a:ext>
            </a:extLst>
          </p:cNvPr>
          <p:cNvGrpSpPr/>
          <p:nvPr/>
        </p:nvGrpSpPr>
        <p:grpSpPr>
          <a:xfrm>
            <a:off x="6172200" y="1566410"/>
            <a:ext cx="10852348" cy="1024890"/>
            <a:chOff x="0" y="0"/>
            <a:chExt cx="2117948" cy="406400"/>
          </a:xfrm>
        </p:grpSpPr>
        <p:sp>
          <p:nvSpPr>
            <p:cNvPr id="5" name="Freeform 27">
              <a:extLst>
                <a:ext uri="{FF2B5EF4-FFF2-40B4-BE49-F238E27FC236}">
                  <a16:creationId xmlns:a16="http://schemas.microsoft.com/office/drawing/2014/main" id="{97EF6DD8-370D-A3B9-199B-3F5E74E5E56A}"/>
                </a:ext>
              </a:extLst>
            </p:cNvPr>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dirty="0"/>
            </a:p>
          </p:txBody>
        </p:sp>
        <p:sp>
          <p:nvSpPr>
            <p:cNvPr id="6" name="TextBox 28">
              <a:extLst>
                <a:ext uri="{FF2B5EF4-FFF2-40B4-BE49-F238E27FC236}">
                  <a16:creationId xmlns:a16="http://schemas.microsoft.com/office/drawing/2014/main" id="{B6F4C3BD-7723-E83B-DFDE-AA0BA7FCAF39}"/>
                </a:ext>
              </a:extLst>
            </p:cNvPr>
            <p:cNvSpPr txBox="1"/>
            <p:nvPr/>
          </p:nvSpPr>
          <p:spPr>
            <a:xfrm>
              <a:off x="0" y="-85725"/>
              <a:ext cx="2117948" cy="492125"/>
            </a:xfrm>
            <a:prstGeom prst="rect">
              <a:avLst/>
            </a:prstGeom>
          </p:spPr>
          <p:txBody>
            <a:bodyPr lIns="50800" tIns="50800" rIns="50800" bIns="50800" rtlCol="0" anchor="ctr"/>
            <a:lstStyle/>
            <a:p>
              <a:pPr algn="ctr">
                <a:lnSpc>
                  <a:spcPts val="6719"/>
                </a:lnSpc>
              </a:pPr>
              <a:r>
                <a:rPr lang="en-US" sz="4799" dirty="0" err="1">
                  <a:solidFill>
                    <a:srgbClr val="FFFFFF"/>
                  </a:solidFill>
                  <a:latin typeface="Canva Sans"/>
                  <a:ea typeface="Canva Sans"/>
                  <a:cs typeface="Canva Sans"/>
                  <a:sym typeface="Canva Sans"/>
                </a:rPr>
                <a:t>Phân</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tích</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khám</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phá</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dữ</a:t>
              </a:r>
              <a:r>
                <a:rPr lang="en-US" sz="4799" dirty="0">
                  <a:solidFill>
                    <a:srgbClr val="FFFFFF"/>
                  </a:solidFill>
                  <a:latin typeface="Canva Sans"/>
                  <a:ea typeface="Canva Sans"/>
                  <a:cs typeface="Canva Sans"/>
                  <a:sym typeface="Canva Sans"/>
                </a:rPr>
                <a:t> </a:t>
              </a:r>
              <a:r>
                <a:rPr lang="en-US" sz="4799" dirty="0" err="1">
                  <a:solidFill>
                    <a:srgbClr val="FFFFFF"/>
                  </a:solidFill>
                  <a:latin typeface="Canva Sans"/>
                  <a:ea typeface="Canva Sans"/>
                  <a:cs typeface="Canva Sans"/>
                  <a:sym typeface="Canva Sans"/>
                </a:rPr>
                <a:t>liệu</a:t>
              </a:r>
              <a:endParaRPr lang="en-US" sz="4799" dirty="0">
                <a:solidFill>
                  <a:srgbClr val="FFFFFF"/>
                </a:solidFill>
                <a:latin typeface="Canva Sans"/>
                <a:ea typeface="Canva Sans"/>
                <a:cs typeface="Canva Sans"/>
                <a:sym typeface="Canva Sans"/>
              </a:endParaRPr>
            </a:p>
          </p:txBody>
        </p:sp>
      </p:grpSp>
      <p:sp>
        <p:nvSpPr>
          <p:cNvPr id="11" name="TextBox 10">
            <a:extLst>
              <a:ext uri="{FF2B5EF4-FFF2-40B4-BE49-F238E27FC236}">
                <a16:creationId xmlns:a16="http://schemas.microsoft.com/office/drawing/2014/main" id="{7214C0E8-26D8-32C1-5B21-33A120130DE3}"/>
              </a:ext>
            </a:extLst>
          </p:cNvPr>
          <p:cNvSpPr txBox="1"/>
          <p:nvPr/>
        </p:nvSpPr>
        <p:spPr>
          <a:xfrm>
            <a:off x="1624013" y="7644116"/>
            <a:ext cx="7391399" cy="1815882"/>
          </a:xfrm>
          <a:prstGeom prst="rect">
            <a:avLst/>
          </a:prstGeom>
          <a:noFill/>
        </p:spPr>
        <p:txBody>
          <a:bodyPr wrap="square" rtlCol="0">
            <a:spAutoFit/>
          </a:bodyPr>
          <a:lstStyle/>
          <a:p>
            <a:r>
              <a:rPr lang="vi-VN" sz="2800" dirty="0"/>
              <a:t>Hạng vé (</a:t>
            </a:r>
            <a:r>
              <a:rPr lang="vi-VN" sz="2800" dirty="0" err="1"/>
              <a:t>Pclass</a:t>
            </a:r>
            <a:r>
              <a:rPr lang="vi-VN" sz="2800" dirty="0"/>
              <a:t>) là một yếu tố ảnh hưởng rất lớn đến khả năng sống sót. Hành khách ở hạng vé càng cao (đặc biệt là hạng 1) thì cơ hội sống sót càng lớn.</a:t>
            </a:r>
            <a:endParaRPr lang="en-US" sz="27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FE651F3-9181-0D0A-A43A-3B3C0C25D143}"/>
              </a:ext>
            </a:extLst>
          </p:cNvPr>
          <p:cNvSpPr txBox="1"/>
          <p:nvPr/>
        </p:nvSpPr>
        <p:spPr>
          <a:xfrm>
            <a:off x="10058400" y="7389456"/>
            <a:ext cx="7391399" cy="2662267"/>
          </a:xfrm>
          <a:prstGeom prst="rect">
            <a:avLst/>
          </a:prstGeom>
          <a:noFill/>
        </p:spPr>
        <p:txBody>
          <a:bodyPr wrap="square" rtlCol="0">
            <a:spAutoFit/>
          </a:bodyPr>
          <a:lstStyle/>
          <a:p>
            <a:r>
              <a:rPr lang="vi-VN" sz="2800" dirty="0"/>
              <a:t>Nơi hành khách lên tàu dường như cũng có liên quan đến tỷ lệ sống sót, với những người lên tàu từ </a:t>
            </a:r>
            <a:r>
              <a:rPr lang="vi-VN" sz="2800" dirty="0" err="1"/>
              <a:t>Cherbourg</a:t>
            </a:r>
            <a:r>
              <a:rPr lang="vi-VN" sz="2800" dirty="0"/>
              <a:t> (C) có tỷ lệ sống cao hơn.</a:t>
            </a:r>
            <a:r>
              <a:rPr lang="en-US" sz="2800" dirty="0"/>
              <a:t> </a:t>
            </a:r>
            <a:r>
              <a:rPr lang="en-US" sz="2800" dirty="0" err="1">
                <a:latin typeface="Arial" panose="020B0604020202020204" pitchFamily="34" charset="0"/>
                <a:cs typeface="Arial" panose="020B0604020202020204" pitchFamily="34" charset="0"/>
              </a:rPr>
              <a:t>Cảng</a:t>
            </a:r>
            <a:r>
              <a:rPr lang="en-US" sz="2800" dirty="0">
                <a:latin typeface="Arial" panose="020B0604020202020204" pitchFamily="34" charset="0"/>
                <a:cs typeface="Arial" panose="020B0604020202020204" pitchFamily="34" charset="0"/>
              </a:rPr>
              <a:t> S </a:t>
            </a:r>
            <a:r>
              <a:rPr lang="en-US" sz="2800" dirty="0" err="1">
                <a:latin typeface="Arial" panose="020B0604020202020204" pitchFamily="34" charset="0"/>
                <a:cs typeface="Arial" panose="020B0604020202020204" pitchFamily="34" charset="0"/>
              </a:rPr>
              <a:t>có</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tỷ</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lệ</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sống</a:t>
            </a:r>
            <a:r>
              <a:rPr lang="en-US" sz="2800" dirty="0">
                <a:latin typeface="Arial" panose="020B0604020202020204" pitchFamily="34" charset="0"/>
                <a:cs typeface="Arial" panose="020B0604020202020204" pitchFamily="34" charset="0"/>
              </a:rPr>
              <a:t> sot </a:t>
            </a:r>
            <a:r>
              <a:rPr lang="en-US" sz="2800" dirty="0" err="1">
                <a:latin typeface="Arial" panose="020B0604020202020204" pitchFamily="34" charset="0"/>
                <a:cs typeface="Arial" panose="020B0604020202020204" pitchFamily="34" charset="0"/>
              </a:rPr>
              <a:t>thấp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nhất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cũng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cảng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có</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đông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người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xuất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nhất</a:t>
            </a:r>
            <a:r>
              <a:rPr lang="en-US" sz="2800" dirty="0">
                <a:latin typeface="Arial" panose="020B0604020202020204" pitchFamily="34" charset="0"/>
                <a:cs typeface="Arial" panose="020B0604020202020204" pitchFamily="34" charset="0"/>
              </a:rPr>
              <a:t> </a:t>
            </a:r>
            <a:endParaRPr lang="en-US" sz="2800" dirty="0"/>
          </a:p>
          <a:p>
            <a:endParaRPr lang="en-US" sz="27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56C4BD7-3594-AABF-7871-3A89A8832240}"/>
              </a:ext>
            </a:extLst>
          </p:cNvPr>
          <p:cNvPicPr>
            <a:picLocks noChangeAspect="1"/>
          </p:cNvPicPr>
          <p:nvPr/>
        </p:nvPicPr>
        <p:blipFill>
          <a:blip r:embed="rId4"/>
          <a:stretch>
            <a:fillRect/>
          </a:stretch>
        </p:blipFill>
        <p:spPr>
          <a:xfrm>
            <a:off x="3048000" y="2634354"/>
            <a:ext cx="11325225" cy="4667250"/>
          </a:xfrm>
          <a:prstGeom prst="rect">
            <a:avLst/>
          </a:prstGeom>
        </p:spPr>
      </p:pic>
    </p:spTree>
    <p:extLst>
      <p:ext uri="{BB962C8B-B14F-4D97-AF65-F5344CB8AC3E}">
        <p14:creationId xmlns:p14="http://schemas.microsoft.com/office/powerpoint/2010/main" val="3039664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026" y="-22205"/>
            <a:ext cx="12549825" cy="2651106"/>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63830" y="34020"/>
            <a:ext cx="8980170"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sp>
        <p:nvSpPr>
          <p:cNvPr id="25" name="TextBox 25"/>
          <p:cNvSpPr txBox="1"/>
          <p:nvPr/>
        </p:nvSpPr>
        <p:spPr>
          <a:xfrm>
            <a:off x="895350" y="2236670"/>
            <a:ext cx="16497300" cy="2822889"/>
          </a:xfrm>
          <a:prstGeom prst="rect">
            <a:avLst/>
          </a:prstGeom>
        </p:spPr>
        <p:txBody>
          <a:bodyPr wrap="square" lIns="0" tIns="0" rIns="0" bIns="0" rtlCol="0" anchor="t">
            <a:spAutoFit/>
          </a:bodyPr>
          <a:lstStyle/>
          <a:p>
            <a:pPr algn="l">
              <a:lnSpc>
                <a:spcPts val="4479"/>
              </a:lnSpc>
              <a:spcBef>
                <a:spcPct val="0"/>
              </a:spcBef>
            </a:pPr>
            <a:r>
              <a:rPr lang="en-US" sz="2700" dirty="0">
                <a:solidFill>
                  <a:srgbClr val="000000"/>
                </a:solidFill>
                <a:latin typeface="Arial" panose="020B0604020202020204" pitchFamily="34" charset="0"/>
                <a:ea typeface="Canva Sans"/>
                <a:cs typeface="Arial" panose="020B0604020202020204" pitchFamily="34" charset="0"/>
                <a:sym typeface="Canva Sans"/>
              </a:rPr>
              <a:t>Ở </a:t>
            </a:r>
            <a:r>
              <a:rPr lang="en-US" sz="2700" dirty="0" err="1">
                <a:solidFill>
                  <a:srgbClr val="000000"/>
                </a:solidFill>
                <a:latin typeface="Arial" panose="020B0604020202020204" pitchFamily="34" charset="0"/>
                <a:ea typeface="Canva Sans"/>
                <a:cs typeface="Arial" panose="020B0604020202020204" pitchFamily="34" charset="0"/>
                <a:sym typeface="Canva Sans"/>
              </a:rPr>
              <a:t>đây</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chúng</a:t>
            </a:r>
            <a:r>
              <a:rPr lang="en-US" sz="2700" dirty="0">
                <a:solidFill>
                  <a:srgbClr val="000000"/>
                </a:solidFill>
                <a:latin typeface="Arial" panose="020B0604020202020204" pitchFamily="34" charset="0"/>
                <a:ea typeface="Canva Sans"/>
                <a:cs typeface="Arial" panose="020B0604020202020204" pitchFamily="34" charset="0"/>
                <a:sym typeface="Canva Sans"/>
              </a:rPr>
              <a:t> ta </a:t>
            </a:r>
            <a:r>
              <a:rPr lang="en-US" sz="2700" dirty="0" err="1">
                <a:solidFill>
                  <a:srgbClr val="000000"/>
                </a:solidFill>
                <a:latin typeface="Arial" panose="020B0604020202020204" pitchFamily="34" charset="0"/>
                <a:ea typeface="Canva Sans"/>
                <a:cs typeface="Arial" panose="020B0604020202020204" pitchFamily="34" charset="0"/>
                <a:sym typeface="Canva Sans"/>
              </a:rPr>
              <a:t>sẽ</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điền</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khuyết</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các</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bộ</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có</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giá</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trị</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bị</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thiếu</a:t>
            </a:r>
            <a:r>
              <a:rPr lang="en-US" sz="2700" dirty="0">
                <a:solidFill>
                  <a:srgbClr val="000000"/>
                </a:solidFill>
                <a:latin typeface="Arial" panose="020B0604020202020204" pitchFamily="34" charset="0"/>
                <a:ea typeface="Canva Sans"/>
                <a:cs typeface="Arial" panose="020B0604020202020204" pitchFamily="34" charset="0"/>
                <a:sym typeface="Canva Sans"/>
              </a:rPr>
              <a:t>:</a:t>
            </a:r>
          </a:p>
          <a:p>
            <a:pPr marL="457200" indent="-457200">
              <a:lnSpc>
                <a:spcPts val="4479"/>
              </a:lnSpc>
              <a:spcBef>
                <a:spcPct val="0"/>
              </a:spcBef>
              <a:buFont typeface="Arial" panose="020B0604020202020204" pitchFamily="34" charset="0"/>
              <a:buChar char="•"/>
            </a:pPr>
            <a:r>
              <a:rPr lang="en-US" sz="2700" dirty="0">
                <a:solidFill>
                  <a:srgbClr val="000000"/>
                </a:solidFill>
                <a:latin typeface="Arial" panose="020B0604020202020204" pitchFamily="34" charset="0"/>
                <a:ea typeface="Canva Sans"/>
                <a:cs typeface="Arial" panose="020B0604020202020204" pitchFamily="34" charset="0"/>
                <a:sym typeface="Canva Sans"/>
              </a:rPr>
              <a:t>Age: </a:t>
            </a:r>
            <a:r>
              <a:rPr lang="en-US" sz="2700" dirty="0" err="1">
                <a:latin typeface="Arial" panose="020B0604020202020204" pitchFamily="34" charset="0"/>
                <a:cs typeface="Arial" panose="020B0604020202020204" pitchFamily="34" charset="0"/>
              </a:rPr>
              <a:t>dùng</a:t>
            </a:r>
            <a:r>
              <a:rPr lang="en-US" sz="2700" dirty="0">
                <a:latin typeface="Arial" panose="020B0604020202020204" pitchFamily="34" charset="0"/>
                <a:cs typeface="Arial" panose="020B0604020202020204" pitchFamily="34" charset="0"/>
              </a:rPr>
              <a:t> median </a:t>
            </a:r>
            <a:r>
              <a:rPr lang="en-US" sz="2700" dirty="0" err="1">
                <a:latin typeface="Arial" panose="020B0604020202020204" pitchFamily="34" charset="0"/>
                <a:cs typeface="Arial" panose="020B0604020202020204" pitchFamily="34" charset="0"/>
              </a:rPr>
              <a:t>theo</a:t>
            </a:r>
            <a:r>
              <a:rPr lang="en-US" sz="2700" dirty="0">
                <a:latin typeface="Arial" panose="020B0604020202020204" pitchFamily="34" charset="0"/>
                <a:cs typeface="Arial" panose="020B0604020202020204" pitchFamily="34" charset="0"/>
              </a:rPr>
              <a:t> Title (</a:t>
            </a:r>
            <a:r>
              <a:rPr lang="en-US" sz="2700" dirty="0" err="1">
                <a:latin typeface="Arial" panose="020B0604020202020204" pitchFamily="34" charset="0"/>
                <a:cs typeface="Arial" panose="020B0604020202020204" pitchFamily="34" charset="0"/>
              </a:rPr>
              <a:t>dựa</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trên</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phân</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tích</a:t>
            </a:r>
            <a:r>
              <a:rPr lang="en-US" sz="2700" dirty="0">
                <a:latin typeface="Arial" panose="020B0604020202020204" pitchFamily="34" charset="0"/>
                <a:cs typeface="Arial" panose="020B0604020202020204" pitchFamily="34" charset="0"/>
              </a:rPr>
              <a:t> Name) - </a:t>
            </a:r>
            <a:r>
              <a:rPr lang="vi-VN" sz="2700" dirty="0"/>
              <a:t>chính xác hơn, vì độ tuổi phụ thuộc vào danh xưng (</a:t>
            </a:r>
            <a:r>
              <a:rPr lang="vi-VN" sz="2700" dirty="0" err="1"/>
              <a:t>Mr</a:t>
            </a:r>
            <a:r>
              <a:rPr lang="vi-VN" sz="2700" dirty="0"/>
              <a:t>, </a:t>
            </a:r>
            <a:r>
              <a:rPr lang="vi-VN" sz="2700" dirty="0" err="1"/>
              <a:t>Miss</a:t>
            </a:r>
            <a:r>
              <a:rPr lang="vi-VN" sz="2700" dirty="0"/>
              <a:t>, </a:t>
            </a:r>
            <a:r>
              <a:rPr lang="vi-VN" sz="2700" dirty="0" err="1"/>
              <a:t>Master</a:t>
            </a:r>
            <a:r>
              <a:rPr lang="vi-VN" sz="2700" dirty="0"/>
              <a:t>,…)</a:t>
            </a:r>
            <a:endParaRPr lang="en-US" sz="2700" dirty="0"/>
          </a:p>
          <a:p>
            <a:pPr marL="457200" indent="-457200">
              <a:lnSpc>
                <a:spcPts val="4479"/>
              </a:lnSpc>
              <a:spcBef>
                <a:spcPct val="0"/>
              </a:spcBef>
              <a:buFont typeface="Arial" panose="020B0604020202020204" pitchFamily="34" charset="0"/>
              <a:buChar char="•"/>
            </a:pPr>
            <a:r>
              <a:rPr lang="en-US" sz="2700" dirty="0">
                <a:solidFill>
                  <a:srgbClr val="000000"/>
                </a:solidFill>
                <a:latin typeface="Arial" panose="020B0604020202020204" pitchFamily="34" charset="0"/>
                <a:ea typeface="Canva Sans"/>
                <a:cs typeface="Arial" panose="020B0604020202020204" pitchFamily="34" charset="0"/>
                <a:sym typeface="Canva Sans"/>
              </a:rPr>
              <a:t>Embarked: </a:t>
            </a:r>
            <a:r>
              <a:rPr lang="en-US" sz="2700" dirty="0" err="1">
                <a:solidFill>
                  <a:srgbClr val="000000"/>
                </a:solidFill>
                <a:latin typeface="Arial" panose="020B0604020202020204" pitchFamily="34" charset="0"/>
                <a:ea typeface="Canva Sans"/>
                <a:cs typeface="Arial" panose="020B0604020202020204" pitchFamily="34" charset="0"/>
                <a:sym typeface="Canva Sans"/>
              </a:rPr>
              <a:t>điền</a:t>
            </a:r>
            <a:r>
              <a:rPr lang="en-US" sz="2700" dirty="0">
                <a:solidFill>
                  <a:srgbClr val="000000"/>
                </a:solidFill>
                <a:latin typeface="Arial" panose="020B0604020202020204" pitchFamily="34" charset="0"/>
                <a:ea typeface="Canva Sans"/>
                <a:cs typeface="Arial" panose="020B0604020202020204" pitchFamily="34" charset="0"/>
                <a:sym typeface="Canva Sans"/>
              </a:rPr>
              <a:t> bằng </a:t>
            </a:r>
            <a:r>
              <a:rPr lang="en-US" sz="2700" dirty="0" err="1">
                <a:solidFill>
                  <a:srgbClr val="000000"/>
                </a:solidFill>
                <a:latin typeface="Arial" panose="020B0604020202020204" pitchFamily="34" charset="0"/>
                <a:ea typeface="Canva Sans"/>
                <a:cs typeface="Arial" panose="020B0604020202020204" pitchFamily="34" charset="0"/>
                <a:sym typeface="Canva Sans"/>
              </a:rPr>
              <a:t>giá</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trị</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xuất</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hiện</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nhiều</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nhất</a:t>
            </a:r>
            <a:r>
              <a:rPr lang="en-US" sz="2700" dirty="0">
                <a:solidFill>
                  <a:srgbClr val="000000"/>
                </a:solidFill>
                <a:latin typeface="Arial" panose="020B0604020202020204" pitchFamily="34" charset="0"/>
                <a:ea typeface="Canva Sans"/>
                <a:cs typeface="Arial" panose="020B0604020202020204" pitchFamily="34" charset="0"/>
                <a:sym typeface="Canva Sans"/>
              </a:rPr>
              <a:t> (mode) </a:t>
            </a:r>
            <a:r>
              <a:rPr lang="en-US" sz="2700" dirty="0" err="1">
                <a:solidFill>
                  <a:srgbClr val="000000"/>
                </a:solidFill>
                <a:latin typeface="Arial" panose="020B0604020202020204" pitchFamily="34" charset="0"/>
                <a:ea typeface="Canva Sans"/>
                <a:cs typeface="Arial" panose="020B0604020202020204" pitchFamily="34" charset="0"/>
                <a:sym typeface="Canva Sans"/>
              </a:rPr>
              <a:t>của</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cột</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đó</a:t>
            </a:r>
            <a:r>
              <a:rPr lang="en-US" sz="2700" dirty="0">
                <a:solidFill>
                  <a:srgbClr val="000000"/>
                </a:solidFill>
                <a:latin typeface="Arial" panose="020B0604020202020204" pitchFamily="34" charset="0"/>
                <a:ea typeface="Canva Sans"/>
                <a:cs typeface="Arial" panose="020B0604020202020204" pitchFamily="34" charset="0"/>
                <a:sym typeface="Canva Sans"/>
              </a:rPr>
              <a:t>.</a:t>
            </a:r>
          </a:p>
          <a:p>
            <a:pPr marL="457200" indent="-457200">
              <a:lnSpc>
                <a:spcPts val="4479"/>
              </a:lnSpc>
              <a:spcBef>
                <a:spcPct val="0"/>
              </a:spcBef>
              <a:buFont typeface="Arial" panose="020B0604020202020204" pitchFamily="34" charset="0"/>
              <a:buChar char="•"/>
            </a:pPr>
            <a:r>
              <a:rPr lang="en-US" sz="2700" dirty="0">
                <a:solidFill>
                  <a:srgbClr val="000000"/>
                </a:solidFill>
                <a:latin typeface="Arial" panose="020B0604020202020204" pitchFamily="34" charset="0"/>
                <a:ea typeface="Canva Sans"/>
                <a:cs typeface="Arial" panose="020B0604020202020204" pitchFamily="34" charset="0"/>
                <a:sym typeface="Canva Sans"/>
              </a:rPr>
              <a:t>Cabin: </a:t>
            </a:r>
            <a:r>
              <a:rPr lang="en-US" sz="2700" dirty="0" err="1">
                <a:solidFill>
                  <a:srgbClr val="000000"/>
                </a:solidFill>
                <a:latin typeface="Arial" panose="020B0604020202020204" pitchFamily="34" charset="0"/>
                <a:ea typeface="Canva Sans"/>
                <a:cs typeface="Arial" panose="020B0604020202020204" pitchFamily="34" charset="0"/>
                <a:sym typeface="Canva Sans"/>
              </a:rPr>
              <a:t>sử</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dụng</a:t>
            </a:r>
            <a:r>
              <a:rPr lang="en-US" sz="2700" dirty="0">
                <a:solidFill>
                  <a:srgbClr val="000000"/>
                </a:solidFill>
                <a:latin typeface="Arial" panose="020B0604020202020204" pitchFamily="34" charset="0"/>
                <a:ea typeface="Canva Sans"/>
                <a:cs typeface="Arial" panose="020B0604020202020204" pitchFamily="34" charset="0"/>
                <a:sym typeface="Canva Sans"/>
              </a:rPr>
              <a:t> Deck </a:t>
            </a:r>
            <a:r>
              <a:rPr lang="en-US" sz="2700" dirty="0" err="1">
                <a:solidFill>
                  <a:srgbClr val="000000"/>
                </a:solidFill>
                <a:latin typeface="Arial" panose="020B0604020202020204" pitchFamily="34" charset="0"/>
                <a:ea typeface="Canva Sans"/>
                <a:cs typeface="Arial" panose="020B0604020202020204" pitchFamily="34" charset="0"/>
                <a:sym typeface="Canva Sans"/>
              </a:rPr>
              <a:t>để</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điền</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giá</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trị</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thiếu</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vào</a:t>
            </a:r>
            <a:r>
              <a:rPr lang="en-US" sz="2700" dirty="0">
                <a:solidFill>
                  <a:srgbClr val="000000"/>
                </a:solidFill>
                <a:latin typeface="Arial" panose="020B0604020202020204" pitchFamily="34" charset="0"/>
                <a:ea typeface="Canva Sans"/>
                <a:cs typeface="Arial" panose="020B0604020202020204" pitchFamily="34" charset="0"/>
                <a:sym typeface="Canva Sans"/>
              </a:rPr>
              <a:t> (ở </a:t>
            </a:r>
            <a:r>
              <a:rPr lang="en-US" sz="2700" dirty="0" err="1">
                <a:solidFill>
                  <a:srgbClr val="000000"/>
                </a:solidFill>
                <a:latin typeface="Arial" panose="020B0604020202020204" pitchFamily="34" charset="0"/>
                <a:ea typeface="Canva Sans"/>
                <a:cs typeface="Arial" panose="020B0604020202020204" pitchFamily="34" charset="0"/>
                <a:sym typeface="Canva Sans"/>
              </a:rPr>
              <a:t>đây</a:t>
            </a:r>
            <a:r>
              <a:rPr lang="en-US" sz="2700" dirty="0">
                <a:solidFill>
                  <a:srgbClr val="000000"/>
                </a:solidFill>
                <a:latin typeface="Arial" panose="020B0604020202020204" pitchFamily="34" charset="0"/>
                <a:ea typeface="Canva Sans"/>
                <a:cs typeface="Arial" panose="020B0604020202020204" pitchFamily="34" charset="0"/>
                <a:sym typeface="Canva Sans"/>
              </a:rPr>
              <a:t>, ta </a:t>
            </a:r>
            <a:r>
              <a:rPr lang="en-US" sz="2700" dirty="0" err="1">
                <a:solidFill>
                  <a:srgbClr val="000000"/>
                </a:solidFill>
                <a:latin typeface="Arial" panose="020B0604020202020204" pitchFamily="34" charset="0"/>
                <a:ea typeface="Canva Sans"/>
                <a:cs typeface="Arial" panose="020B0604020202020204" pitchFamily="34" charset="0"/>
                <a:sym typeface="Canva Sans"/>
              </a:rPr>
              <a:t>sẽ</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điền</a:t>
            </a:r>
            <a:r>
              <a:rPr lang="en-US" sz="2700" dirty="0">
                <a:solidFill>
                  <a:srgbClr val="000000"/>
                </a:solidFill>
                <a:latin typeface="Arial" panose="020B0604020202020204" pitchFamily="34" charset="0"/>
                <a:ea typeface="Canva Sans"/>
                <a:cs typeface="Arial" panose="020B0604020202020204" pitchFamily="34" charset="0"/>
                <a:sym typeface="Canva Sans"/>
              </a:rPr>
              <a:t> “U” (unknown) </a:t>
            </a:r>
            <a:r>
              <a:rPr lang="en-US" sz="2700" dirty="0" err="1">
                <a:solidFill>
                  <a:srgbClr val="000000"/>
                </a:solidFill>
                <a:latin typeface="Arial" panose="020B0604020202020204" pitchFamily="34" charset="0"/>
                <a:ea typeface="Canva Sans"/>
                <a:cs typeface="Arial" panose="020B0604020202020204" pitchFamily="34" charset="0"/>
                <a:sym typeface="Canva Sans"/>
              </a:rPr>
              <a:t>vào</a:t>
            </a:r>
            <a:r>
              <a:rPr lang="en-US" sz="2700" dirty="0">
                <a:solidFill>
                  <a:srgbClr val="000000"/>
                </a:solidFill>
                <a:latin typeface="Arial" panose="020B0604020202020204" pitchFamily="34" charset="0"/>
                <a:ea typeface="Canva Sans"/>
                <a:cs typeface="Arial" panose="020B0604020202020204" pitchFamily="34" charset="0"/>
                <a:sym typeface="Canva Sans"/>
              </a:rPr>
              <a:t>)</a:t>
            </a:r>
          </a:p>
        </p:txBody>
      </p:sp>
      <p:grpSp>
        <p:nvGrpSpPr>
          <p:cNvPr id="26" name="Group 26"/>
          <p:cNvGrpSpPr/>
          <p:nvPr/>
        </p:nvGrpSpPr>
        <p:grpSpPr>
          <a:xfrm>
            <a:off x="9391563" y="1058910"/>
            <a:ext cx="8041583" cy="1131615"/>
            <a:chOff x="0" y="-21268"/>
            <a:chExt cx="2117948" cy="427668"/>
          </a:xfrm>
        </p:grpSpPr>
        <p:sp>
          <p:nvSpPr>
            <p:cNvPr id="27" name="Freeform 27"/>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a:p>
          </p:txBody>
        </p:sp>
        <p:sp>
          <p:nvSpPr>
            <p:cNvPr id="28" name="TextBox 28"/>
            <p:cNvSpPr txBox="1"/>
            <p:nvPr/>
          </p:nvSpPr>
          <p:spPr>
            <a:xfrm>
              <a:off x="0" y="-21268"/>
              <a:ext cx="2117948" cy="427668"/>
            </a:xfrm>
            <a:prstGeom prst="rect">
              <a:avLst/>
            </a:prstGeom>
          </p:spPr>
          <p:txBody>
            <a:bodyPr lIns="50800" tIns="50800" rIns="50800" bIns="50800" rtlCol="0" anchor="ctr"/>
            <a:lstStyle/>
            <a:p>
              <a:pPr algn="ctr">
                <a:lnSpc>
                  <a:spcPts val="6719"/>
                </a:lnSpc>
              </a:pPr>
              <a:r>
                <a:rPr lang="en-US" sz="4799" dirty="0" err="1">
                  <a:solidFill>
                    <a:srgbClr val="FFFFFF"/>
                  </a:solidFill>
                  <a:latin typeface="Arial" panose="020B0604020202020204" pitchFamily="34" charset="0"/>
                  <a:ea typeface="Canva Sans"/>
                  <a:cs typeface="Arial" panose="020B0604020202020204" pitchFamily="34" charset="0"/>
                  <a:sym typeface="Canva Sans"/>
                </a:rPr>
                <a:t>Tiền</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xử</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lí</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dữ</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liệu</a:t>
              </a:r>
              <a:endParaRPr lang="en-US" sz="4799" dirty="0">
                <a:solidFill>
                  <a:srgbClr val="FFFFFF"/>
                </a:solidFill>
                <a:latin typeface="Arial" panose="020B0604020202020204" pitchFamily="34" charset="0"/>
                <a:ea typeface="Canva Sans"/>
                <a:cs typeface="Arial" panose="020B0604020202020204" pitchFamily="34" charset="0"/>
                <a:sym typeface="Canva Sans"/>
              </a:endParaRPr>
            </a:p>
          </p:txBody>
        </p:sp>
      </p:grpSp>
      <p:grpSp>
        <p:nvGrpSpPr>
          <p:cNvPr id="29" name="Group 26">
            <a:extLst>
              <a:ext uri="{FF2B5EF4-FFF2-40B4-BE49-F238E27FC236}">
                <a16:creationId xmlns:a16="http://schemas.microsoft.com/office/drawing/2014/main" id="{2C3F144B-0F6E-AA21-D9B6-5D3791BD7F9E}"/>
              </a:ext>
            </a:extLst>
          </p:cNvPr>
          <p:cNvGrpSpPr/>
          <p:nvPr/>
        </p:nvGrpSpPr>
        <p:grpSpPr>
          <a:xfrm>
            <a:off x="762000" y="5059559"/>
            <a:ext cx="8041583" cy="903266"/>
            <a:chOff x="0" y="-21268"/>
            <a:chExt cx="2117948" cy="427668"/>
          </a:xfrm>
        </p:grpSpPr>
        <p:sp>
          <p:nvSpPr>
            <p:cNvPr id="30" name="Freeform 27">
              <a:extLst>
                <a:ext uri="{FF2B5EF4-FFF2-40B4-BE49-F238E27FC236}">
                  <a16:creationId xmlns:a16="http://schemas.microsoft.com/office/drawing/2014/main" id="{75F813AC-9306-4561-62AC-E5AFBFA92E65}"/>
                </a:ext>
              </a:extLst>
            </p:cNvPr>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a:p>
          </p:txBody>
        </p:sp>
        <p:sp>
          <p:nvSpPr>
            <p:cNvPr id="31" name="TextBox 28">
              <a:extLst>
                <a:ext uri="{FF2B5EF4-FFF2-40B4-BE49-F238E27FC236}">
                  <a16:creationId xmlns:a16="http://schemas.microsoft.com/office/drawing/2014/main" id="{F8F4C588-9793-FB87-B179-68941BB8ACB6}"/>
                </a:ext>
              </a:extLst>
            </p:cNvPr>
            <p:cNvSpPr txBox="1"/>
            <p:nvPr/>
          </p:nvSpPr>
          <p:spPr>
            <a:xfrm>
              <a:off x="0" y="-21268"/>
              <a:ext cx="2117948" cy="427668"/>
            </a:xfrm>
            <a:prstGeom prst="rect">
              <a:avLst/>
            </a:prstGeom>
          </p:spPr>
          <p:txBody>
            <a:bodyPr lIns="50800" tIns="50800" rIns="50800" bIns="50800" rtlCol="0" anchor="ctr"/>
            <a:lstStyle/>
            <a:p>
              <a:pPr algn="ctr">
                <a:lnSpc>
                  <a:spcPts val="6719"/>
                </a:lnSpc>
              </a:pPr>
              <a:r>
                <a:rPr lang="en-US" sz="4799" dirty="0" err="1">
                  <a:solidFill>
                    <a:srgbClr val="FFFFFF"/>
                  </a:solidFill>
                  <a:latin typeface="Arial" panose="020B0604020202020204" pitchFamily="34" charset="0"/>
                  <a:ea typeface="Canva Sans"/>
                  <a:cs typeface="Arial" panose="020B0604020202020204" pitchFamily="34" charset="0"/>
                  <a:sym typeface="Canva Sans"/>
                </a:rPr>
                <a:t>Kỹ</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thuật</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chọn</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đặc</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trưng</a:t>
              </a:r>
              <a:endParaRPr lang="en-US" sz="4799" dirty="0">
                <a:solidFill>
                  <a:srgbClr val="FFFFFF"/>
                </a:solidFill>
                <a:latin typeface="Arial" panose="020B0604020202020204" pitchFamily="34" charset="0"/>
                <a:ea typeface="Canva Sans"/>
                <a:cs typeface="Arial" panose="020B0604020202020204" pitchFamily="34" charset="0"/>
                <a:sym typeface="Canva Sans"/>
              </a:endParaRPr>
            </a:p>
          </p:txBody>
        </p:sp>
      </p:grpSp>
      <p:graphicFrame>
        <p:nvGraphicFramePr>
          <p:cNvPr id="32" name="Table 31">
            <a:extLst>
              <a:ext uri="{FF2B5EF4-FFF2-40B4-BE49-F238E27FC236}">
                <a16:creationId xmlns:a16="http://schemas.microsoft.com/office/drawing/2014/main" id="{2743821E-7330-9718-58AC-9FA6C102F483}"/>
              </a:ext>
            </a:extLst>
          </p:cNvPr>
          <p:cNvGraphicFramePr>
            <a:graphicFrameLocks noGrp="1"/>
          </p:cNvGraphicFramePr>
          <p:nvPr>
            <p:extLst>
              <p:ext uri="{D42A27DB-BD31-4B8C-83A1-F6EECF244321}">
                <p14:modId xmlns:p14="http://schemas.microsoft.com/office/powerpoint/2010/main" val="1622878338"/>
              </p:ext>
            </p:extLst>
          </p:nvPr>
        </p:nvGraphicFramePr>
        <p:xfrm>
          <a:off x="895350" y="6237319"/>
          <a:ext cx="16344494" cy="3763086"/>
        </p:xfrm>
        <a:graphic>
          <a:graphicData uri="http://schemas.openxmlformats.org/drawingml/2006/table">
            <a:tbl>
              <a:tblPr firstRow="1" bandRow="1">
                <a:tableStyleId>{5C22544A-7EE6-4342-B048-85BDC9FD1C3A}</a:tableStyleId>
              </a:tblPr>
              <a:tblGrid>
                <a:gridCol w="2628494">
                  <a:extLst>
                    <a:ext uri="{9D8B030D-6E8A-4147-A177-3AD203B41FA5}">
                      <a16:colId xmlns:a16="http://schemas.microsoft.com/office/drawing/2014/main" val="3385500760"/>
                    </a:ext>
                  </a:extLst>
                </a:gridCol>
                <a:gridCol w="13716000">
                  <a:extLst>
                    <a:ext uri="{9D8B030D-6E8A-4147-A177-3AD203B41FA5}">
                      <a16:colId xmlns:a16="http://schemas.microsoft.com/office/drawing/2014/main" val="1751555723"/>
                    </a:ext>
                  </a:extLst>
                </a:gridCol>
              </a:tblGrid>
              <a:tr h="705722">
                <a:tc>
                  <a:txBody>
                    <a:bodyPr/>
                    <a:lstStyle/>
                    <a:p>
                      <a:r>
                        <a:rPr lang="en-US" sz="2400" dirty="0" err="1">
                          <a:latin typeface="Arial" panose="020B0604020202020204" pitchFamily="34" charset="0"/>
                          <a:cs typeface="Arial" panose="020B0604020202020204" pitchFamily="34" charset="0"/>
                        </a:rPr>
                        <a:t>Tên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cột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mới</a:t>
                      </a:r>
                      <a:r>
                        <a:rPr lang="en-US" sz="2400" dirty="0">
                          <a:latin typeface="Arial" panose="020B0604020202020204" pitchFamily="34" charset="0"/>
                          <a:cs typeface="Arial" panose="020B0604020202020204" pitchFamily="34" charset="0"/>
                        </a:rPr>
                        <a:t> </a:t>
                      </a:r>
                    </a:p>
                  </a:txBody>
                  <a:tcPr/>
                </a:tc>
                <a:tc>
                  <a:txBody>
                    <a:bodyPr/>
                    <a:lstStyle/>
                    <a:p>
                      <a:r>
                        <a:rPr lang="en-US" sz="2400" dirty="0">
                          <a:latin typeface="Arial" panose="020B0604020202020204" pitchFamily="34" charset="0"/>
                          <a:cs typeface="Arial" panose="020B0604020202020204" pitchFamily="34" charset="0"/>
                        </a:rPr>
                        <a:t>Ý </a:t>
                      </a:r>
                      <a:r>
                        <a:rPr lang="en-US" sz="2400" dirty="0" err="1">
                          <a:latin typeface="Arial" panose="020B0604020202020204" pitchFamily="34" charset="0"/>
                          <a:cs typeface="Arial" panose="020B0604020202020204" pitchFamily="34" charset="0"/>
                        </a:rPr>
                        <a:t>nghĩa</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85908159"/>
                  </a:ext>
                </a:extLst>
              </a:tr>
              <a:tr h="705722">
                <a:tc>
                  <a:txBody>
                    <a:bodyPr/>
                    <a:lstStyle/>
                    <a:p>
                      <a:r>
                        <a:rPr lang="en-US" sz="2400" dirty="0">
                          <a:latin typeface="Arial" panose="020B0604020202020204" pitchFamily="34" charset="0"/>
                          <a:cs typeface="Arial" panose="020B0604020202020204" pitchFamily="34" charset="0"/>
                        </a:rPr>
                        <a:t>Title</a:t>
                      </a:r>
                    </a:p>
                  </a:txBody>
                  <a:tcPr/>
                </a:tc>
                <a:tc>
                  <a:txBody>
                    <a:bodyPr/>
                    <a:lstStyle/>
                    <a:p>
                      <a:r>
                        <a:rPr lang="en-US" sz="2400" dirty="0">
                          <a:latin typeface="Arial" panose="020B0604020202020204" pitchFamily="34" charset="0"/>
                          <a:cs typeface="Arial" panose="020B0604020202020204" pitchFamily="34" charset="0"/>
                        </a:rPr>
                        <a:t>T</a:t>
                      </a:r>
                      <a:r>
                        <a:rPr lang="vi-VN" sz="2400" dirty="0" err="1">
                          <a:latin typeface="Arial" panose="020B0604020202020204" pitchFamily="34" charset="0"/>
                          <a:cs typeface="Arial" panose="020B0604020202020204" pitchFamily="34" charset="0"/>
                        </a:rPr>
                        <a:t>óm</a:t>
                      </a:r>
                      <a:r>
                        <a:rPr lang="vi-VN" sz="2400" dirty="0">
                          <a:latin typeface="Arial" panose="020B0604020202020204" pitchFamily="34" charset="0"/>
                          <a:cs typeface="Arial" panose="020B0604020202020204" pitchFamily="34" charset="0"/>
                        </a:rPr>
                        <a:t> tắt tình trạng xã hội / độ tuổi/</a:t>
                      </a: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giới tính gián tiếp (ví dụ: '</a:t>
                      </a:r>
                      <a:r>
                        <a:rPr lang="vi-VN" sz="2400" dirty="0" err="1">
                          <a:latin typeface="Arial" panose="020B0604020202020204" pitchFamily="34" charset="0"/>
                          <a:cs typeface="Arial" panose="020B0604020202020204" pitchFamily="34" charset="0"/>
                        </a:rPr>
                        <a:t>Master</a:t>
                      </a:r>
                      <a:r>
                        <a:rPr lang="vi-VN" sz="2400" dirty="0">
                          <a:latin typeface="Arial" panose="020B0604020202020204" pitchFamily="34" charset="0"/>
                          <a:cs typeface="Arial" panose="020B0604020202020204" pitchFamily="34" charset="0"/>
                        </a:rPr>
                        <a:t>' thường là bé trai, '</a:t>
                      </a:r>
                      <a:r>
                        <a:rPr lang="vi-VN" sz="2400" dirty="0" err="1">
                          <a:latin typeface="Arial" panose="020B0604020202020204" pitchFamily="34" charset="0"/>
                          <a:cs typeface="Arial" panose="020B0604020202020204" pitchFamily="34" charset="0"/>
                        </a:rPr>
                        <a:t>Mrs</a:t>
                      </a:r>
                      <a:r>
                        <a:rPr lang="vi-VN" sz="2400" dirty="0">
                          <a:latin typeface="Arial" panose="020B0604020202020204" pitchFamily="34" charset="0"/>
                          <a:cs typeface="Arial" panose="020B0604020202020204" pitchFamily="34" charset="0"/>
                        </a:rPr>
                        <a:t>' là phụ nữ đã kết hôn). Giúp phân biệt nhóm có tỷ lệ sống khác nhau.</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4693645"/>
                  </a:ext>
                </a:extLst>
              </a:tr>
              <a:tr h="705722">
                <a:tc>
                  <a:txBody>
                    <a:bodyPr/>
                    <a:lstStyle/>
                    <a:p>
                      <a:r>
                        <a:rPr lang="en-US" sz="2400" dirty="0" err="1">
                          <a:latin typeface="Arial" panose="020B0604020202020204" pitchFamily="34" charset="0"/>
                          <a:cs typeface="Arial" panose="020B0604020202020204" pitchFamily="34" charset="0"/>
                        </a:rPr>
                        <a:t>FamilySize</a:t>
                      </a:r>
                      <a:endParaRPr lang="en-US" sz="2400" dirty="0">
                        <a:latin typeface="Arial" panose="020B0604020202020204" pitchFamily="34" charset="0"/>
                        <a:cs typeface="Arial" panose="020B0604020202020204" pitchFamily="34" charset="0"/>
                      </a:endParaRPr>
                    </a:p>
                  </a:txBody>
                  <a:tcPr/>
                </a:tc>
                <a:tc>
                  <a:txBody>
                    <a:bodyPr/>
                    <a:lstStyle/>
                    <a:p>
                      <a:r>
                        <a:rPr lang="en-US" sz="2400" dirty="0">
                          <a:latin typeface="Arial" panose="020B0604020202020204" pitchFamily="34" charset="0"/>
                          <a:cs typeface="Arial" panose="020B0604020202020204" pitchFamily="34" charset="0"/>
                        </a:rPr>
                        <a:t>Đ</a:t>
                      </a:r>
                      <a:r>
                        <a:rPr lang="vi-VN" sz="2400" dirty="0">
                          <a:latin typeface="Arial" panose="020B0604020202020204" pitchFamily="34" charset="0"/>
                          <a:cs typeface="Arial" panose="020B0604020202020204" pitchFamily="34" charset="0"/>
                        </a:rPr>
                        <a:t>ánh giá quy mô gia đình trên tàu; ảnh hưởng tới khả năng sống (ví dụ gia đình lớn/cô lập).</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72217622"/>
                  </a:ext>
                </a:extLst>
              </a:tr>
              <a:tr h="705722">
                <a:tc>
                  <a:txBody>
                    <a:bodyPr/>
                    <a:lstStyle/>
                    <a:p>
                      <a:r>
                        <a:rPr lang="en-US" sz="2400" dirty="0" err="1">
                          <a:latin typeface="Arial" panose="020B0604020202020204" pitchFamily="34" charset="0"/>
                          <a:cs typeface="Arial" panose="020B0604020202020204" pitchFamily="34" charset="0"/>
                        </a:rPr>
                        <a:t>IsAlone</a:t>
                      </a:r>
                      <a:endParaRPr lang="en-US" sz="2400" dirty="0">
                        <a:latin typeface="Arial" panose="020B0604020202020204" pitchFamily="34" charset="0"/>
                        <a:cs typeface="Arial" panose="020B0604020202020204" pitchFamily="34" charset="0"/>
                      </a:endParaRPr>
                    </a:p>
                  </a:txBody>
                  <a:tcPr/>
                </a:tc>
                <a:tc>
                  <a:txBody>
                    <a:bodyPr/>
                    <a:lstStyle/>
                    <a:p>
                      <a:r>
                        <a:rPr lang="en-US" sz="2400" dirty="0">
                          <a:latin typeface="Arial" panose="020B0604020202020204" pitchFamily="34" charset="0"/>
                          <a:cs typeface="Arial" panose="020B0604020202020204" pitchFamily="34" charset="0"/>
                        </a:rPr>
                        <a:t>C</a:t>
                      </a:r>
                      <a:r>
                        <a:rPr lang="vi-VN" sz="2400" dirty="0">
                          <a:latin typeface="Arial" panose="020B0604020202020204" pitchFamily="34" charset="0"/>
                          <a:cs typeface="Arial" panose="020B0604020202020204" pitchFamily="34" charset="0"/>
                        </a:rPr>
                        <a:t>hỉ báo người đi một mình — thường tương quan với tỷ lệ sống khác so với người có gia đình.</a:t>
                      </a:r>
                      <a:endParaRPr lang="en-US" sz="2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10815880"/>
                  </a:ext>
                </a:extLst>
              </a:tr>
              <a:tr h="705722">
                <a:tc>
                  <a:txBody>
                    <a:bodyPr/>
                    <a:lstStyle/>
                    <a:p>
                      <a:r>
                        <a:rPr lang="en-US" sz="2400" dirty="0">
                          <a:latin typeface="Arial" panose="020B0604020202020204" pitchFamily="34" charset="0"/>
                          <a:cs typeface="Arial" panose="020B0604020202020204" pitchFamily="34" charset="0"/>
                        </a:rPr>
                        <a:t>Deck</a:t>
                      </a:r>
                    </a:p>
                  </a:txBody>
                  <a:tcPr/>
                </a:tc>
                <a:tc>
                  <a:txBody>
                    <a:bodyPr/>
                    <a:lstStyle/>
                    <a:p>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khoang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hiệu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tầng</a:t>
                      </a:r>
                      <a:r>
                        <a:rPr lang="en-US" sz="2400" dirty="0">
                          <a:latin typeface="Arial" panose="020B0604020202020204" pitchFamily="34" charset="0"/>
                          <a:cs typeface="Arial" panose="020B0604020202020204" pitchFamily="34" charset="0"/>
                        </a:rPr>
                        <a:t>/deck) </a:t>
                      </a:r>
                      <a:r>
                        <a:rPr lang="en-US" sz="2400" dirty="0" err="1">
                          <a:latin typeface="Arial" panose="020B0604020202020204" pitchFamily="34" charset="0"/>
                          <a:cs typeface="Arial" panose="020B0604020202020204" pitchFamily="34" charset="0"/>
                        </a:rPr>
                        <a:t>đại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diện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trí</a:t>
                      </a:r>
                      <a:r>
                        <a:rPr lang="en-US" sz="2400" dirty="0">
                          <a:latin typeface="Arial" panose="020B0604020202020204" pitchFamily="34" charset="0"/>
                          <a:cs typeface="Arial" panose="020B0604020202020204" pitchFamily="34" charset="0"/>
                        </a:rPr>
                        <a:t> cabin — </a:t>
                      </a:r>
                      <a:r>
                        <a:rPr lang="en-US" sz="2400" dirty="0" err="1">
                          <a:latin typeface="Arial" panose="020B0604020202020204" pitchFamily="34" charset="0"/>
                          <a:cs typeface="Arial" panose="020B0604020202020204" pitchFamily="34" charset="0"/>
                        </a:rPr>
                        <a:t>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chỉ</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nghi</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giá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vé</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khả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năng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cận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thuyền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cứu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sinh</a:t>
                      </a:r>
                      <a:r>
                        <a:rPr lang="en-US" sz="24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3261563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6">
            <a:extLst>
              <a:ext uri="{FF2B5EF4-FFF2-40B4-BE49-F238E27FC236}">
                <a16:creationId xmlns:a16="http://schemas.microsoft.com/office/drawing/2014/main" id="{17E84CE0-8119-A267-88A9-B498AFC12B06}"/>
              </a:ext>
            </a:extLst>
          </p:cNvPr>
          <p:cNvGrpSpPr/>
          <p:nvPr/>
        </p:nvGrpSpPr>
        <p:grpSpPr>
          <a:xfrm>
            <a:off x="9484417" y="1273330"/>
            <a:ext cx="8041583" cy="1131615"/>
            <a:chOff x="0" y="-21268"/>
            <a:chExt cx="2117948" cy="427668"/>
          </a:xfrm>
        </p:grpSpPr>
        <p:sp>
          <p:nvSpPr>
            <p:cNvPr id="5" name="Freeform 27">
              <a:extLst>
                <a:ext uri="{FF2B5EF4-FFF2-40B4-BE49-F238E27FC236}">
                  <a16:creationId xmlns:a16="http://schemas.microsoft.com/office/drawing/2014/main" id="{384C9DB8-D3C1-2037-20F7-E5A717A89959}"/>
                </a:ext>
              </a:extLst>
            </p:cNvPr>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a:p>
          </p:txBody>
        </p:sp>
        <p:sp>
          <p:nvSpPr>
            <p:cNvPr id="6" name="TextBox 28">
              <a:extLst>
                <a:ext uri="{FF2B5EF4-FFF2-40B4-BE49-F238E27FC236}">
                  <a16:creationId xmlns:a16="http://schemas.microsoft.com/office/drawing/2014/main" id="{6A7FA9E0-150C-0EAF-54EF-892EF43E817A}"/>
                </a:ext>
              </a:extLst>
            </p:cNvPr>
            <p:cNvSpPr txBox="1"/>
            <p:nvPr/>
          </p:nvSpPr>
          <p:spPr>
            <a:xfrm>
              <a:off x="0" y="-21268"/>
              <a:ext cx="2117948" cy="427668"/>
            </a:xfrm>
            <a:prstGeom prst="rect">
              <a:avLst/>
            </a:prstGeom>
          </p:spPr>
          <p:txBody>
            <a:bodyPr lIns="50800" tIns="50800" rIns="50800" bIns="50800" rtlCol="0" anchor="ctr"/>
            <a:lstStyle/>
            <a:p>
              <a:pPr algn="ctr">
                <a:lnSpc>
                  <a:spcPts val="6719"/>
                </a:lnSpc>
              </a:pPr>
              <a:r>
                <a:rPr lang="en-US" sz="4799" dirty="0" err="1">
                  <a:solidFill>
                    <a:srgbClr val="FFFFFF"/>
                  </a:solidFill>
                  <a:latin typeface="Arial" panose="020B0604020202020204" pitchFamily="34" charset="0"/>
                  <a:ea typeface="Canva Sans"/>
                  <a:cs typeface="Arial" panose="020B0604020202020204" pitchFamily="34" charset="0"/>
                  <a:sym typeface="Canva Sans"/>
                </a:rPr>
                <a:t>Chuẩn</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hóa</a:t>
              </a:r>
              <a:endParaRPr lang="en-US" sz="4799" dirty="0">
                <a:solidFill>
                  <a:srgbClr val="FFFFFF"/>
                </a:solidFill>
                <a:latin typeface="Arial" panose="020B0604020202020204" pitchFamily="34" charset="0"/>
                <a:ea typeface="Canva Sans"/>
                <a:cs typeface="Arial" panose="020B0604020202020204" pitchFamily="34" charset="0"/>
                <a:sym typeface="Canva Sans"/>
              </a:endParaRPr>
            </a:p>
          </p:txBody>
        </p:sp>
      </p:grpSp>
      <p:sp>
        <p:nvSpPr>
          <p:cNvPr id="7" name="TextBox 25">
            <a:extLst>
              <a:ext uri="{FF2B5EF4-FFF2-40B4-BE49-F238E27FC236}">
                <a16:creationId xmlns:a16="http://schemas.microsoft.com/office/drawing/2014/main" id="{02A4C8DB-F376-4C1D-9258-3D2EE23EF9A2}"/>
              </a:ext>
            </a:extLst>
          </p:cNvPr>
          <p:cNvSpPr txBox="1"/>
          <p:nvPr/>
        </p:nvSpPr>
        <p:spPr>
          <a:xfrm>
            <a:off x="1028700" y="3188866"/>
            <a:ext cx="16497300" cy="3974101"/>
          </a:xfrm>
          <a:prstGeom prst="rect">
            <a:avLst/>
          </a:prstGeom>
        </p:spPr>
        <p:txBody>
          <a:bodyPr wrap="square" lIns="0" tIns="0" rIns="0" bIns="0" rtlCol="0" anchor="t">
            <a:spAutoFit/>
          </a:bodyPr>
          <a:lstStyle/>
          <a:p>
            <a:pPr marL="457200" indent="-457200">
              <a:lnSpc>
                <a:spcPts val="4479"/>
              </a:lnSpc>
              <a:spcBef>
                <a:spcPct val="0"/>
              </a:spcBef>
              <a:buFont typeface="Arial" panose="020B0604020202020204" pitchFamily="34" charset="0"/>
              <a:buChar char="•"/>
            </a:pPr>
            <a:r>
              <a:rPr lang="vi-VN" sz="2700" dirty="0">
                <a:solidFill>
                  <a:srgbClr val="000000"/>
                </a:solidFill>
                <a:ea typeface="Canva Sans"/>
                <a:cs typeface="Arial" panose="020B0604020202020204" pitchFamily="34" charset="0"/>
                <a:sym typeface="Canva Sans"/>
              </a:rPr>
              <a:t>Loại bỏ cột không cần </a:t>
            </a:r>
            <a:r>
              <a:rPr lang="vi-VN" sz="2700" dirty="0" err="1">
                <a:solidFill>
                  <a:srgbClr val="000000"/>
                </a:solidFill>
                <a:ea typeface="Canva Sans"/>
                <a:cs typeface="Arial" panose="020B0604020202020204" pitchFamily="34" charset="0"/>
                <a:sym typeface="Canva Sans"/>
              </a:rPr>
              <a:t>thiế</a:t>
            </a:r>
            <a:r>
              <a:rPr lang="en-US" sz="2700" dirty="0">
                <a:solidFill>
                  <a:srgbClr val="000000"/>
                </a:solidFill>
                <a:ea typeface="Canva Sans"/>
                <a:cs typeface="Arial" panose="020B0604020202020204" pitchFamily="34" charset="0"/>
                <a:sym typeface="Canva Sans"/>
              </a:rPr>
              <a:t>t </a:t>
            </a:r>
            <a:r>
              <a:rPr lang="en-US" sz="2700" dirty="0" err="1">
                <a:solidFill>
                  <a:srgbClr val="000000"/>
                </a:solidFill>
                <a:ea typeface="Canva Sans"/>
                <a:cs typeface="Arial" panose="020B0604020202020204" pitchFamily="34" charset="0"/>
                <a:sym typeface="Canva Sans"/>
              </a:rPr>
              <a:t>như</a:t>
            </a:r>
            <a:r>
              <a:rPr lang="en-US" sz="2700" dirty="0">
                <a:solidFill>
                  <a:srgbClr val="000000"/>
                </a:solidFill>
                <a:ea typeface="Canva Sans"/>
                <a:cs typeface="Arial" panose="020B0604020202020204" pitchFamily="34" charset="0"/>
                <a:sym typeface="Canva Sans"/>
              </a:rPr>
              <a:t> </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Name</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Ticket</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Cabin</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SibSp</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Parch</a:t>
            </a:r>
            <a:r>
              <a:rPr lang="vi-VN" sz="2700" dirty="0">
                <a:solidFill>
                  <a:srgbClr val="000000"/>
                </a:solidFill>
                <a:ea typeface="Canva Sans"/>
                <a:cs typeface="Arial" panose="020B0604020202020204" pitchFamily="34" charset="0"/>
                <a:sym typeface="Canva Sans"/>
              </a:rPr>
              <a:t> — vì thông tin này đã được trích xuất sang các đặc trưng mới (</a:t>
            </a:r>
            <a:r>
              <a:rPr lang="vi-VN" sz="2700" dirty="0" err="1">
                <a:solidFill>
                  <a:srgbClr val="000000"/>
                </a:solidFill>
                <a:ea typeface="Canva Sans"/>
                <a:cs typeface="Arial" panose="020B0604020202020204" pitchFamily="34" charset="0"/>
                <a:sym typeface="Canva Sans"/>
              </a:rPr>
              <a:t>Title</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Deck</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FamilySize</a:t>
            </a:r>
            <a:r>
              <a:rPr lang="vi-VN" sz="2700" dirty="0">
                <a:solidFill>
                  <a:srgbClr val="000000"/>
                </a:solidFill>
                <a:ea typeface="Canva Sans"/>
                <a:cs typeface="Arial" panose="020B0604020202020204" pitchFamily="34" charset="0"/>
                <a:sym typeface="Canva Sans"/>
              </a:rPr>
              <a:t>).</a:t>
            </a:r>
            <a:endParaRPr lang="en-US" sz="2700" dirty="0">
              <a:solidFill>
                <a:srgbClr val="000000"/>
              </a:solidFill>
              <a:ea typeface="Canva Sans"/>
              <a:cs typeface="Arial" panose="020B0604020202020204" pitchFamily="34" charset="0"/>
              <a:sym typeface="Canva Sans"/>
            </a:endParaRPr>
          </a:p>
          <a:p>
            <a:pPr marL="457200" indent="-457200">
              <a:lnSpc>
                <a:spcPts val="4479"/>
              </a:lnSpc>
              <a:spcBef>
                <a:spcPct val="0"/>
              </a:spcBef>
              <a:buFont typeface="Arial" panose="020B0604020202020204" pitchFamily="34" charset="0"/>
              <a:buChar char="•"/>
            </a:pPr>
            <a:r>
              <a:rPr lang="vi-VN" sz="2700" dirty="0">
                <a:solidFill>
                  <a:srgbClr val="000000"/>
                </a:solidFill>
                <a:ea typeface="Canva Sans"/>
                <a:cs typeface="Arial" panose="020B0604020202020204" pitchFamily="34" charset="0"/>
                <a:sym typeface="Canva Sans"/>
              </a:rPr>
              <a:t>Chuyển </a:t>
            </a:r>
            <a:r>
              <a:rPr lang="vi-VN" sz="2700" dirty="0" err="1">
                <a:solidFill>
                  <a:srgbClr val="000000"/>
                </a:solidFill>
                <a:ea typeface="Canva Sans"/>
                <a:cs typeface="Arial" panose="020B0604020202020204" pitchFamily="34" charset="0"/>
                <a:sym typeface="Canva Sans"/>
              </a:rPr>
              <a:t>Pclass</a:t>
            </a:r>
            <a:r>
              <a:rPr lang="vi-VN" sz="2700" dirty="0">
                <a:solidFill>
                  <a:srgbClr val="000000"/>
                </a:solidFill>
                <a:ea typeface="Canva Sans"/>
                <a:cs typeface="Arial" panose="020B0604020202020204" pitchFamily="34" charset="0"/>
                <a:sym typeface="Canva Sans"/>
              </a:rPr>
              <a:t> sang dạng danh mục</a:t>
            </a:r>
            <a:r>
              <a:rPr lang="en-US" sz="2700" dirty="0">
                <a:solidFill>
                  <a:srgbClr val="000000"/>
                </a:solidFill>
                <a:ea typeface="Canva Sans"/>
                <a:cs typeface="Arial" panose="020B0604020202020204" pitchFamily="34" charset="0"/>
                <a:sym typeface="Canva Sans"/>
              </a:rPr>
              <a:t> </a:t>
            </a:r>
            <a:r>
              <a:rPr lang="vi-VN" sz="2700" dirty="0">
                <a:solidFill>
                  <a:srgbClr val="000000"/>
                </a:solidFill>
                <a:ea typeface="Canva Sans"/>
                <a:cs typeface="Arial" panose="020B0604020202020204" pitchFamily="34" charset="0"/>
                <a:sym typeface="Canva Sans"/>
              </a:rPr>
              <a:t>— chuẩn bị cho </a:t>
            </a:r>
            <a:r>
              <a:rPr lang="vi-VN" sz="2700" dirty="0" err="1">
                <a:solidFill>
                  <a:srgbClr val="000000"/>
                </a:solidFill>
                <a:ea typeface="Canva Sans"/>
                <a:cs typeface="Arial" panose="020B0604020202020204" pitchFamily="34" charset="0"/>
                <a:sym typeface="Canva Sans"/>
              </a:rPr>
              <a:t>one‑hot</a:t>
            </a:r>
            <a:r>
              <a:rPr lang="vi-VN" sz="2700" dirty="0">
                <a:solidFill>
                  <a:srgbClr val="000000"/>
                </a:solidFill>
                <a:ea typeface="Canva Sans"/>
                <a:cs typeface="Arial" panose="020B0604020202020204" pitchFamily="34" charset="0"/>
                <a:sym typeface="Canva Sans"/>
              </a:rPr>
              <a:t> để tránh xử lý sai dạng số liên tục.</a:t>
            </a:r>
            <a:endParaRPr lang="en-US" sz="2700" dirty="0">
              <a:solidFill>
                <a:srgbClr val="000000"/>
              </a:solidFill>
              <a:ea typeface="Canva Sans"/>
              <a:cs typeface="Arial" panose="020B0604020202020204" pitchFamily="34" charset="0"/>
              <a:sym typeface="Canva Sans"/>
            </a:endParaRPr>
          </a:p>
          <a:p>
            <a:pPr marL="457200" indent="-457200">
              <a:lnSpc>
                <a:spcPts val="4479"/>
              </a:lnSpc>
              <a:spcBef>
                <a:spcPct val="0"/>
              </a:spcBef>
              <a:buFont typeface="Arial" panose="020B0604020202020204" pitchFamily="34" charset="0"/>
              <a:buChar char="•"/>
            </a:pPr>
            <a:r>
              <a:rPr lang="vi-VN" sz="2700" dirty="0" err="1">
                <a:solidFill>
                  <a:srgbClr val="000000"/>
                </a:solidFill>
                <a:ea typeface="Canva Sans"/>
                <a:cs typeface="Arial" panose="020B0604020202020204" pitchFamily="34" charset="0"/>
                <a:sym typeface="Canva Sans"/>
              </a:rPr>
              <a:t>One‑Hot</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Encoding</a:t>
            </a:r>
            <a:r>
              <a:rPr lang="vi-VN" sz="2700" dirty="0">
                <a:solidFill>
                  <a:srgbClr val="000000"/>
                </a:solidFill>
                <a:ea typeface="Canva Sans"/>
                <a:cs typeface="Arial" panose="020B0604020202020204" pitchFamily="34" charset="0"/>
                <a:sym typeface="Canva Sans"/>
              </a:rPr>
              <a:t> cho các đặc trưng phân loại</a:t>
            </a:r>
            <a:r>
              <a:rPr lang="en-US" sz="2700" dirty="0">
                <a:solidFill>
                  <a:srgbClr val="000000"/>
                </a:solidFill>
                <a:ea typeface="Canva Sans"/>
                <a:cs typeface="Arial" panose="020B0604020202020204" pitchFamily="34" charset="0"/>
                <a:sym typeface="Canva Sans"/>
              </a:rPr>
              <a:t>: </a:t>
            </a:r>
            <a:r>
              <a:rPr lang="vi-VN" sz="2700" dirty="0">
                <a:solidFill>
                  <a:srgbClr val="000000"/>
                </a:solidFill>
                <a:ea typeface="Canva Sans"/>
                <a:cs typeface="Arial" panose="020B0604020202020204" pitchFamily="34" charset="0"/>
                <a:sym typeface="Canva Sans"/>
              </a:rPr>
              <a:t>Mã hóa </a:t>
            </a:r>
            <a:r>
              <a:rPr lang="vi-VN" sz="2700" dirty="0" err="1">
                <a:solidFill>
                  <a:srgbClr val="000000"/>
                </a:solidFill>
                <a:ea typeface="Canva Sans"/>
                <a:cs typeface="Arial" panose="020B0604020202020204" pitchFamily="34" charset="0"/>
                <a:sym typeface="Canva Sans"/>
              </a:rPr>
              <a:t>Sex</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Embarked</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Pclass</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Title</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Deck</a:t>
            </a:r>
            <a:r>
              <a:rPr lang="vi-VN" sz="2700" dirty="0">
                <a:solidFill>
                  <a:srgbClr val="000000"/>
                </a:solidFill>
                <a:ea typeface="Canva Sans"/>
                <a:cs typeface="Arial" panose="020B0604020202020204" pitchFamily="34" charset="0"/>
                <a:sym typeface="Canva Sans"/>
              </a:rPr>
              <a:t> bằng </a:t>
            </a:r>
            <a:r>
              <a:rPr lang="vi-VN" sz="2700" dirty="0" err="1">
                <a:solidFill>
                  <a:srgbClr val="000000"/>
                </a:solidFill>
                <a:ea typeface="Canva Sans"/>
                <a:cs typeface="Arial" panose="020B0604020202020204" pitchFamily="34" charset="0"/>
                <a:sym typeface="Canva Sans"/>
              </a:rPr>
              <a:t>pd.get_dummies</a:t>
            </a:r>
            <a:r>
              <a:rPr lang="vi-VN" sz="2700" dirty="0">
                <a:solidFill>
                  <a:srgbClr val="000000"/>
                </a:solidFill>
                <a:ea typeface="Canva Sans"/>
                <a:cs typeface="Arial" panose="020B0604020202020204" pitchFamily="34" charset="0"/>
                <a:sym typeface="Canva Sans"/>
              </a:rPr>
              <a:t>() → tạo các cột nhị phân thay cho giá trị danh mục.</a:t>
            </a:r>
            <a:endParaRPr lang="en-US" sz="2700" dirty="0">
              <a:solidFill>
                <a:srgbClr val="000000"/>
              </a:solidFill>
              <a:ea typeface="Canva Sans"/>
              <a:cs typeface="Arial" panose="020B0604020202020204" pitchFamily="34" charset="0"/>
              <a:sym typeface="Canva Sans"/>
            </a:endParaRPr>
          </a:p>
          <a:p>
            <a:pPr marL="457200" indent="-457200">
              <a:lnSpc>
                <a:spcPts val="4479"/>
              </a:lnSpc>
              <a:spcBef>
                <a:spcPct val="0"/>
              </a:spcBef>
              <a:buFont typeface="Arial" panose="020B0604020202020204" pitchFamily="34" charset="0"/>
              <a:buChar char="•"/>
            </a:pPr>
            <a:r>
              <a:rPr lang="vi-VN" sz="2700" dirty="0">
                <a:solidFill>
                  <a:srgbClr val="000000"/>
                </a:solidFill>
                <a:ea typeface="Canva Sans"/>
                <a:cs typeface="Arial" panose="020B0604020202020204" pitchFamily="34" charset="0"/>
                <a:sym typeface="Canva Sans"/>
              </a:rPr>
              <a:t>Chuẩn hóa đặc trưng số bằng </a:t>
            </a:r>
            <a:r>
              <a:rPr lang="vi-VN" sz="2700" dirty="0" err="1">
                <a:solidFill>
                  <a:srgbClr val="000000"/>
                </a:solidFill>
                <a:ea typeface="Canva Sans"/>
                <a:cs typeface="Arial" panose="020B0604020202020204" pitchFamily="34" charset="0"/>
                <a:sym typeface="Canva Sans"/>
              </a:rPr>
              <a:t>StandardScaler</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theo</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đó</a:t>
            </a:r>
            <a:r>
              <a:rPr lang="en-US" sz="2700" dirty="0">
                <a:solidFill>
                  <a:srgbClr val="000000"/>
                </a:solidFill>
                <a:latin typeface="Arial" panose="020B0604020202020204" pitchFamily="34" charset="0"/>
                <a:ea typeface="Canva Sans"/>
                <a:cs typeface="Arial" panose="020B0604020202020204" pitchFamily="34" charset="0"/>
                <a:sym typeface="Canva Sans"/>
              </a:rPr>
              <a:t>:</a:t>
            </a:r>
            <a:r>
              <a:rPr lang="en-US"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Scale</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Age</a:t>
            </a:r>
            <a:r>
              <a:rPr lang="vi-VN" sz="2700" dirty="0">
                <a:solidFill>
                  <a:srgbClr val="000000"/>
                </a:solidFill>
                <a:ea typeface="Canva Sans"/>
                <a:cs typeface="Arial" panose="020B0604020202020204" pitchFamily="34" charset="0"/>
                <a:sym typeface="Canva Sans"/>
              </a:rPr>
              <a:t> và </a:t>
            </a:r>
            <a:r>
              <a:rPr lang="vi-VN" sz="2700" dirty="0" err="1">
                <a:solidFill>
                  <a:srgbClr val="000000"/>
                </a:solidFill>
                <a:ea typeface="Canva Sans"/>
                <a:cs typeface="Arial" panose="020B0604020202020204" pitchFamily="34" charset="0"/>
                <a:sym typeface="Canva Sans"/>
              </a:rPr>
              <a:t>Fare</a:t>
            </a:r>
            <a:r>
              <a:rPr lang="en-US" sz="2700" dirty="0">
                <a:solidFill>
                  <a:srgbClr val="000000"/>
                </a:solidFill>
                <a:ea typeface="Canva Sans"/>
                <a:cs typeface="Arial" panose="020B0604020202020204" pitchFamily="34" charset="0"/>
                <a:sym typeface="Canva Sans"/>
              </a:rPr>
              <a:t>,</a:t>
            </a:r>
            <a:r>
              <a:rPr lang="vi-VN" sz="2700" dirty="0">
                <a:solidFill>
                  <a:srgbClr val="000000"/>
                </a:solidFill>
                <a:ea typeface="Canva Sans"/>
                <a:cs typeface="Arial" panose="020B0604020202020204" pitchFamily="34" charset="0"/>
                <a:sym typeface="Canva Sans"/>
              </a:rPr>
              <a:t> sử dụng </a:t>
            </a:r>
            <a:r>
              <a:rPr lang="vi-VN" sz="2700" dirty="0" err="1">
                <a:solidFill>
                  <a:srgbClr val="000000"/>
                </a:solidFill>
                <a:ea typeface="Canva Sans"/>
                <a:cs typeface="Arial" panose="020B0604020202020204" pitchFamily="34" charset="0"/>
                <a:sym typeface="Canva Sans"/>
              </a:rPr>
              <a:t>StandardScaler</a:t>
            </a:r>
            <a:r>
              <a:rPr lang="vi-VN" sz="2700" dirty="0">
                <a:solidFill>
                  <a:srgbClr val="000000"/>
                </a:solidFill>
                <a:ea typeface="Canva Sans"/>
                <a:cs typeface="Arial" panose="020B0604020202020204" pitchFamily="34" charset="0"/>
                <a:sym typeface="Canva Sans"/>
              </a:rPr>
              <a:t> (</a:t>
            </a:r>
            <a:r>
              <a:rPr lang="vi-VN" sz="2700" dirty="0" err="1">
                <a:solidFill>
                  <a:srgbClr val="000000"/>
                </a:solidFill>
                <a:ea typeface="Canva Sans"/>
                <a:cs typeface="Arial" panose="020B0604020202020204" pitchFamily="34" charset="0"/>
                <a:sym typeface="Canva Sans"/>
              </a:rPr>
              <a:t>mean</a:t>
            </a:r>
            <a:r>
              <a:rPr lang="vi-VN" sz="2700" dirty="0">
                <a:solidFill>
                  <a:srgbClr val="000000"/>
                </a:solidFill>
                <a:ea typeface="Canva Sans"/>
                <a:cs typeface="Arial" panose="020B0604020202020204" pitchFamily="34" charset="0"/>
                <a:sym typeface="Canva Sans"/>
              </a:rPr>
              <a:t>=0, </a:t>
            </a:r>
            <a:r>
              <a:rPr lang="vi-VN" sz="2700" dirty="0" err="1">
                <a:solidFill>
                  <a:srgbClr val="000000"/>
                </a:solidFill>
                <a:ea typeface="Canva Sans"/>
                <a:cs typeface="Arial" panose="020B0604020202020204" pitchFamily="34" charset="0"/>
                <a:sym typeface="Canva Sans"/>
              </a:rPr>
              <a:t>std</a:t>
            </a:r>
            <a:r>
              <a:rPr lang="vi-VN" sz="2700" dirty="0">
                <a:solidFill>
                  <a:srgbClr val="000000"/>
                </a:solidFill>
                <a:ea typeface="Canva Sans"/>
                <a:cs typeface="Arial" panose="020B0604020202020204" pitchFamily="34" charset="0"/>
                <a:sym typeface="Canva Sans"/>
              </a:rPr>
              <a:t>=1) để phù hợp với KNN/SVM.</a:t>
            </a:r>
            <a:endParaRPr lang="en-US" sz="2700" dirty="0">
              <a:solidFill>
                <a:srgbClr val="000000"/>
              </a:solidFill>
              <a:latin typeface="Arial" panose="020B0604020202020204" pitchFamily="34" charset="0"/>
              <a:ea typeface="Canva Sans"/>
              <a:cs typeface="Arial" panose="020B0604020202020204" pitchFamily="34" charset="0"/>
              <a:sym typeface="Canva Sans"/>
            </a:endParaRPr>
          </a:p>
        </p:txBody>
      </p:sp>
      <p:sp>
        <p:nvSpPr>
          <p:cNvPr id="8" name="Freeform 2">
            <a:extLst>
              <a:ext uri="{FF2B5EF4-FFF2-40B4-BE49-F238E27FC236}">
                <a16:creationId xmlns:a16="http://schemas.microsoft.com/office/drawing/2014/main" id="{3116FA3E-D37C-00F3-DAB9-679A8F568EC1}"/>
              </a:ext>
            </a:extLst>
          </p:cNvPr>
          <p:cNvSpPr/>
          <p:nvPr/>
        </p:nvSpPr>
        <p:spPr>
          <a:xfrm>
            <a:off x="-53026" y="-22205"/>
            <a:ext cx="12549825" cy="2651106"/>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3">
            <a:extLst>
              <a:ext uri="{FF2B5EF4-FFF2-40B4-BE49-F238E27FC236}">
                <a16:creationId xmlns:a16="http://schemas.microsoft.com/office/drawing/2014/main" id="{85430553-0CEB-5AA3-B4B2-BF7BD0F657BD}"/>
              </a:ext>
            </a:extLst>
          </p:cNvPr>
          <p:cNvSpPr txBox="1"/>
          <p:nvPr/>
        </p:nvSpPr>
        <p:spPr>
          <a:xfrm>
            <a:off x="163830" y="34020"/>
            <a:ext cx="8980170"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spTree>
    <p:extLst>
      <p:ext uri="{BB962C8B-B14F-4D97-AF65-F5344CB8AC3E}">
        <p14:creationId xmlns:p14="http://schemas.microsoft.com/office/powerpoint/2010/main" val="365289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3"/>
          <p:cNvSpPr txBox="1"/>
          <p:nvPr/>
        </p:nvSpPr>
        <p:spPr>
          <a:xfrm>
            <a:off x="1066800" y="3168285"/>
            <a:ext cx="9874545" cy="574196"/>
          </a:xfrm>
          <a:prstGeom prst="rect">
            <a:avLst/>
          </a:prstGeom>
        </p:spPr>
        <p:txBody>
          <a:bodyPr lIns="0" tIns="0" rIns="0" bIns="0" rtlCol="0" anchor="t">
            <a:spAutoFit/>
          </a:bodyPr>
          <a:lstStyle/>
          <a:p>
            <a:pPr algn="l">
              <a:lnSpc>
                <a:spcPts val="4759"/>
              </a:lnSpc>
            </a:pPr>
            <a:r>
              <a:rPr lang="en-US" sz="3399" dirty="0">
                <a:solidFill>
                  <a:srgbClr val="000000"/>
                </a:solidFill>
                <a:latin typeface="Arial" panose="020B0604020202020204" pitchFamily="34" charset="0"/>
                <a:ea typeface="Canva Sans"/>
                <a:cs typeface="Arial" panose="020B0604020202020204" pitchFamily="34" charset="0"/>
                <a:sym typeface="Canva Sans"/>
              </a:rPr>
              <a:t>Các </a:t>
            </a:r>
            <a:r>
              <a:rPr lang="en-US" sz="3399" dirty="0" err="1">
                <a:solidFill>
                  <a:srgbClr val="000000"/>
                </a:solidFill>
                <a:latin typeface="Arial" panose="020B0604020202020204" pitchFamily="34" charset="0"/>
                <a:ea typeface="Canva Sans"/>
                <a:cs typeface="Arial" panose="020B0604020202020204" pitchFamily="34" charset="0"/>
                <a:sym typeface="Canva Sans"/>
              </a:rPr>
              <a:t>mô</a:t>
            </a:r>
            <a:r>
              <a:rPr lang="en-US" sz="3399" dirty="0">
                <a:solidFill>
                  <a:srgbClr val="000000"/>
                </a:solidFill>
                <a:latin typeface="Arial" panose="020B0604020202020204" pitchFamily="34" charset="0"/>
                <a:ea typeface="Canva Sans"/>
                <a:cs typeface="Arial" panose="020B0604020202020204" pitchFamily="34" charset="0"/>
                <a:sym typeface="Canva Sans"/>
              </a:rPr>
              <a:t> </a:t>
            </a:r>
            <a:r>
              <a:rPr lang="en-US" sz="3399" dirty="0" err="1">
                <a:solidFill>
                  <a:srgbClr val="000000"/>
                </a:solidFill>
                <a:latin typeface="Arial" panose="020B0604020202020204" pitchFamily="34" charset="0"/>
                <a:ea typeface="Canva Sans"/>
                <a:cs typeface="Arial" panose="020B0604020202020204" pitchFamily="34" charset="0"/>
                <a:sym typeface="Canva Sans"/>
              </a:rPr>
              <a:t>hình</a:t>
            </a:r>
            <a:r>
              <a:rPr lang="en-US" sz="3399" dirty="0">
                <a:solidFill>
                  <a:srgbClr val="000000"/>
                </a:solidFill>
                <a:latin typeface="Arial" panose="020B0604020202020204" pitchFamily="34" charset="0"/>
                <a:ea typeface="Canva Sans"/>
                <a:cs typeface="Arial" panose="020B0604020202020204" pitchFamily="34" charset="0"/>
                <a:sym typeface="Canva Sans"/>
              </a:rPr>
              <a:t> </a:t>
            </a:r>
            <a:r>
              <a:rPr lang="en-US" sz="3399" dirty="0" err="1">
                <a:solidFill>
                  <a:srgbClr val="000000"/>
                </a:solidFill>
                <a:latin typeface="Arial" panose="020B0604020202020204" pitchFamily="34" charset="0"/>
                <a:ea typeface="Canva Sans"/>
                <a:cs typeface="Arial" panose="020B0604020202020204" pitchFamily="34" charset="0"/>
                <a:sym typeface="Canva Sans"/>
              </a:rPr>
              <a:t>được</a:t>
            </a:r>
            <a:r>
              <a:rPr lang="en-US" sz="3399" dirty="0">
                <a:solidFill>
                  <a:srgbClr val="000000"/>
                </a:solidFill>
                <a:latin typeface="Arial" panose="020B0604020202020204" pitchFamily="34" charset="0"/>
                <a:ea typeface="Canva Sans"/>
                <a:cs typeface="Arial" panose="020B0604020202020204" pitchFamily="34" charset="0"/>
                <a:sym typeface="Canva Sans"/>
              </a:rPr>
              <a:t> </a:t>
            </a:r>
            <a:r>
              <a:rPr lang="en-US" sz="3399" dirty="0" err="1">
                <a:solidFill>
                  <a:srgbClr val="000000"/>
                </a:solidFill>
                <a:latin typeface="Arial" panose="020B0604020202020204" pitchFamily="34" charset="0"/>
                <a:ea typeface="Canva Sans"/>
                <a:cs typeface="Arial" panose="020B0604020202020204" pitchFamily="34" charset="0"/>
                <a:sym typeface="Canva Sans"/>
              </a:rPr>
              <a:t>sử</a:t>
            </a:r>
            <a:r>
              <a:rPr lang="en-US" sz="3399" dirty="0">
                <a:solidFill>
                  <a:srgbClr val="000000"/>
                </a:solidFill>
                <a:latin typeface="Arial" panose="020B0604020202020204" pitchFamily="34" charset="0"/>
                <a:ea typeface="Canva Sans"/>
                <a:cs typeface="Arial" panose="020B0604020202020204" pitchFamily="34" charset="0"/>
                <a:sym typeface="Canva Sans"/>
              </a:rPr>
              <a:t> </a:t>
            </a:r>
            <a:r>
              <a:rPr lang="en-US" sz="3399" dirty="0" err="1">
                <a:solidFill>
                  <a:srgbClr val="000000"/>
                </a:solidFill>
                <a:latin typeface="Arial" panose="020B0604020202020204" pitchFamily="34" charset="0"/>
                <a:ea typeface="Canva Sans"/>
                <a:cs typeface="Arial" panose="020B0604020202020204" pitchFamily="34" charset="0"/>
                <a:sym typeface="Canva Sans"/>
              </a:rPr>
              <a:t>dụng</a:t>
            </a:r>
            <a:r>
              <a:rPr lang="en-US" sz="3399" dirty="0">
                <a:solidFill>
                  <a:srgbClr val="000000"/>
                </a:solidFill>
                <a:latin typeface="Arial" panose="020B0604020202020204" pitchFamily="34" charset="0"/>
                <a:ea typeface="Canva Sans"/>
                <a:cs typeface="Arial" panose="020B0604020202020204" pitchFamily="34" charset="0"/>
                <a:sym typeface="Canva Sans"/>
              </a:rPr>
              <a:t>:</a:t>
            </a:r>
          </a:p>
        </p:txBody>
      </p:sp>
      <p:grpSp>
        <p:nvGrpSpPr>
          <p:cNvPr id="16" name="Group 16"/>
          <p:cNvGrpSpPr/>
          <p:nvPr/>
        </p:nvGrpSpPr>
        <p:grpSpPr>
          <a:xfrm>
            <a:off x="9601200" y="952500"/>
            <a:ext cx="8222415" cy="1241079"/>
            <a:chOff x="-7349" y="-81441"/>
            <a:chExt cx="2125297" cy="492125"/>
          </a:xfrm>
        </p:grpSpPr>
        <p:sp>
          <p:nvSpPr>
            <p:cNvPr id="17" name="Freeform 17"/>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dirty="0"/>
            </a:p>
          </p:txBody>
        </p:sp>
        <p:sp>
          <p:nvSpPr>
            <p:cNvPr id="18" name="TextBox 18"/>
            <p:cNvSpPr txBox="1"/>
            <p:nvPr/>
          </p:nvSpPr>
          <p:spPr>
            <a:xfrm>
              <a:off x="-7349" y="-81441"/>
              <a:ext cx="2117948" cy="492125"/>
            </a:xfrm>
            <a:prstGeom prst="rect">
              <a:avLst/>
            </a:prstGeom>
          </p:spPr>
          <p:txBody>
            <a:bodyPr lIns="50800" tIns="50800" rIns="50800" bIns="50800" rtlCol="0" anchor="ctr"/>
            <a:lstStyle/>
            <a:p>
              <a:pPr algn="ctr">
                <a:lnSpc>
                  <a:spcPts val="6719"/>
                </a:lnSpc>
              </a:pPr>
              <a:r>
                <a:rPr lang="en-US" sz="4799" dirty="0" err="1">
                  <a:solidFill>
                    <a:srgbClr val="FFFFFF"/>
                  </a:solidFill>
                  <a:latin typeface="Arial" panose="020B0604020202020204" pitchFamily="34" charset="0"/>
                  <a:ea typeface="Canva Sans"/>
                  <a:cs typeface="Arial" panose="020B0604020202020204" pitchFamily="34" charset="0"/>
                  <a:sym typeface="Canva Sans"/>
                </a:rPr>
                <a:t>Huấn</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luyện</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mô</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hình</a:t>
              </a:r>
              <a:endParaRPr lang="en-US" sz="4799" dirty="0">
                <a:solidFill>
                  <a:srgbClr val="FFFFFF"/>
                </a:solidFill>
                <a:latin typeface="Arial" panose="020B0604020202020204" pitchFamily="34" charset="0"/>
                <a:ea typeface="Canva Sans"/>
                <a:cs typeface="Arial" panose="020B0604020202020204" pitchFamily="34" charset="0"/>
                <a:sym typeface="Canva Sans"/>
              </a:endParaRPr>
            </a:p>
          </p:txBody>
        </p:sp>
      </p:grpSp>
      <p:pic>
        <p:nvPicPr>
          <p:cNvPr id="3074" name="Picture 2">
            <a:extLst>
              <a:ext uri="{FF2B5EF4-FFF2-40B4-BE49-F238E27FC236}">
                <a16:creationId xmlns:a16="http://schemas.microsoft.com/office/drawing/2014/main" id="{D4940885-BD0A-859B-6673-838DF83DC9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3998355"/>
            <a:ext cx="5135331" cy="34235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andom Forest là gì? Ứng dụng của thuật toán trong Machine Learning">
            <a:extLst>
              <a:ext uri="{FF2B5EF4-FFF2-40B4-BE49-F238E27FC236}">
                <a16:creationId xmlns:a16="http://schemas.microsoft.com/office/drawing/2014/main" id="{074426D7-6AF0-5836-B42D-F3D7966E0A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3881332"/>
            <a:ext cx="4876800" cy="36576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2520A554-B27B-CD45-0C7F-210BDC7AF53C}"/>
              </a:ext>
            </a:extLst>
          </p:cNvPr>
          <p:cNvPicPr>
            <a:picLocks noChangeAspect="1"/>
          </p:cNvPicPr>
          <p:nvPr/>
        </p:nvPicPr>
        <p:blipFill>
          <a:blip r:embed="rId4"/>
          <a:stretch>
            <a:fillRect/>
          </a:stretch>
        </p:blipFill>
        <p:spPr>
          <a:xfrm>
            <a:off x="12801600" y="3686184"/>
            <a:ext cx="4219575" cy="3429000"/>
          </a:xfrm>
          <a:prstGeom prst="rect">
            <a:avLst/>
          </a:prstGeom>
        </p:spPr>
      </p:pic>
      <p:sp>
        <p:nvSpPr>
          <p:cNvPr id="21" name="TextBox 18">
            <a:extLst>
              <a:ext uri="{FF2B5EF4-FFF2-40B4-BE49-F238E27FC236}">
                <a16:creationId xmlns:a16="http://schemas.microsoft.com/office/drawing/2014/main" id="{4D203B1A-B62F-03C8-A736-ED9748F922D4}"/>
              </a:ext>
            </a:extLst>
          </p:cNvPr>
          <p:cNvSpPr txBox="1"/>
          <p:nvPr/>
        </p:nvSpPr>
        <p:spPr>
          <a:xfrm>
            <a:off x="7072286" y="7160249"/>
            <a:ext cx="4188920" cy="1035067"/>
          </a:xfrm>
          <a:prstGeom prst="rect">
            <a:avLst/>
          </a:prstGeom>
        </p:spPr>
        <p:txBody>
          <a:bodyPr lIns="50800" tIns="50800" rIns="50800" bIns="50800" rtlCol="0" anchor="ctr"/>
          <a:lstStyle/>
          <a:p>
            <a:pPr algn="ctr">
              <a:lnSpc>
                <a:spcPts val="6719"/>
              </a:lnSpc>
            </a:pPr>
            <a:r>
              <a:rPr lang="en-US" sz="2700" dirty="0">
                <a:latin typeface="Arial" panose="020B0604020202020204" pitchFamily="34" charset="0"/>
                <a:ea typeface="Canva Sans"/>
                <a:cs typeface="Arial" panose="020B0604020202020204" pitchFamily="34" charset="0"/>
                <a:sym typeface="Canva Sans"/>
              </a:rPr>
              <a:t>Random Forest</a:t>
            </a:r>
          </a:p>
        </p:txBody>
      </p:sp>
      <p:sp>
        <p:nvSpPr>
          <p:cNvPr id="23" name="TextBox 18">
            <a:extLst>
              <a:ext uri="{FF2B5EF4-FFF2-40B4-BE49-F238E27FC236}">
                <a16:creationId xmlns:a16="http://schemas.microsoft.com/office/drawing/2014/main" id="{E465BBC9-237D-B346-CA47-8AF1AFD87450}"/>
              </a:ext>
            </a:extLst>
          </p:cNvPr>
          <p:cNvSpPr txBox="1"/>
          <p:nvPr/>
        </p:nvSpPr>
        <p:spPr>
          <a:xfrm>
            <a:off x="1009985" y="7160249"/>
            <a:ext cx="5047943" cy="1035067"/>
          </a:xfrm>
          <a:prstGeom prst="rect">
            <a:avLst/>
          </a:prstGeom>
        </p:spPr>
        <p:txBody>
          <a:bodyPr lIns="50800" tIns="50800" rIns="50800" bIns="50800" rtlCol="0" anchor="ctr"/>
          <a:lstStyle/>
          <a:p>
            <a:pPr algn="ctr">
              <a:lnSpc>
                <a:spcPts val="6719"/>
              </a:lnSpc>
            </a:pPr>
            <a:r>
              <a:rPr lang="en-US" sz="2700" dirty="0">
                <a:latin typeface="Arial" panose="020B0604020202020204" pitchFamily="34" charset="0"/>
                <a:ea typeface="Canva Sans"/>
                <a:cs typeface="Arial" panose="020B0604020202020204" pitchFamily="34" charset="0"/>
                <a:sym typeface="Canva Sans"/>
              </a:rPr>
              <a:t>Support Vector Machine(SVM)</a:t>
            </a:r>
          </a:p>
        </p:txBody>
      </p:sp>
      <p:sp>
        <p:nvSpPr>
          <p:cNvPr id="24" name="TextBox 18">
            <a:extLst>
              <a:ext uri="{FF2B5EF4-FFF2-40B4-BE49-F238E27FC236}">
                <a16:creationId xmlns:a16="http://schemas.microsoft.com/office/drawing/2014/main" id="{31BF74B7-7185-4397-5AF5-BCC1B7744106}"/>
              </a:ext>
            </a:extLst>
          </p:cNvPr>
          <p:cNvSpPr txBox="1"/>
          <p:nvPr/>
        </p:nvSpPr>
        <p:spPr>
          <a:xfrm>
            <a:off x="12449624" y="7104380"/>
            <a:ext cx="5047943" cy="1035067"/>
          </a:xfrm>
          <a:prstGeom prst="rect">
            <a:avLst/>
          </a:prstGeom>
        </p:spPr>
        <p:txBody>
          <a:bodyPr lIns="50800" tIns="50800" rIns="50800" bIns="50800" rtlCol="0" anchor="ctr"/>
          <a:lstStyle/>
          <a:p>
            <a:pPr algn="ctr">
              <a:lnSpc>
                <a:spcPts val="6719"/>
              </a:lnSpc>
            </a:pPr>
            <a:r>
              <a:rPr lang="en-US" sz="2700" dirty="0">
                <a:latin typeface="Arial" panose="020B0604020202020204" pitchFamily="34" charset="0"/>
                <a:ea typeface="Canva Sans"/>
                <a:cs typeface="Arial" panose="020B0604020202020204" pitchFamily="34" charset="0"/>
                <a:sym typeface="Canva Sans"/>
              </a:rPr>
              <a:t>K-Nearest Neighbors(KNN)</a:t>
            </a:r>
          </a:p>
        </p:txBody>
      </p:sp>
      <p:sp>
        <p:nvSpPr>
          <p:cNvPr id="4" name="Freeform 2">
            <a:extLst>
              <a:ext uri="{FF2B5EF4-FFF2-40B4-BE49-F238E27FC236}">
                <a16:creationId xmlns:a16="http://schemas.microsoft.com/office/drawing/2014/main" id="{E235CF74-AD07-B1EB-1CB3-D63E2EE4411A}"/>
              </a:ext>
            </a:extLst>
          </p:cNvPr>
          <p:cNvSpPr/>
          <p:nvPr/>
        </p:nvSpPr>
        <p:spPr>
          <a:xfrm>
            <a:off x="-53026" y="-22205"/>
            <a:ext cx="12549825" cy="2651106"/>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3">
            <a:extLst>
              <a:ext uri="{FF2B5EF4-FFF2-40B4-BE49-F238E27FC236}">
                <a16:creationId xmlns:a16="http://schemas.microsoft.com/office/drawing/2014/main" id="{87A7ACB0-96D4-67DF-984A-6C4CF6E88422}"/>
              </a:ext>
            </a:extLst>
          </p:cNvPr>
          <p:cNvSpPr txBox="1"/>
          <p:nvPr/>
        </p:nvSpPr>
        <p:spPr>
          <a:xfrm>
            <a:off x="163830" y="34020"/>
            <a:ext cx="8980170"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F4B97-D1B9-074E-8AD0-C87311B1EF24}"/>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E8DAF08C-94E3-378A-7244-6F27AF644DB7}"/>
              </a:ext>
            </a:extLst>
          </p:cNvPr>
          <p:cNvSpPr txBox="1"/>
          <p:nvPr/>
        </p:nvSpPr>
        <p:spPr>
          <a:xfrm>
            <a:off x="1066800" y="3168285"/>
            <a:ext cx="9874545" cy="4849341"/>
          </a:xfrm>
          <a:prstGeom prst="rect">
            <a:avLst/>
          </a:prstGeom>
        </p:spPr>
        <p:txBody>
          <a:bodyPr lIns="0" tIns="0" rIns="0" bIns="0" rtlCol="0" anchor="t">
            <a:spAutoFit/>
          </a:bodyPr>
          <a:lstStyle/>
          <a:p>
            <a:pPr algn="l">
              <a:lnSpc>
                <a:spcPts val="4759"/>
              </a:lnSpc>
            </a:pPr>
            <a:r>
              <a:rPr lang="en-US" sz="2700" dirty="0" err="1">
                <a:solidFill>
                  <a:srgbClr val="000000"/>
                </a:solidFill>
                <a:latin typeface="Arial" panose="020B0604020202020204" pitchFamily="34" charset="0"/>
                <a:ea typeface="Canva Sans"/>
                <a:cs typeface="Arial" panose="020B0604020202020204" pitchFamily="34" charset="0"/>
                <a:sym typeface="Canva Sans"/>
              </a:rPr>
              <a:t>Đánh</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gia</a:t>
            </a:r>
            <a:r>
              <a:rPr lang="en-US" sz="2700" dirty="0">
                <a:solidFill>
                  <a:srgbClr val="000000"/>
                </a:solidFill>
                <a:latin typeface="Arial" panose="020B0604020202020204" pitchFamily="34" charset="0"/>
                <a:ea typeface="Canva Sans"/>
                <a:cs typeface="Arial" panose="020B0604020202020204" pitchFamily="34" charset="0"/>
                <a:sym typeface="Canva Sans"/>
              </a:rPr>
              <a:t> bằng K-Fold Cross-Validation: </a:t>
            </a:r>
          </a:p>
          <a:p>
            <a:pPr marL="457200" indent="-457200">
              <a:lnSpc>
                <a:spcPts val="4759"/>
              </a:lnSpc>
              <a:buFont typeface="Arial" panose="020B0604020202020204" pitchFamily="34" charset="0"/>
              <a:buChar char="•"/>
            </a:pPr>
            <a:r>
              <a:rPr lang="en-US" sz="2700" dirty="0" err="1">
                <a:latin typeface="Arial" panose="020B0604020202020204" pitchFamily="34" charset="0"/>
                <a:cs typeface="Arial" panose="020B0604020202020204" pitchFamily="34" charset="0"/>
              </a:rPr>
              <a:t>Là</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một</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kỹ</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thuật</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tiêu</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chuẩn</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dùng</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để</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đánh</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giá</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hiệu</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suất</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và</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độ</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ổn</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định</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của</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một</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mô</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hình</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máy</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học</a:t>
            </a:r>
            <a:r>
              <a:rPr lang="en-US" sz="2700" dirty="0">
                <a:latin typeface="Arial" panose="020B0604020202020204" pitchFamily="34" charset="0"/>
                <a:cs typeface="Arial" panose="020B0604020202020204" pitchFamily="34" charset="0"/>
              </a:rPr>
              <a:t>.</a:t>
            </a:r>
            <a:endParaRPr lang="en-US" sz="2700" dirty="0">
              <a:solidFill>
                <a:srgbClr val="000000"/>
              </a:solidFill>
              <a:latin typeface="Arial" panose="020B0604020202020204" pitchFamily="34" charset="0"/>
              <a:ea typeface="Canva Sans"/>
              <a:cs typeface="Arial" panose="020B0604020202020204" pitchFamily="34" charset="0"/>
              <a:sym typeface="Canva Sans"/>
            </a:endParaRPr>
          </a:p>
          <a:p>
            <a:pPr marL="457200" indent="-457200">
              <a:lnSpc>
                <a:spcPts val="4759"/>
              </a:lnSpc>
              <a:buFont typeface="Arial" panose="020B0604020202020204" pitchFamily="34" charset="0"/>
              <a:buChar char="•"/>
            </a:pPr>
            <a:r>
              <a:rPr lang="vi-VN" sz="2800" dirty="0">
                <a:latin typeface="Arial" panose="020B0604020202020204" pitchFamily="34" charset="0"/>
                <a:cs typeface="Arial" panose="020B0604020202020204" pitchFamily="34" charset="0"/>
              </a:rPr>
              <a:t>Mục đích chính của nó là để có được một ước tính đáng tin cậy về khả năng tổng quát hóa của mô hình trên dữ liệu mới, chưa từng thấy, đồng thời giúp phát hiện các vấn đề như quá khớp (</a:t>
            </a:r>
            <a:r>
              <a:rPr lang="vi-VN" sz="2800" dirty="0" err="1">
                <a:latin typeface="Arial" panose="020B0604020202020204" pitchFamily="34" charset="0"/>
                <a:cs typeface="Arial" panose="020B0604020202020204" pitchFamily="34" charset="0"/>
              </a:rPr>
              <a:t>overfitting</a:t>
            </a:r>
            <a:r>
              <a:rPr lang="vi-VN" sz="2800" dirty="0">
                <a:latin typeface="Arial" panose="020B0604020202020204" pitchFamily="34" charset="0"/>
                <a:cs typeface="Arial" panose="020B0604020202020204" pitchFamily="34" charset="0"/>
              </a:rPr>
              <a:t>).</a:t>
            </a:r>
          </a:p>
          <a:p>
            <a:pPr algn="l">
              <a:lnSpc>
                <a:spcPts val="4759"/>
              </a:lnSpc>
            </a:pPr>
            <a:endParaRPr lang="en-US" sz="2700" dirty="0">
              <a:solidFill>
                <a:srgbClr val="000000"/>
              </a:solidFill>
              <a:latin typeface="Arial" panose="020B0604020202020204" pitchFamily="34" charset="0"/>
              <a:ea typeface="Canva Sans"/>
              <a:cs typeface="Arial" panose="020B0604020202020204" pitchFamily="34" charset="0"/>
              <a:sym typeface="Canva Sans"/>
            </a:endParaRPr>
          </a:p>
        </p:txBody>
      </p:sp>
      <p:grpSp>
        <p:nvGrpSpPr>
          <p:cNvPr id="16" name="Group 16">
            <a:extLst>
              <a:ext uri="{FF2B5EF4-FFF2-40B4-BE49-F238E27FC236}">
                <a16:creationId xmlns:a16="http://schemas.microsoft.com/office/drawing/2014/main" id="{98D9B926-E143-C3ED-0B9F-3651A43F3100}"/>
              </a:ext>
            </a:extLst>
          </p:cNvPr>
          <p:cNvGrpSpPr/>
          <p:nvPr/>
        </p:nvGrpSpPr>
        <p:grpSpPr>
          <a:xfrm>
            <a:off x="9601200" y="952500"/>
            <a:ext cx="8222415" cy="1241079"/>
            <a:chOff x="-7349" y="-81441"/>
            <a:chExt cx="2125297" cy="492125"/>
          </a:xfrm>
        </p:grpSpPr>
        <p:sp>
          <p:nvSpPr>
            <p:cNvPr id="17" name="Freeform 17">
              <a:extLst>
                <a:ext uri="{FF2B5EF4-FFF2-40B4-BE49-F238E27FC236}">
                  <a16:creationId xmlns:a16="http://schemas.microsoft.com/office/drawing/2014/main" id="{F59800F9-7BD5-0FF6-E023-DBF5A24D1105}"/>
                </a:ext>
              </a:extLst>
            </p:cNvPr>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dirty="0"/>
            </a:p>
          </p:txBody>
        </p:sp>
        <p:sp>
          <p:nvSpPr>
            <p:cNvPr id="18" name="TextBox 18">
              <a:extLst>
                <a:ext uri="{FF2B5EF4-FFF2-40B4-BE49-F238E27FC236}">
                  <a16:creationId xmlns:a16="http://schemas.microsoft.com/office/drawing/2014/main" id="{FBC04882-55D0-CDA4-847F-3C248CD1035F}"/>
                </a:ext>
              </a:extLst>
            </p:cNvPr>
            <p:cNvSpPr txBox="1"/>
            <p:nvPr/>
          </p:nvSpPr>
          <p:spPr>
            <a:xfrm>
              <a:off x="-7349" y="-81441"/>
              <a:ext cx="2117948" cy="492125"/>
            </a:xfrm>
            <a:prstGeom prst="rect">
              <a:avLst/>
            </a:prstGeom>
          </p:spPr>
          <p:txBody>
            <a:bodyPr lIns="50800" tIns="50800" rIns="50800" bIns="50800" rtlCol="0" anchor="ctr"/>
            <a:lstStyle/>
            <a:p>
              <a:pPr algn="ctr">
                <a:lnSpc>
                  <a:spcPts val="6719"/>
                </a:lnSpc>
              </a:pPr>
              <a:r>
                <a:rPr lang="en-US" sz="4799" dirty="0" err="1">
                  <a:solidFill>
                    <a:srgbClr val="FFFFFF"/>
                  </a:solidFill>
                  <a:latin typeface="Arial" panose="020B0604020202020204" pitchFamily="34" charset="0"/>
                  <a:ea typeface="Canva Sans"/>
                  <a:cs typeface="Arial" panose="020B0604020202020204" pitchFamily="34" charset="0"/>
                  <a:sym typeface="Canva Sans"/>
                </a:rPr>
                <a:t>Đánh</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giá</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mô</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hình</a:t>
              </a:r>
              <a:endParaRPr lang="en-US" sz="4799" dirty="0">
                <a:solidFill>
                  <a:srgbClr val="FFFFFF"/>
                </a:solidFill>
                <a:latin typeface="Arial" panose="020B0604020202020204" pitchFamily="34" charset="0"/>
                <a:ea typeface="Canva Sans"/>
                <a:cs typeface="Arial" panose="020B0604020202020204" pitchFamily="34" charset="0"/>
                <a:sym typeface="Canva Sans"/>
              </a:endParaRPr>
            </a:p>
          </p:txBody>
        </p:sp>
      </p:grpSp>
      <p:pic>
        <p:nvPicPr>
          <p:cNvPr id="4" name="Picture 3">
            <a:extLst>
              <a:ext uri="{FF2B5EF4-FFF2-40B4-BE49-F238E27FC236}">
                <a16:creationId xmlns:a16="http://schemas.microsoft.com/office/drawing/2014/main" id="{85F3DB82-0D3C-4549-66B3-79C70BCEADB3}"/>
              </a:ext>
            </a:extLst>
          </p:cNvPr>
          <p:cNvPicPr>
            <a:picLocks noChangeAspect="1"/>
          </p:cNvPicPr>
          <p:nvPr/>
        </p:nvPicPr>
        <p:blipFill>
          <a:blip r:embed="rId2"/>
          <a:stretch>
            <a:fillRect/>
          </a:stretch>
        </p:blipFill>
        <p:spPr>
          <a:xfrm>
            <a:off x="11096768" y="4000500"/>
            <a:ext cx="6698415" cy="2743200"/>
          </a:xfrm>
          <a:prstGeom prst="rect">
            <a:avLst/>
          </a:prstGeom>
        </p:spPr>
      </p:pic>
      <p:sp>
        <p:nvSpPr>
          <p:cNvPr id="5" name="Freeform 2">
            <a:extLst>
              <a:ext uri="{FF2B5EF4-FFF2-40B4-BE49-F238E27FC236}">
                <a16:creationId xmlns:a16="http://schemas.microsoft.com/office/drawing/2014/main" id="{4CB104DE-DC04-B3CA-0D40-88852770BA2D}"/>
              </a:ext>
            </a:extLst>
          </p:cNvPr>
          <p:cNvSpPr/>
          <p:nvPr/>
        </p:nvSpPr>
        <p:spPr>
          <a:xfrm>
            <a:off x="-53026" y="-22205"/>
            <a:ext cx="12549825" cy="2651106"/>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3">
            <a:extLst>
              <a:ext uri="{FF2B5EF4-FFF2-40B4-BE49-F238E27FC236}">
                <a16:creationId xmlns:a16="http://schemas.microsoft.com/office/drawing/2014/main" id="{235E8D84-87DE-2848-38E8-2F35F8CD5E78}"/>
              </a:ext>
            </a:extLst>
          </p:cNvPr>
          <p:cNvSpPr txBox="1"/>
          <p:nvPr/>
        </p:nvSpPr>
        <p:spPr>
          <a:xfrm>
            <a:off x="163830" y="34020"/>
            <a:ext cx="8980170"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spTree>
    <p:extLst>
      <p:ext uri="{BB962C8B-B14F-4D97-AF65-F5344CB8AC3E}">
        <p14:creationId xmlns:p14="http://schemas.microsoft.com/office/powerpoint/2010/main" val="3524927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11592-FE31-9F7C-3624-AF93F4490ED8}"/>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2A3BB311-B712-BABC-5ED9-EFEE6F2433B0}"/>
              </a:ext>
            </a:extLst>
          </p:cNvPr>
          <p:cNvSpPr txBox="1"/>
          <p:nvPr/>
        </p:nvSpPr>
        <p:spPr>
          <a:xfrm>
            <a:off x="1077016" y="2628900"/>
            <a:ext cx="9874545" cy="7311553"/>
          </a:xfrm>
          <a:prstGeom prst="rect">
            <a:avLst/>
          </a:prstGeom>
        </p:spPr>
        <p:txBody>
          <a:bodyPr lIns="0" tIns="0" rIns="0" bIns="0" rtlCol="0" anchor="t">
            <a:spAutoFit/>
          </a:bodyPr>
          <a:lstStyle/>
          <a:p>
            <a:pPr algn="l">
              <a:lnSpc>
                <a:spcPts val="4759"/>
              </a:lnSpc>
            </a:pPr>
            <a:r>
              <a:rPr lang="en-US" sz="2700" dirty="0" err="1">
                <a:solidFill>
                  <a:srgbClr val="000000"/>
                </a:solidFill>
                <a:latin typeface="Arial" panose="020B0604020202020204" pitchFamily="34" charset="0"/>
                <a:ea typeface="Canva Sans"/>
                <a:cs typeface="Arial" panose="020B0604020202020204" pitchFamily="34" charset="0"/>
                <a:sym typeface="Canva Sans"/>
              </a:rPr>
              <a:t>Đánh</a:t>
            </a:r>
            <a:r>
              <a:rPr lang="en-US" sz="2700" dirty="0">
                <a:solidFill>
                  <a:srgbClr val="000000"/>
                </a:solidFill>
                <a:latin typeface="Arial" panose="020B0604020202020204" pitchFamily="34" charset="0"/>
                <a:ea typeface="Canva Sans"/>
                <a:cs typeface="Arial" panose="020B0604020202020204" pitchFamily="34" charset="0"/>
                <a:sym typeface="Canva Sans"/>
              </a:rPr>
              <a:t> </a:t>
            </a:r>
            <a:r>
              <a:rPr lang="en-US" sz="2700" dirty="0" err="1">
                <a:solidFill>
                  <a:srgbClr val="000000"/>
                </a:solidFill>
                <a:latin typeface="Arial" panose="020B0604020202020204" pitchFamily="34" charset="0"/>
                <a:ea typeface="Canva Sans"/>
                <a:cs typeface="Arial" panose="020B0604020202020204" pitchFamily="34" charset="0"/>
                <a:sym typeface="Canva Sans"/>
              </a:rPr>
              <a:t>gia</a:t>
            </a:r>
            <a:r>
              <a:rPr lang="en-US" sz="2700" dirty="0">
                <a:solidFill>
                  <a:srgbClr val="000000"/>
                </a:solidFill>
                <a:latin typeface="Arial" panose="020B0604020202020204" pitchFamily="34" charset="0"/>
                <a:ea typeface="Canva Sans"/>
                <a:cs typeface="Arial" panose="020B0604020202020204" pitchFamily="34" charset="0"/>
                <a:sym typeface="Canva Sans"/>
              </a:rPr>
              <a:t> bằng Train-Test Split </a:t>
            </a:r>
            <a:r>
              <a:rPr lang="en-US" sz="2700" dirty="0" err="1">
                <a:solidFill>
                  <a:srgbClr val="000000"/>
                </a:solidFill>
                <a:latin typeface="Arial" panose="020B0604020202020204" pitchFamily="34" charset="0"/>
                <a:ea typeface="Canva Sans"/>
                <a:cs typeface="Arial" panose="020B0604020202020204" pitchFamily="34" charset="0"/>
                <a:sym typeface="Canva Sans"/>
              </a:rPr>
              <a:t>Evalution</a:t>
            </a:r>
            <a:r>
              <a:rPr lang="en-US" sz="2700" dirty="0">
                <a:solidFill>
                  <a:srgbClr val="000000"/>
                </a:solidFill>
                <a:latin typeface="Arial" panose="020B0604020202020204" pitchFamily="34" charset="0"/>
                <a:ea typeface="Canva Sans"/>
                <a:cs typeface="Arial" panose="020B0604020202020204" pitchFamily="34" charset="0"/>
                <a:sym typeface="Canva Sans"/>
              </a:rPr>
              <a:t>: </a:t>
            </a:r>
          </a:p>
          <a:p>
            <a:pPr marL="457200" indent="-457200">
              <a:lnSpc>
                <a:spcPts val="4759"/>
              </a:lnSpc>
              <a:buFont typeface="Arial" panose="020B0604020202020204" pitchFamily="34" charset="0"/>
              <a:buChar char="•"/>
            </a:pPr>
            <a:r>
              <a:rPr lang="en-US" sz="2800" dirty="0"/>
              <a:t>L</a:t>
            </a:r>
            <a:r>
              <a:rPr lang="vi-VN" sz="2800" dirty="0"/>
              <a:t>à một kỹ thuật đánh giá mô hình đơn giản và phổ biến nhất trong máy học.</a:t>
            </a:r>
            <a:endParaRPr lang="en-US" sz="2700" dirty="0">
              <a:solidFill>
                <a:srgbClr val="000000"/>
              </a:solidFill>
              <a:latin typeface="Arial" panose="020B0604020202020204" pitchFamily="34" charset="0"/>
              <a:ea typeface="Canva Sans"/>
              <a:cs typeface="Arial" panose="020B0604020202020204" pitchFamily="34" charset="0"/>
              <a:sym typeface="Canva Sans"/>
            </a:endParaRPr>
          </a:p>
          <a:p>
            <a:pPr marL="457200" indent="-457200">
              <a:lnSpc>
                <a:spcPts val="4759"/>
              </a:lnSpc>
              <a:buFont typeface="Arial" panose="020B0604020202020204" pitchFamily="34" charset="0"/>
              <a:buChar char="•"/>
            </a:pPr>
            <a:r>
              <a:rPr lang="vi-VN" sz="2800" dirty="0">
                <a:latin typeface="Arial" panose="020B0604020202020204" pitchFamily="34" charset="0"/>
                <a:cs typeface="Arial" panose="020B0604020202020204" pitchFamily="34" charset="0"/>
              </a:rPr>
              <a:t>Nó chia tập dữ liệu ban đầu của bạn thành hai phần riêng biệt:</a:t>
            </a:r>
            <a:r>
              <a:rPr lang="en-US" sz="2800" dirty="0">
                <a:latin typeface="Arial" panose="020B0604020202020204" pitchFamily="34" charset="0"/>
                <a:cs typeface="Arial" panose="020B0604020202020204" pitchFamily="34" charset="0"/>
              </a:rPr>
              <a:t> Training Set (</a:t>
            </a:r>
            <a:r>
              <a:rPr lang="vi-VN" sz="2800" dirty="0">
                <a:latin typeface="Arial" panose="020B0604020202020204" pitchFamily="34" charset="0"/>
                <a:cs typeface="Arial" panose="020B0604020202020204" pitchFamily="34" charset="0"/>
              </a:rPr>
              <a:t>Thường chiếm phần lớn dữ liệu</a:t>
            </a:r>
            <a:r>
              <a:rPr lang="en-US" sz="2800" dirty="0">
                <a:latin typeface="Arial" panose="020B0604020202020204" pitchFamily="34" charset="0"/>
                <a:cs typeface="Arial" panose="020B0604020202020204" pitchFamily="34" charset="0"/>
              </a:rPr>
              <a:t>, </a:t>
            </a:r>
            <a:r>
              <a:rPr lang="vi-VN" sz="2800" dirty="0">
                <a:latin typeface="Arial" panose="020B0604020202020204" pitchFamily="34" charset="0"/>
                <a:cs typeface="Arial" panose="020B0604020202020204" pitchFamily="34" charset="0"/>
              </a:rPr>
              <a:t>ví dụ: 70% - 80%)</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và</a:t>
            </a:r>
            <a:r>
              <a:rPr lang="en-US" sz="2800" dirty="0">
                <a:latin typeface="Arial" panose="020B0604020202020204" pitchFamily="34" charset="0"/>
                <a:cs typeface="Arial" panose="020B0604020202020204" pitchFamily="34" charset="0"/>
              </a:rPr>
              <a:t> Testing Set (</a:t>
            </a:r>
            <a:r>
              <a:rPr lang="en-US" sz="2800" dirty="0" err="1">
                <a:latin typeface="Arial" panose="020B0604020202020204" pitchFamily="34" charset="0"/>
                <a:cs typeface="Arial" panose="020B0604020202020204" pitchFamily="34" charset="0"/>
              </a:rPr>
              <a:t>Là</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phần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dữ</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liệu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còn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lại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dụ</a:t>
            </a:r>
            <a:r>
              <a:rPr lang="en-US" sz="2800" dirty="0">
                <a:latin typeface="Arial" panose="020B0604020202020204" pitchFamily="34" charset="0"/>
                <a:cs typeface="Arial" panose="020B0604020202020204" pitchFamily="34" charset="0"/>
              </a:rPr>
              <a:t>: 20% - 30%)</a:t>
            </a:r>
          </a:p>
          <a:p>
            <a:pPr marL="457200" indent="-457200">
              <a:lnSpc>
                <a:spcPts val="4759"/>
              </a:lnSpc>
              <a:buFont typeface="Arial" panose="020B0604020202020204" pitchFamily="34" charset="0"/>
              <a:buChar char="•"/>
            </a:pPr>
            <a:r>
              <a:rPr lang="vi-VN" sz="2800" dirty="0">
                <a:latin typeface="Arial" panose="020B0604020202020204" pitchFamily="34" charset="0"/>
                <a:cs typeface="Arial" panose="020B0604020202020204" pitchFamily="34" charset="0"/>
              </a:rPr>
              <a:t>Mục đích chính là để đánh giá hiệu suất tổng quát hóa của mô hình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thông</a:t>
            </a:r>
            <a:r>
              <a:rPr lang="en-US" sz="2800" dirty="0">
                <a:latin typeface="Arial" panose="020B0604020202020204" pitchFamily="34" charset="0"/>
                <a:cs typeface="Arial" panose="020B0604020202020204" pitchFamily="34" charset="0"/>
              </a:rPr>
              <a:t> qua </a:t>
            </a:r>
            <a:r>
              <a:rPr lang="en-US" sz="2800" dirty="0" err="1">
                <a:latin typeface="Arial" panose="020B0604020202020204" pitchFamily="34" charset="0"/>
                <a:cs typeface="Arial" panose="020B0604020202020204" pitchFamily="34" charset="0"/>
              </a:rPr>
              <a:t>đánh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giá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hiệu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suất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mô</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hình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trên</a:t>
            </a:r>
            <a:r>
              <a:rPr lang="en-US" sz="2800" dirty="0">
                <a:latin typeface="Arial" panose="020B0604020202020204" pitchFamily="34" charset="0"/>
                <a:cs typeface="Arial" panose="020B0604020202020204" pitchFamily="34" charset="0"/>
              </a:rPr>
              <a:t> 1 </a:t>
            </a:r>
            <a:r>
              <a:rPr lang="en-US" sz="2800" dirty="0" err="1">
                <a:latin typeface="Arial" panose="020B0604020202020204" pitchFamily="34" charset="0"/>
                <a:cs typeface="Arial" panose="020B0604020202020204" pitchFamily="34" charset="0"/>
              </a:rPr>
              <a:t>tập</a:t>
            </a:r>
            <a:r>
              <a:rPr lang="en-US" sz="2800" dirty="0">
                <a:latin typeface="Arial" panose="020B0604020202020204" pitchFamily="34" charset="0"/>
                <a:cs typeface="Arial" panose="020B0604020202020204" pitchFamily="34" charset="0"/>
              </a:rPr>
              <a:t> validation </a:t>
            </a:r>
            <a:r>
              <a:rPr lang="en-US" sz="2800" dirty="0" err="1">
                <a:latin typeface="Arial" panose="020B0604020202020204" pitchFamily="34" charset="0"/>
                <a:cs typeface="Arial" panose="020B0604020202020204" pitchFamily="34" charset="0"/>
              </a:rPr>
              <a:t>riêng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biệt</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sau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khi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huấn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luyện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phần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còn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lại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trước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đó</a:t>
            </a:r>
            <a:r>
              <a:rPr lang="en-US" sz="2800" dirty="0">
                <a:latin typeface="Arial" panose="020B0604020202020204" pitchFamily="34" charset="0"/>
                <a:cs typeface="Arial" panose="020B0604020202020204" pitchFamily="34" charset="0"/>
              </a:rPr>
              <a:t>.</a:t>
            </a:r>
            <a:endParaRPr lang="vi-VN" sz="2800" dirty="0">
              <a:latin typeface="Arial" panose="020B0604020202020204" pitchFamily="34" charset="0"/>
              <a:cs typeface="Arial" panose="020B0604020202020204" pitchFamily="34" charset="0"/>
            </a:endParaRPr>
          </a:p>
          <a:p>
            <a:pPr algn="l">
              <a:lnSpc>
                <a:spcPts val="4759"/>
              </a:lnSpc>
            </a:pPr>
            <a:endParaRPr lang="en-US" sz="2700" dirty="0">
              <a:solidFill>
                <a:srgbClr val="000000"/>
              </a:solidFill>
              <a:latin typeface="Arial" panose="020B0604020202020204" pitchFamily="34" charset="0"/>
              <a:ea typeface="Canva Sans"/>
              <a:cs typeface="Arial" panose="020B0604020202020204" pitchFamily="34" charset="0"/>
              <a:sym typeface="Canva Sans"/>
            </a:endParaRPr>
          </a:p>
        </p:txBody>
      </p:sp>
      <p:grpSp>
        <p:nvGrpSpPr>
          <p:cNvPr id="16" name="Group 16">
            <a:extLst>
              <a:ext uri="{FF2B5EF4-FFF2-40B4-BE49-F238E27FC236}">
                <a16:creationId xmlns:a16="http://schemas.microsoft.com/office/drawing/2014/main" id="{EEF1D760-872B-8299-E92E-C2750EBF2B4A}"/>
              </a:ext>
            </a:extLst>
          </p:cNvPr>
          <p:cNvGrpSpPr/>
          <p:nvPr/>
        </p:nvGrpSpPr>
        <p:grpSpPr>
          <a:xfrm>
            <a:off x="9601200" y="952500"/>
            <a:ext cx="8222415" cy="1241079"/>
            <a:chOff x="-7349" y="-81441"/>
            <a:chExt cx="2125297" cy="492125"/>
          </a:xfrm>
        </p:grpSpPr>
        <p:sp>
          <p:nvSpPr>
            <p:cNvPr id="17" name="Freeform 17">
              <a:extLst>
                <a:ext uri="{FF2B5EF4-FFF2-40B4-BE49-F238E27FC236}">
                  <a16:creationId xmlns:a16="http://schemas.microsoft.com/office/drawing/2014/main" id="{4EC0E157-5A5C-9042-C9B2-4E861E95FB9C}"/>
                </a:ext>
              </a:extLst>
            </p:cNvPr>
            <p:cNvSpPr/>
            <p:nvPr/>
          </p:nvSpPr>
          <p:spPr>
            <a:xfrm>
              <a:off x="0" y="0"/>
              <a:ext cx="2117948" cy="406400"/>
            </a:xfrm>
            <a:custGeom>
              <a:avLst/>
              <a:gdLst/>
              <a:ahLst/>
              <a:cxnLst/>
              <a:rect l="l" t="t" r="r" b="b"/>
              <a:pathLst>
                <a:path w="2117948" h="406400">
                  <a:moveTo>
                    <a:pt x="1914748" y="0"/>
                  </a:moveTo>
                  <a:cubicBezTo>
                    <a:pt x="2026972" y="0"/>
                    <a:pt x="2117948" y="90976"/>
                    <a:pt x="2117948" y="203200"/>
                  </a:cubicBezTo>
                  <a:cubicBezTo>
                    <a:pt x="2117948" y="315424"/>
                    <a:pt x="2026972" y="406400"/>
                    <a:pt x="1914748" y="406400"/>
                  </a:cubicBezTo>
                  <a:lnTo>
                    <a:pt x="203200" y="406400"/>
                  </a:lnTo>
                  <a:cubicBezTo>
                    <a:pt x="90976" y="406400"/>
                    <a:pt x="0" y="315424"/>
                    <a:pt x="0" y="203200"/>
                  </a:cubicBezTo>
                  <a:cubicBezTo>
                    <a:pt x="0" y="90976"/>
                    <a:pt x="90976" y="0"/>
                    <a:pt x="203200" y="0"/>
                  </a:cubicBezTo>
                  <a:close/>
                </a:path>
              </a:pathLst>
            </a:custGeom>
            <a:solidFill>
              <a:schemeClr val="accent1"/>
            </a:solidFill>
          </p:spPr>
          <p:txBody>
            <a:bodyPr/>
            <a:lstStyle/>
            <a:p>
              <a:endParaRPr lang="en-US" dirty="0"/>
            </a:p>
          </p:txBody>
        </p:sp>
        <p:sp>
          <p:nvSpPr>
            <p:cNvPr id="18" name="TextBox 18">
              <a:extLst>
                <a:ext uri="{FF2B5EF4-FFF2-40B4-BE49-F238E27FC236}">
                  <a16:creationId xmlns:a16="http://schemas.microsoft.com/office/drawing/2014/main" id="{C81CD6AD-98F5-807E-27D5-6C9D5E2C0EFE}"/>
                </a:ext>
              </a:extLst>
            </p:cNvPr>
            <p:cNvSpPr txBox="1"/>
            <p:nvPr/>
          </p:nvSpPr>
          <p:spPr>
            <a:xfrm>
              <a:off x="-7349" y="-81441"/>
              <a:ext cx="2117948" cy="492125"/>
            </a:xfrm>
            <a:prstGeom prst="rect">
              <a:avLst/>
            </a:prstGeom>
          </p:spPr>
          <p:txBody>
            <a:bodyPr lIns="50800" tIns="50800" rIns="50800" bIns="50800" rtlCol="0" anchor="ctr"/>
            <a:lstStyle/>
            <a:p>
              <a:pPr algn="ctr">
                <a:lnSpc>
                  <a:spcPts val="6719"/>
                </a:lnSpc>
              </a:pPr>
              <a:r>
                <a:rPr lang="en-US" sz="4799" dirty="0" err="1">
                  <a:solidFill>
                    <a:srgbClr val="FFFFFF"/>
                  </a:solidFill>
                  <a:latin typeface="Arial" panose="020B0604020202020204" pitchFamily="34" charset="0"/>
                  <a:ea typeface="Canva Sans"/>
                  <a:cs typeface="Arial" panose="020B0604020202020204" pitchFamily="34" charset="0"/>
                  <a:sym typeface="Canva Sans"/>
                </a:rPr>
                <a:t>Đánh</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giá</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mô</a:t>
              </a:r>
              <a:r>
                <a:rPr lang="en-US" sz="4799" dirty="0">
                  <a:solidFill>
                    <a:srgbClr val="FFFFFF"/>
                  </a:solidFill>
                  <a:latin typeface="Arial" panose="020B0604020202020204" pitchFamily="34" charset="0"/>
                  <a:ea typeface="Canva Sans"/>
                  <a:cs typeface="Arial" panose="020B0604020202020204" pitchFamily="34" charset="0"/>
                  <a:sym typeface="Canva Sans"/>
                </a:rPr>
                <a:t> </a:t>
              </a:r>
              <a:r>
                <a:rPr lang="en-US" sz="4799" dirty="0" err="1">
                  <a:solidFill>
                    <a:srgbClr val="FFFFFF"/>
                  </a:solidFill>
                  <a:latin typeface="Arial" panose="020B0604020202020204" pitchFamily="34" charset="0"/>
                  <a:ea typeface="Canva Sans"/>
                  <a:cs typeface="Arial" panose="020B0604020202020204" pitchFamily="34" charset="0"/>
                  <a:sym typeface="Canva Sans"/>
                </a:rPr>
                <a:t>hình</a:t>
              </a:r>
              <a:endParaRPr lang="en-US" sz="4799" dirty="0">
                <a:solidFill>
                  <a:srgbClr val="FFFFFF"/>
                </a:solidFill>
                <a:latin typeface="Arial" panose="020B0604020202020204" pitchFamily="34" charset="0"/>
                <a:ea typeface="Canva Sans"/>
                <a:cs typeface="Arial" panose="020B0604020202020204" pitchFamily="34" charset="0"/>
                <a:sym typeface="Canva Sans"/>
              </a:endParaRPr>
            </a:p>
          </p:txBody>
        </p:sp>
      </p:grpSp>
      <p:pic>
        <p:nvPicPr>
          <p:cNvPr id="5122" name="Picture 2">
            <a:extLst>
              <a:ext uri="{FF2B5EF4-FFF2-40B4-BE49-F238E27FC236}">
                <a16:creationId xmlns:a16="http://schemas.microsoft.com/office/drawing/2014/main" id="{B5A62AD6-01B4-11D0-BD7D-2D422314A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7683" y="3365083"/>
            <a:ext cx="6667500" cy="50006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2">
            <a:extLst>
              <a:ext uri="{FF2B5EF4-FFF2-40B4-BE49-F238E27FC236}">
                <a16:creationId xmlns:a16="http://schemas.microsoft.com/office/drawing/2014/main" id="{918D3919-89D8-EE2F-1B30-75A6CD75800F}"/>
              </a:ext>
            </a:extLst>
          </p:cNvPr>
          <p:cNvSpPr/>
          <p:nvPr/>
        </p:nvSpPr>
        <p:spPr>
          <a:xfrm>
            <a:off x="-53026" y="-22205"/>
            <a:ext cx="12549825" cy="2651106"/>
          </a:xfrm>
          <a:custGeom>
            <a:avLst/>
            <a:gdLst/>
            <a:ahLst/>
            <a:cxnLst/>
            <a:rect l="l" t="t" r="r" b="b"/>
            <a:pathLst>
              <a:path w="10852348" h="3420840">
                <a:moveTo>
                  <a:pt x="0" y="0"/>
                </a:moveTo>
                <a:lnTo>
                  <a:pt x="10852348" y="0"/>
                </a:lnTo>
                <a:lnTo>
                  <a:pt x="10852348" y="3420840"/>
                </a:lnTo>
                <a:lnTo>
                  <a:pt x="0" y="3420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3">
            <a:extLst>
              <a:ext uri="{FF2B5EF4-FFF2-40B4-BE49-F238E27FC236}">
                <a16:creationId xmlns:a16="http://schemas.microsoft.com/office/drawing/2014/main" id="{B4A785DE-AECB-AFF6-52BB-1927AE979C62}"/>
              </a:ext>
            </a:extLst>
          </p:cNvPr>
          <p:cNvSpPr txBox="1"/>
          <p:nvPr/>
        </p:nvSpPr>
        <p:spPr>
          <a:xfrm>
            <a:off x="163830" y="34020"/>
            <a:ext cx="8980170" cy="1024890"/>
          </a:xfrm>
          <a:prstGeom prst="rect">
            <a:avLst/>
          </a:prstGeom>
        </p:spPr>
        <p:txBody>
          <a:bodyPr lIns="0" tIns="0" rIns="0" bIns="0" rtlCol="0" anchor="t">
            <a:spAutoFit/>
          </a:bodyPr>
          <a:lstStyle/>
          <a:p>
            <a:pPr algn="just">
              <a:lnSpc>
                <a:spcPts val="8640"/>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3. Proposed methods</a:t>
            </a:r>
          </a:p>
        </p:txBody>
      </p:sp>
    </p:spTree>
    <p:extLst>
      <p:ext uri="{BB962C8B-B14F-4D97-AF65-F5344CB8AC3E}">
        <p14:creationId xmlns:p14="http://schemas.microsoft.com/office/powerpoint/2010/main" val="279456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474" y="-3372"/>
            <a:ext cx="14760074" cy="2271454"/>
          </a:xfrm>
          <a:custGeom>
            <a:avLst/>
            <a:gdLst/>
            <a:ahLst/>
            <a:cxnLst/>
            <a:rect l="l" t="t" r="r" b="b"/>
            <a:pathLst>
              <a:path w="11587539" h="3657241">
                <a:moveTo>
                  <a:pt x="0" y="0"/>
                </a:moveTo>
                <a:lnTo>
                  <a:pt x="11587539" y="0"/>
                </a:lnTo>
                <a:lnTo>
                  <a:pt x="11587539" y="3657241"/>
                </a:lnTo>
                <a:lnTo>
                  <a:pt x="0" y="36572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225236" y="-96170"/>
            <a:ext cx="9154392" cy="1308824"/>
            <a:chOff x="0" y="0"/>
            <a:chExt cx="21031200" cy="1745098"/>
          </a:xfrm>
        </p:grpSpPr>
        <p:sp>
          <p:nvSpPr>
            <p:cNvPr id="4" name="Freeform 4"/>
            <p:cNvSpPr/>
            <p:nvPr/>
          </p:nvSpPr>
          <p:spPr>
            <a:xfrm>
              <a:off x="0" y="0"/>
              <a:ext cx="21031200" cy="1745098"/>
            </a:xfrm>
            <a:custGeom>
              <a:avLst/>
              <a:gdLst/>
              <a:ahLst/>
              <a:cxnLst/>
              <a:rect l="l" t="t" r="r" b="b"/>
              <a:pathLst>
                <a:path w="21031200" h="1745098">
                  <a:moveTo>
                    <a:pt x="0" y="0"/>
                  </a:moveTo>
                  <a:lnTo>
                    <a:pt x="21031200" y="0"/>
                  </a:lnTo>
                  <a:lnTo>
                    <a:pt x="21031200" y="1745098"/>
                  </a:lnTo>
                  <a:lnTo>
                    <a:pt x="0" y="1745098"/>
                  </a:lnTo>
                  <a:close/>
                </a:path>
              </a:pathLst>
            </a:custGeom>
            <a:solidFill>
              <a:srgbClr val="000000">
                <a:alpha val="0"/>
              </a:srgbClr>
            </a:solidFill>
          </p:spPr>
          <p:txBody>
            <a:bodyPr/>
            <a:lstStyle/>
            <a:p>
              <a:endParaRPr lang="en-US"/>
            </a:p>
          </p:txBody>
        </p:sp>
        <p:sp>
          <p:nvSpPr>
            <p:cNvPr id="5" name="TextBox 5"/>
            <p:cNvSpPr txBox="1"/>
            <p:nvPr/>
          </p:nvSpPr>
          <p:spPr>
            <a:xfrm>
              <a:off x="0" y="38100"/>
              <a:ext cx="21031200" cy="1706998"/>
            </a:xfrm>
            <a:prstGeom prst="rect">
              <a:avLst/>
            </a:prstGeom>
          </p:spPr>
          <p:txBody>
            <a:bodyPr lIns="0" tIns="0" rIns="0" bIns="0" rtlCol="0" anchor="ctr"/>
            <a:lstStyle/>
            <a:p>
              <a:pPr algn="l">
                <a:lnSpc>
                  <a:spcPts val="5184"/>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4. Experience and result</a:t>
              </a:r>
            </a:p>
          </p:txBody>
        </p:sp>
      </p:grpSp>
      <p:graphicFrame>
        <p:nvGraphicFramePr>
          <p:cNvPr id="15" name="Table 14">
            <a:extLst>
              <a:ext uri="{FF2B5EF4-FFF2-40B4-BE49-F238E27FC236}">
                <a16:creationId xmlns:a16="http://schemas.microsoft.com/office/drawing/2014/main" id="{143B76BB-BFC6-3672-BAB1-9998E281FE84}"/>
              </a:ext>
            </a:extLst>
          </p:cNvPr>
          <p:cNvGraphicFramePr>
            <a:graphicFrameLocks noGrp="1"/>
          </p:cNvGraphicFramePr>
          <p:nvPr>
            <p:extLst>
              <p:ext uri="{D42A27DB-BD31-4B8C-83A1-F6EECF244321}">
                <p14:modId xmlns:p14="http://schemas.microsoft.com/office/powerpoint/2010/main" val="2641537065"/>
              </p:ext>
            </p:extLst>
          </p:nvPr>
        </p:nvGraphicFramePr>
        <p:xfrm>
          <a:off x="1905000" y="2525973"/>
          <a:ext cx="12344400" cy="28194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531415726"/>
                    </a:ext>
                  </a:extLst>
                </a:gridCol>
                <a:gridCol w="3086100">
                  <a:extLst>
                    <a:ext uri="{9D8B030D-6E8A-4147-A177-3AD203B41FA5}">
                      <a16:colId xmlns:a16="http://schemas.microsoft.com/office/drawing/2014/main" val="4002439050"/>
                    </a:ext>
                  </a:extLst>
                </a:gridCol>
                <a:gridCol w="3086100">
                  <a:extLst>
                    <a:ext uri="{9D8B030D-6E8A-4147-A177-3AD203B41FA5}">
                      <a16:colId xmlns:a16="http://schemas.microsoft.com/office/drawing/2014/main" val="1634182252"/>
                    </a:ext>
                  </a:extLst>
                </a:gridCol>
                <a:gridCol w="3086100">
                  <a:extLst>
                    <a:ext uri="{9D8B030D-6E8A-4147-A177-3AD203B41FA5}">
                      <a16:colId xmlns:a16="http://schemas.microsoft.com/office/drawing/2014/main" val="2547156461"/>
                    </a:ext>
                  </a:extLst>
                </a:gridCol>
              </a:tblGrid>
              <a:tr h="704850">
                <a:tc>
                  <a:txBody>
                    <a:bodyPr/>
                    <a:lstStyle/>
                    <a:p>
                      <a:pPr algn="ctr">
                        <a:buNone/>
                      </a:pPr>
                      <a:r>
                        <a:rPr lang="en-US" sz="2400" b="1" dirty="0" err="1">
                          <a:effectLst/>
                        </a:rPr>
                        <a:t>Mô</a:t>
                      </a:r>
                      <a:r>
                        <a:rPr lang="en-US" sz="2400" b="1" dirty="0">
                          <a:effectLst/>
                        </a:rPr>
                        <a:t> </a:t>
                      </a:r>
                      <a:r>
                        <a:rPr lang="en-US" sz="2400" b="1" dirty="0" err="1">
                          <a:effectLst/>
                        </a:rPr>
                        <a:t>hình</a:t>
                      </a:r>
                      <a:endParaRPr lang="en-US" sz="2400" b="1" dirty="0">
                        <a:effectLst/>
                      </a:endParaRPr>
                    </a:p>
                  </a:txBody>
                  <a:tcPr anchor="ctr"/>
                </a:tc>
                <a:tc>
                  <a:txBody>
                    <a:bodyPr/>
                    <a:lstStyle/>
                    <a:p>
                      <a:pPr algn="ctr">
                        <a:buNone/>
                      </a:pPr>
                      <a:r>
                        <a:rPr lang="en-US" sz="2400" b="1">
                          <a:effectLst/>
                        </a:rPr>
                        <a:t>Accuracy</a:t>
                      </a:r>
                    </a:p>
                  </a:txBody>
                  <a:tcPr anchor="ctr"/>
                </a:tc>
                <a:tc>
                  <a:txBody>
                    <a:bodyPr/>
                    <a:lstStyle/>
                    <a:p>
                      <a:pPr algn="ctr">
                        <a:buNone/>
                      </a:pPr>
                      <a:r>
                        <a:rPr lang="en-US" sz="2400" b="1" dirty="0">
                          <a:effectLst/>
                        </a:rPr>
                        <a:t>F1-Score</a:t>
                      </a:r>
                    </a:p>
                  </a:txBody>
                  <a:tcPr anchor="ctr"/>
                </a:tc>
                <a:tc>
                  <a:txBody>
                    <a:bodyPr/>
                    <a:lstStyle/>
                    <a:p>
                      <a:pPr algn="ctr">
                        <a:buNone/>
                      </a:pPr>
                      <a:r>
                        <a:rPr lang="en-US" sz="2400" b="1" dirty="0">
                          <a:effectLst/>
                        </a:rPr>
                        <a:t>ROC AUC</a:t>
                      </a:r>
                    </a:p>
                  </a:txBody>
                  <a:tcPr anchor="ctr"/>
                </a:tc>
                <a:extLst>
                  <a:ext uri="{0D108BD9-81ED-4DB2-BD59-A6C34878D82A}">
                    <a16:rowId xmlns:a16="http://schemas.microsoft.com/office/drawing/2014/main" val="2589051237"/>
                  </a:ext>
                </a:extLst>
              </a:tr>
              <a:tr h="704850">
                <a:tc>
                  <a:txBody>
                    <a:bodyPr/>
                    <a:lstStyle/>
                    <a:p>
                      <a:pPr algn="ctr">
                        <a:buNone/>
                      </a:pPr>
                      <a:r>
                        <a:rPr lang="en-US" sz="2400" b="1" dirty="0">
                          <a:effectLst/>
                        </a:rPr>
                        <a:t>SVM</a:t>
                      </a:r>
                    </a:p>
                  </a:txBody>
                  <a:tcPr anchor="ctr"/>
                </a:tc>
                <a:tc>
                  <a:txBody>
                    <a:bodyPr/>
                    <a:lstStyle/>
                    <a:p>
                      <a:pPr algn="ctr">
                        <a:buNone/>
                      </a:pPr>
                      <a:r>
                        <a:rPr lang="en-US" sz="2400" b="1">
                          <a:effectLst/>
                        </a:rPr>
                        <a:t>0,8436</a:t>
                      </a:r>
                    </a:p>
                  </a:txBody>
                  <a:tcPr anchor="ctr"/>
                </a:tc>
                <a:tc>
                  <a:txBody>
                    <a:bodyPr/>
                    <a:lstStyle/>
                    <a:p>
                      <a:pPr algn="ctr">
                        <a:buNone/>
                      </a:pPr>
                      <a:r>
                        <a:rPr lang="en-US" sz="2400" b="1">
                          <a:effectLst/>
                        </a:rPr>
                        <a:t>0,7879</a:t>
                      </a:r>
                    </a:p>
                  </a:txBody>
                  <a:tcPr anchor="ctr"/>
                </a:tc>
                <a:tc>
                  <a:txBody>
                    <a:bodyPr/>
                    <a:lstStyle/>
                    <a:p>
                      <a:pPr algn="ctr">
                        <a:buNone/>
                      </a:pPr>
                      <a:r>
                        <a:rPr lang="en-US" sz="2400" b="1">
                          <a:effectLst/>
                        </a:rPr>
                        <a:t>0,8350</a:t>
                      </a:r>
                    </a:p>
                  </a:txBody>
                  <a:tcPr anchor="ctr"/>
                </a:tc>
                <a:extLst>
                  <a:ext uri="{0D108BD9-81ED-4DB2-BD59-A6C34878D82A}">
                    <a16:rowId xmlns:a16="http://schemas.microsoft.com/office/drawing/2014/main" val="429720129"/>
                  </a:ext>
                </a:extLst>
              </a:tr>
              <a:tr h="704850">
                <a:tc>
                  <a:txBody>
                    <a:bodyPr/>
                    <a:lstStyle/>
                    <a:p>
                      <a:pPr algn="ctr">
                        <a:buNone/>
                      </a:pPr>
                      <a:r>
                        <a:rPr lang="en-US" sz="2400" b="1">
                          <a:effectLst/>
                        </a:rPr>
                        <a:t>RandomForest</a:t>
                      </a:r>
                    </a:p>
                  </a:txBody>
                  <a:tcPr anchor="ctr"/>
                </a:tc>
                <a:tc>
                  <a:txBody>
                    <a:bodyPr/>
                    <a:lstStyle/>
                    <a:p>
                      <a:pPr algn="ctr">
                        <a:buNone/>
                      </a:pPr>
                      <a:r>
                        <a:rPr lang="en-US" sz="2400">
                          <a:effectLst/>
                        </a:rPr>
                        <a:t>0,7486</a:t>
                      </a:r>
                    </a:p>
                  </a:txBody>
                  <a:tcPr anchor="ctr"/>
                </a:tc>
                <a:tc>
                  <a:txBody>
                    <a:bodyPr/>
                    <a:lstStyle/>
                    <a:p>
                      <a:pPr algn="ctr">
                        <a:buNone/>
                      </a:pPr>
                      <a:r>
                        <a:rPr lang="en-US" sz="2400">
                          <a:effectLst/>
                        </a:rPr>
                        <a:t>0,6763</a:t>
                      </a:r>
                    </a:p>
                  </a:txBody>
                  <a:tcPr anchor="ctr"/>
                </a:tc>
                <a:tc>
                  <a:txBody>
                    <a:bodyPr/>
                    <a:lstStyle/>
                    <a:p>
                      <a:pPr algn="ctr">
                        <a:buNone/>
                      </a:pPr>
                      <a:r>
                        <a:rPr lang="en-US" sz="2400">
                          <a:effectLst/>
                        </a:rPr>
                        <a:t>0,8167</a:t>
                      </a:r>
                    </a:p>
                  </a:txBody>
                  <a:tcPr anchor="ctr"/>
                </a:tc>
                <a:extLst>
                  <a:ext uri="{0D108BD9-81ED-4DB2-BD59-A6C34878D82A}">
                    <a16:rowId xmlns:a16="http://schemas.microsoft.com/office/drawing/2014/main" val="1121446043"/>
                  </a:ext>
                </a:extLst>
              </a:tr>
              <a:tr h="704850">
                <a:tc>
                  <a:txBody>
                    <a:bodyPr/>
                    <a:lstStyle/>
                    <a:p>
                      <a:pPr algn="ctr">
                        <a:buNone/>
                      </a:pPr>
                      <a:r>
                        <a:rPr lang="en-US" sz="2400" b="1">
                          <a:effectLst/>
                        </a:rPr>
                        <a:t>KNN</a:t>
                      </a:r>
                    </a:p>
                  </a:txBody>
                  <a:tcPr anchor="ctr"/>
                </a:tc>
                <a:tc>
                  <a:txBody>
                    <a:bodyPr/>
                    <a:lstStyle/>
                    <a:p>
                      <a:pPr algn="ctr">
                        <a:buNone/>
                      </a:pPr>
                      <a:r>
                        <a:rPr lang="en-US" sz="2400">
                          <a:effectLst/>
                        </a:rPr>
                        <a:t>0,8212</a:t>
                      </a:r>
                    </a:p>
                  </a:txBody>
                  <a:tcPr anchor="ctr"/>
                </a:tc>
                <a:tc>
                  <a:txBody>
                    <a:bodyPr/>
                    <a:lstStyle/>
                    <a:p>
                      <a:pPr algn="ctr">
                        <a:buNone/>
                      </a:pPr>
                      <a:r>
                        <a:rPr lang="en-US" sz="2400" dirty="0">
                          <a:effectLst/>
                        </a:rPr>
                        <a:t>0,7500</a:t>
                      </a:r>
                    </a:p>
                  </a:txBody>
                  <a:tcPr anchor="ctr"/>
                </a:tc>
                <a:tc>
                  <a:txBody>
                    <a:bodyPr/>
                    <a:lstStyle/>
                    <a:p>
                      <a:pPr algn="ctr">
                        <a:buNone/>
                      </a:pPr>
                      <a:r>
                        <a:rPr lang="en-US" sz="2400" dirty="0">
                          <a:effectLst/>
                        </a:rPr>
                        <a:t>0,8403</a:t>
                      </a:r>
                    </a:p>
                  </a:txBody>
                  <a:tcPr anchor="ctr"/>
                </a:tc>
                <a:extLst>
                  <a:ext uri="{0D108BD9-81ED-4DB2-BD59-A6C34878D82A}">
                    <a16:rowId xmlns:a16="http://schemas.microsoft.com/office/drawing/2014/main" val="379417328"/>
                  </a:ext>
                </a:extLst>
              </a:tr>
            </a:tbl>
          </a:graphicData>
        </a:graphic>
      </p:graphicFrame>
      <p:graphicFrame>
        <p:nvGraphicFramePr>
          <p:cNvPr id="16" name="Table 15">
            <a:extLst>
              <a:ext uri="{FF2B5EF4-FFF2-40B4-BE49-F238E27FC236}">
                <a16:creationId xmlns:a16="http://schemas.microsoft.com/office/drawing/2014/main" id="{33FF46AF-AC0D-2C74-2197-FFEDAC65BF00}"/>
              </a:ext>
            </a:extLst>
          </p:cNvPr>
          <p:cNvGraphicFramePr>
            <a:graphicFrameLocks noGrp="1"/>
          </p:cNvGraphicFramePr>
          <p:nvPr>
            <p:extLst>
              <p:ext uri="{D42A27DB-BD31-4B8C-83A1-F6EECF244321}">
                <p14:modId xmlns:p14="http://schemas.microsoft.com/office/powerpoint/2010/main" val="3107321625"/>
              </p:ext>
            </p:extLst>
          </p:nvPr>
        </p:nvGraphicFramePr>
        <p:xfrm>
          <a:off x="1905000" y="6400800"/>
          <a:ext cx="12344400" cy="2819400"/>
        </p:xfrm>
        <a:graphic>
          <a:graphicData uri="http://schemas.openxmlformats.org/drawingml/2006/table">
            <a:tbl>
              <a:tblPr firstRow="1" bandRow="1">
                <a:tableStyleId>{7DF18680-E054-41AD-8BC1-D1AEF772440D}</a:tableStyleId>
              </a:tblPr>
              <a:tblGrid>
                <a:gridCol w="3086100">
                  <a:extLst>
                    <a:ext uri="{9D8B030D-6E8A-4147-A177-3AD203B41FA5}">
                      <a16:colId xmlns:a16="http://schemas.microsoft.com/office/drawing/2014/main" val="2531415726"/>
                    </a:ext>
                  </a:extLst>
                </a:gridCol>
                <a:gridCol w="3086100">
                  <a:extLst>
                    <a:ext uri="{9D8B030D-6E8A-4147-A177-3AD203B41FA5}">
                      <a16:colId xmlns:a16="http://schemas.microsoft.com/office/drawing/2014/main" val="4002439050"/>
                    </a:ext>
                  </a:extLst>
                </a:gridCol>
                <a:gridCol w="3086100">
                  <a:extLst>
                    <a:ext uri="{9D8B030D-6E8A-4147-A177-3AD203B41FA5}">
                      <a16:colId xmlns:a16="http://schemas.microsoft.com/office/drawing/2014/main" val="1634182252"/>
                    </a:ext>
                  </a:extLst>
                </a:gridCol>
                <a:gridCol w="3086100">
                  <a:extLst>
                    <a:ext uri="{9D8B030D-6E8A-4147-A177-3AD203B41FA5}">
                      <a16:colId xmlns:a16="http://schemas.microsoft.com/office/drawing/2014/main" val="2547156461"/>
                    </a:ext>
                  </a:extLst>
                </a:gridCol>
              </a:tblGrid>
              <a:tr h="704850">
                <a:tc>
                  <a:txBody>
                    <a:bodyPr/>
                    <a:lstStyle/>
                    <a:p>
                      <a:pPr algn="ctr">
                        <a:buNone/>
                      </a:pPr>
                      <a:r>
                        <a:rPr lang="en-US" sz="2400" b="1" dirty="0" err="1">
                          <a:effectLst/>
                        </a:rPr>
                        <a:t>Mô</a:t>
                      </a:r>
                      <a:r>
                        <a:rPr lang="en-US" sz="2400" b="1" dirty="0">
                          <a:effectLst/>
                        </a:rPr>
                        <a:t> </a:t>
                      </a:r>
                      <a:r>
                        <a:rPr lang="en-US" sz="2400" b="1" dirty="0" err="1">
                          <a:effectLst/>
                        </a:rPr>
                        <a:t>hình</a:t>
                      </a:r>
                      <a:endParaRPr lang="en-US" sz="2400" b="1" dirty="0">
                        <a:effectLst/>
                      </a:endParaRPr>
                    </a:p>
                  </a:txBody>
                  <a:tcPr anchor="ctr"/>
                </a:tc>
                <a:tc>
                  <a:txBody>
                    <a:bodyPr/>
                    <a:lstStyle/>
                    <a:p>
                      <a:pPr algn="ctr">
                        <a:buNone/>
                      </a:pPr>
                      <a:r>
                        <a:rPr lang="en-US" sz="2400" b="1">
                          <a:effectLst/>
                        </a:rPr>
                        <a:t>Accuracy</a:t>
                      </a:r>
                    </a:p>
                  </a:txBody>
                  <a:tcPr anchor="ctr"/>
                </a:tc>
                <a:tc>
                  <a:txBody>
                    <a:bodyPr/>
                    <a:lstStyle/>
                    <a:p>
                      <a:pPr algn="ctr">
                        <a:buNone/>
                      </a:pPr>
                      <a:r>
                        <a:rPr lang="en-US" sz="2400" b="1">
                          <a:effectLst/>
                        </a:rPr>
                        <a:t>F1-Score</a:t>
                      </a:r>
                    </a:p>
                  </a:txBody>
                  <a:tcPr anchor="ctr"/>
                </a:tc>
                <a:tc>
                  <a:txBody>
                    <a:bodyPr/>
                    <a:lstStyle/>
                    <a:p>
                      <a:pPr algn="ctr">
                        <a:buNone/>
                      </a:pPr>
                      <a:r>
                        <a:rPr lang="en-US" sz="2400" b="1" dirty="0">
                          <a:effectLst/>
                        </a:rPr>
                        <a:t>ROC AUC</a:t>
                      </a:r>
                    </a:p>
                  </a:txBody>
                  <a:tcPr anchor="ctr"/>
                </a:tc>
                <a:extLst>
                  <a:ext uri="{0D108BD9-81ED-4DB2-BD59-A6C34878D82A}">
                    <a16:rowId xmlns:a16="http://schemas.microsoft.com/office/drawing/2014/main" val="2589051237"/>
                  </a:ext>
                </a:extLst>
              </a:tr>
              <a:tr h="704850">
                <a:tc>
                  <a:txBody>
                    <a:bodyPr/>
                    <a:lstStyle/>
                    <a:p>
                      <a:pPr algn="ctr">
                        <a:buNone/>
                      </a:pPr>
                      <a:r>
                        <a:rPr lang="en-US" sz="2400" b="1">
                          <a:effectLst/>
                        </a:rPr>
                        <a:t>SVM</a:t>
                      </a:r>
                    </a:p>
                  </a:txBody>
                  <a:tcPr anchor="ctr"/>
                </a:tc>
                <a:tc>
                  <a:txBody>
                    <a:bodyPr/>
                    <a:lstStyle/>
                    <a:p>
                      <a:pPr algn="ctr">
                        <a:buNone/>
                      </a:pPr>
                      <a:r>
                        <a:rPr lang="en-US" sz="2400">
                          <a:effectLst/>
                        </a:rPr>
                        <a:t>0,8350</a:t>
                      </a:r>
                    </a:p>
                  </a:txBody>
                  <a:tcPr anchor="ctr"/>
                </a:tc>
                <a:tc>
                  <a:txBody>
                    <a:bodyPr/>
                    <a:lstStyle/>
                    <a:p>
                      <a:pPr algn="ctr">
                        <a:buNone/>
                      </a:pPr>
                      <a:r>
                        <a:rPr lang="en-US" sz="2400">
                          <a:effectLst/>
                        </a:rPr>
                        <a:t>0,7742</a:t>
                      </a:r>
                    </a:p>
                  </a:txBody>
                  <a:tcPr anchor="ctr"/>
                </a:tc>
                <a:tc>
                  <a:txBody>
                    <a:bodyPr/>
                    <a:lstStyle/>
                    <a:p>
                      <a:pPr algn="ctr">
                        <a:buNone/>
                      </a:pPr>
                      <a:r>
                        <a:rPr lang="en-US" sz="2400">
                          <a:effectLst/>
                        </a:rPr>
                        <a:t>0,8536</a:t>
                      </a:r>
                    </a:p>
                  </a:txBody>
                  <a:tcPr anchor="ctr"/>
                </a:tc>
                <a:extLst>
                  <a:ext uri="{0D108BD9-81ED-4DB2-BD59-A6C34878D82A}">
                    <a16:rowId xmlns:a16="http://schemas.microsoft.com/office/drawing/2014/main" val="429720129"/>
                  </a:ext>
                </a:extLst>
              </a:tr>
              <a:tr h="704850">
                <a:tc>
                  <a:txBody>
                    <a:bodyPr/>
                    <a:lstStyle/>
                    <a:p>
                      <a:pPr algn="ctr">
                        <a:buNone/>
                      </a:pPr>
                      <a:r>
                        <a:rPr lang="en-US" sz="2400" b="1">
                          <a:effectLst/>
                        </a:rPr>
                        <a:t>RandomForest</a:t>
                      </a:r>
                    </a:p>
                  </a:txBody>
                  <a:tcPr anchor="ctr"/>
                </a:tc>
                <a:tc>
                  <a:txBody>
                    <a:bodyPr/>
                    <a:lstStyle/>
                    <a:p>
                      <a:pPr algn="ctr">
                        <a:buNone/>
                      </a:pPr>
                      <a:r>
                        <a:rPr lang="en-US" sz="2400" b="1">
                          <a:effectLst/>
                        </a:rPr>
                        <a:t>0,8126</a:t>
                      </a:r>
                    </a:p>
                  </a:txBody>
                  <a:tcPr anchor="ctr"/>
                </a:tc>
                <a:tc>
                  <a:txBody>
                    <a:bodyPr/>
                    <a:lstStyle/>
                    <a:p>
                      <a:pPr algn="ctr">
                        <a:buNone/>
                      </a:pPr>
                      <a:r>
                        <a:rPr lang="en-US" sz="2400" b="1">
                          <a:effectLst/>
                        </a:rPr>
                        <a:t>0,7489</a:t>
                      </a:r>
                    </a:p>
                  </a:txBody>
                  <a:tcPr anchor="ctr"/>
                </a:tc>
                <a:tc>
                  <a:txBody>
                    <a:bodyPr/>
                    <a:lstStyle/>
                    <a:p>
                      <a:pPr algn="ctr">
                        <a:buNone/>
                      </a:pPr>
                      <a:r>
                        <a:rPr lang="en-US" sz="2400" b="1">
                          <a:effectLst/>
                        </a:rPr>
                        <a:t>0,8727</a:t>
                      </a:r>
                    </a:p>
                  </a:txBody>
                  <a:tcPr anchor="ctr"/>
                </a:tc>
                <a:extLst>
                  <a:ext uri="{0D108BD9-81ED-4DB2-BD59-A6C34878D82A}">
                    <a16:rowId xmlns:a16="http://schemas.microsoft.com/office/drawing/2014/main" val="1121446043"/>
                  </a:ext>
                </a:extLst>
              </a:tr>
              <a:tr h="704850">
                <a:tc>
                  <a:txBody>
                    <a:bodyPr/>
                    <a:lstStyle/>
                    <a:p>
                      <a:pPr algn="ctr">
                        <a:buNone/>
                      </a:pPr>
                      <a:r>
                        <a:rPr lang="en-US" sz="2400" b="1">
                          <a:effectLst/>
                        </a:rPr>
                        <a:t>KNN</a:t>
                      </a:r>
                    </a:p>
                  </a:txBody>
                  <a:tcPr anchor="ctr"/>
                </a:tc>
                <a:tc>
                  <a:txBody>
                    <a:bodyPr/>
                    <a:lstStyle/>
                    <a:p>
                      <a:pPr algn="ctr">
                        <a:buNone/>
                      </a:pPr>
                      <a:r>
                        <a:rPr lang="en-US" sz="2400">
                          <a:effectLst/>
                        </a:rPr>
                        <a:t>0,8182</a:t>
                      </a:r>
                    </a:p>
                  </a:txBody>
                  <a:tcPr anchor="ctr"/>
                </a:tc>
                <a:tc>
                  <a:txBody>
                    <a:bodyPr/>
                    <a:lstStyle/>
                    <a:p>
                      <a:pPr algn="ctr">
                        <a:buNone/>
                      </a:pPr>
                      <a:r>
                        <a:rPr lang="en-US" sz="2400">
                          <a:effectLst/>
                        </a:rPr>
                        <a:t>0,7484</a:t>
                      </a:r>
                    </a:p>
                  </a:txBody>
                  <a:tcPr anchor="ctr"/>
                </a:tc>
                <a:tc>
                  <a:txBody>
                    <a:bodyPr/>
                    <a:lstStyle/>
                    <a:p>
                      <a:pPr algn="ctr">
                        <a:buNone/>
                      </a:pPr>
                      <a:r>
                        <a:rPr lang="en-US" sz="2400" dirty="0">
                          <a:effectLst/>
                        </a:rPr>
                        <a:t>0,8638</a:t>
                      </a:r>
                    </a:p>
                  </a:txBody>
                  <a:tcPr anchor="ctr"/>
                </a:tc>
                <a:extLst>
                  <a:ext uri="{0D108BD9-81ED-4DB2-BD59-A6C34878D82A}">
                    <a16:rowId xmlns:a16="http://schemas.microsoft.com/office/drawing/2014/main" val="379417328"/>
                  </a:ext>
                </a:extLst>
              </a:tr>
            </a:tbl>
          </a:graphicData>
        </a:graphic>
      </p:graphicFrame>
      <p:sp>
        <p:nvSpPr>
          <p:cNvPr id="18" name="TextBox 17">
            <a:extLst>
              <a:ext uri="{FF2B5EF4-FFF2-40B4-BE49-F238E27FC236}">
                <a16:creationId xmlns:a16="http://schemas.microsoft.com/office/drawing/2014/main" id="{A1DF7370-8984-DC12-B361-0BD05559B62C}"/>
              </a:ext>
            </a:extLst>
          </p:cNvPr>
          <p:cNvSpPr txBox="1"/>
          <p:nvPr/>
        </p:nvSpPr>
        <p:spPr>
          <a:xfrm>
            <a:off x="1910687" y="1767357"/>
            <a:ext cx="9219062" cy="523220"/>
          </a:xfrm>
          <a:prstGeom prst="rect">
            <a:avLst/>
          </a:prstGeom>
          <a:noFill/>
        </p:spPr>
        <p:txBody>
          <a:bodyPr wrap="square">
            <a:spAutoFit/>
          </a:bodyPr>
          <a:lstStyle/>
          <a:p>
            <a:pPr algn="l" rtl="0">
              <a:buNone/>
            </a:pPr>
            <a:r>
              <a:rPr lang="en-US" sz="2800" b="1" dirty="0" err="1">
                <a:solidFill>
                  <a:srgbClr val="000000"/>
                </a:solidFill>
                <a:latin typeface="Arial" panose="020B0604020202020204" pitchFamily="34" charset="0"/>
                <a:cs typeface="Arial" panose="020B0604020202020204" pitchFamily="34" charset="0"/>
              </a:rPr>
              <a:t>Kết</a:t>
            </a:r>
            <a:r>
              <a:rPr lang="en-US" sz="2800" b="1" dirty="0">
                <a:solidFill>
                  <a:srgbClr val="000000"/>
                </a:solidFill>
                <a:latin typeface="Arial" panose="020B0604020202020204" pitchFamily="34" charset="0"/>
                <a:cs typeface="Arial" panose="020B0604020202020204" pitchFamily="34" charset="0"/>
              </a:rPr>
              <a:t> </a:t>
            </a:r>
            <a:r>
              <a:rPr lang="en-US" sz="2800" b="1" dirty="0" err="1">
                <a:solidFill>
                  <a:srgbClr val="000000"/>
                </a:solidFill>
                <a:latin typeface="Arial" panose="020B0604020202020204" pitchFamily="34" charset="0"/>
                <a:cs typeface="Arial" panose="020B0604020202020204" pitchFamily="34" charset="0"/>
              </a:rPr>
              <a:t>quả</a:t>
            </a:r>
            <a:r>
              <a:rPr lang="en-US" sz="2800" b="1" dirty="0">
                <a:solidFill>
                  <a:srgbClr val="000000"/>
                </a:solidFill>
                <a:latin typeface="Arial" panose="020B0604020202020204" pitchFamily="34" charset="0"/>
                <a:cs typeface="Arial" panose="020B0604020202020204" pitchFamily="34" charset="0"/>
              </a:rPr>
              <a:t> </a:t>
            </a:r>
            <a:r>
              <a:rPr lang="en-US" sz="2800" b="1" dirty="0" err="1">
                <a:solidFill>
                  <a:srgbClr val="000000"/>
                </a:solidFill>
                <a:latin typeface="Arial" panose="020B0604020202020204" pitchFamily="34" charset="0"/>
                <a:cs typeface="Arial" panose="020B0604020202020204" pitchFamily="34" charset="0"/>
              </a:rPr>
              <a:t>khi</a:t>
            </a:r>
            <a:r>
              <a:rPr lang="en-US" sz="2800" b="1" dirty="0">
                <a:solidFill>
                  <a:srgbClr val="000000"/>
                </a:solidFill>
                <a:latin typeface="Arial" panose="020B0604020202020204" pitchFamily="34" charset="0"/>
                <a:cs typeface="Arial" panose="020B0604020202020204" pitchFamily="34" charset="0"/>
              </a:rPr>
              <a:t> </a:t>
            </a:r>
            <a:r>
              <a:rPr lang="en-US" sz="2800" b="1" dirty="0" err="1">
                <a:solidFill>
                  <a:srgbClr val="000000"/>
                </a:solidFill>
                <a:latin typeface="Arial" panose="020B0604020202020204" pitchFamily="34" charset="0"/>
                <a:cs typeface="Arial" panose="020B0604020202020204" pitchFamily="34" charset="0"/>
              </a:rPr>
              <a:t>dùng</a:t>
            </a:r>
            <a:r>
              <a:rPr lang="en-US" sz="2800" b="1" i="0" dirty="0">
                <a:solidFill>
                  <a:srgbClr val="000000"/>
                </a:solidFill>
                <a:effectLst/>
                <a:latin typeface="Arial" panose="020B0604020202020204" pitchFamily="34" charset="0"/>
                <a:cs typeface="Arial" panose="020B0604020202020204" pitchFamily="34" charset="0"/>
              </a:rPr>
              <a:t> Train/Test Split Evaluation:</a:t>
            </a:r>
            <a:endParaRPr lang="en-US" sz="2800" dirty="0">
              <a:effectLst/>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AD1DD6A2-5565-CED3-1079-EE1605015266}"/>
              </a:ext>
            </a:extLst>
          </p:cNvPr>
          <p:cNvSpPr txBox="1"/>
          <p:nvPr/>
        </p:nvSpPr>
        <p:spPr>
          <a:xfrm>
            <a:off x="1877704" y="5616594"/>
            <a:ext cx="9219062" cy="523220"/>
          </a:xfrm>
          <a:prstGeom prst="rect">
            <a:avLst/>
          </a:prstGeom>
          <a:noFill/>
        </p:spPr>
        <p:txBody>
          <a:bodyPr wrap="square">
            <a:spAutoFit/>
          </a:bodyPr>
          <a:lstStyle/>
          <a:p>
            <a:r>
              <a:rPr lang="en-US" sz="2800" b="1" i="0" dirty="0" err="1">
                <a:solidFill>
                  <a:srgbClr val="000000"/>
                </a:solidFill>
                <a:effectLst/>
                <a:latin typeface="Arial" panose="020B0604020202020204" pitchFamily="34" charset="0"/>
                <a:cs typeface="Arial" panose="020B0604020202020204" pitchFamily="34" charset="0"/>
              </a:rPr>
              <a:t>Kết</a:t>
            </a:r>
            <a:r>
              <a:rPr lang="en-US" sz="2800" b="1" i="0" dirty="0">
                <a:solidFill>
                  <a:srgbClr val="000000"/>
                </a:solidFill>
                <a:effectLst/>
                <a:latin typeface="Arial" panose="020B0604020202020204" pitchFamily="34" charset="0"/>
                <a:cs typeface="Arial" panose="020B0604020202020204" pitchFamily="34" charset="0"/>
              </a:rPr>
              <a:t> </a:t>
            </a:r>
            <a:r>
              <a:rPr lang="en-US" sz="2800" b="1" i="0" dirty="0" err="1">
                <a:solidFill>
                  <a:srgbClr val="000000"/>
                </a:solidFill>
                <a:effectLst/>
                <a:latin typeface="Arial" panose="020B0604020202020204" pitchFamily="34" charset="0"/>
                <a:cs typeface="Arial" panose="020B0604020202020204" pitchFamily="34" charset="0"/>
              </a:rPr>
              <a:t>quả</a:t>
            </a:r>
            <a:r>
              <a:rPr lang="en-US" sz="2800" b="1" i="0" dirty="0">
                <a:solidFill>
                  <a:srgbClr val="000000"/>
                </a:solidFill>
                <a:effectLst/>
                <a:latin typeface="Arial" panose="020B0604020202020204" pitchFamily="34" charset="0"/>
                <a:cs typeface="Arial" panose="020B0604020202020204" pitchFamily="34" charset="0"/>
              </a:rPr>
              <a:t> </a:t>
            </a:r>
            <a:r>
              <a:rPr lang="en-US" sz="2800" b="1" i="0" dirty="0" err="1">
                <a:solidFill>
                  <a:srgbClr val="000000"/>
                </a:solidFill>
                <a:effectLst/>
                <a:latin typeface="Arial" panose="020B0604020202020204" pitchFamily="34" charset="0"/>
                <a:cs typeface="Arial" panose="020B0604020202020204" pitchFamily="34" charset="0"/>
              </a:rPr>
              <a:t>khi</a:t>
            </a:r>
            <a:r>
              <a:rPr lang="en-US" sz="2800" b="1" i="0" dirty="0">
                <a:solidFill>
                  <a:srgbClr val="000000"/>
                </a:solidFill>
                <a:effectLst/>
                <a:latin typeface="Arial" panose="020B0604020202020204" pitchFamily="34" charset="0"/>
                <a:cs typeface="Arial" panose="020B0604020202020204" pitchFamily="34" charset="0"/>
              </a:rPr>
              <a:t> </a:t>
            </a:r>
            <a:r>
              <a:rPr lang="en-US" sz="2800" b="1" i="0" dirty="0" err="1">
                <a:solidFill>
                  <a:srgbClr val="000000"/>
                </a:solidFill>
                <a:effectLst/>
                <a:latin typeface="Arial" panose="020B0604020202020204" pitchFamily="34" charset="0"/>
                <a:cs typeface="Arial" panose="020B0604020202020204" pitchFamily="34" charset="0"/>
              </a:rPr>
              <a:t>dùng</a:t>
            </a:r>
            <a:r>
              <a:rPr lang="en-US" sz="2800" b="1" i="0" dirty="0">
                <a:solidFill>
                  <a:srgbClr val="000000"/>
                </a:solidFill>
                <a:effectLst/>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K-Fold Cross-Validation</a:t>
            </a:r>
            <a:r>
              <a:rPr lang="en-US" sz="2800" b="1" i="0" dirty="0">
                <a:solidFill>
                  <a:srgbClr val="000000"/>
                </a:solidFill>
                <a:effectLst/>
                <a:latin typeface="Arial" panose="020B0604020202020204" pitchFamily="34" charset="0"/>
                <a:cs typeface="Arial" panose="020B0604020202020204" pitchFamily="34" charset="0"/>
              </a:rPr>
              <a:t>:</a:t>
            </a:r>
            <a:endParaRPr lang="en-US" sz="2800" dirty="0">
              <a:effectLst/>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284EBCA-DAB0-07ED-363C-35463AF69500}"/>
              </a:ext>
            </a:extLst>
          </p:cNvPr>
          <p:cNvPicPr>
            <a:picLocks noChangeAspect="1"/>
          </p:cNvPicPr>
          <p:nvPr/>
        </p:nvPicPr>
        <p:blipFill>
          <a:blip r:embed="rId2"/>
          <a:stretch>
            <a:fillRect/>
          </a:stretch>
        </p:blipFill>
        <p:spPr>
          <a:xfrm>
            <a:off x="9694306" y="1055743"/>
            <a:ext cx="4877223" cy="3657917"/>
          </a:xfrm>
          <a:prstGeom prst="rect">
            <a:avLst/>
          </a:prstGeom>
        </p:spPr>
      </p:pic>
      <p:sp>
        <p:nvSpPr>
          <p:cNvPr id="13" name="TextBox 12">
            <a:extLst>
              <a:ext uri="{FF2B5EF4-FFF2-40B4-BE49-F238E27FC236}">
                <a16:creationId xmlns:a16="http://schemas.microsoft.com/office/drawing/2014/main" id="{1EC740E3-F2A8-72BC-74CD-E7ADECDB2167}"/>
              </a:ext>
            </a:extLst>
          </p:cNvPr>
          <p:cNvSpPr txBox="1"/>
          <p:nvPr/>
        </p:nvSpPr>
        <p:spPr>
          <a:xfrm>
            <a:off x="1828798" y="2058530"/>
            <a:ext cx="6764897" cy="2246769"/>
          </a:xfrm>
          <a:prstGeom prst="rect">
            <a:avLst/>
          </a:prstGeom>
          <a:noFill/>
        </p:spPr>
        <p:txBody>
          <a:bodyPr wrap="square">
            <a:spAutoFit/>
          </a:bodyPr>
          <a:lstStyle/>
          <a:p>
            <a:r>
              <a:rPr lang="en-US" sz="2800" b="1" dirty="0"/>
              <a:t>Random Forest:</a:t>
            </a:r>
          </a:p>
          <a:p>
            <a:pPr marL="457200" indent="-457200">
              <a:buFont typeface="Arial" panose="020B0604020202020204" pitchFamily="34" charset="0"/>
              <a:buChar char="•"/>
            </a:pPr>
            <a:r>
              <a:rPr lang="en-US" sz="2800" dirty="0"/>
              <a:t>Min simple split: 2, 3, 4, 5, 7, 10</a:t>
            </a:r>
          </a:p>
          <a:p>
            <a:pPr marL="457200" indent="-457200">
              <a:buFont typeface="Arial" panose="020B0604020202020204" pitchFamily="34" charset="0"/>
              <a:buChar char="•"/>
            </a:pPr>
            <a:r>
              <a:rPr lang="en-US" sz="2800" dirty="0"/>
              <a:t>Min simple leaf: 1, 2, 3, 4, 5</a:t>
            </a:r>
          </a:p>
          <a:p>
            <a:pPr marL="457200" indent="-457200">
              <a:buFont typeface="Arial" panose="020B0604020202020204" pitchFamily="34" charset="0"/>
              <a:buChar char="•"/>
            </a:pPr>
            <a:r>
              <a:rPr lang="en-US" sz="2800" dirty="0" err="1"/>
              <a:t>n_estimators</a:t>
            </a:r>
            <a:r>
              <a:rPr lang="en-US" sz="2800" dirty="0"/>
              <a:t>: 25, 50, 100, 150, 200</a:t>
            </a:r>
          </a:p>
          <a:p>
            <a:pPr marL="457200" indent="-457200">
              <a:buFont typeface="Arial" panose="020B0604020202020204" pitchFamily="34" charset="0"/>
              <a:buChar char="•"/>
            </a:pPr>
            <a:r>
              <a:rPr lang="en-US" sz="2800" dirty="0" err="1"/>
              <a:t>n_jobs</a:t>
            </a:r>
            <a:r>
              <a:rPr lang="en-US" sz="2800" dirty="0"/>
              <a:t>: -1</a:t>
            </a:r>
          </a:p>
        </p:txBody>
      </p:sp>
      <p:sp>
        <p:nvSpPr>
          <p:cNvPr id="14" name="TextBox 13">
            <a:extLst>
              <a:ext uri="{FF2B5EF4-FFF2-40B4-BE49-F238E27FC236}">
                <a16:creationId xmlns:a16="http://schemas.microsoft.com/office/drawing/2014/main" id="{4CA368EF-99D2-5DC8-4B56-8256935E52DA}"/>
              </a:ext>
            </a:extLst>
          </p:cNvPr>
          <p:cNvSpPr txBox="1"/>
          <p:nvPr/>
        </p:nvSpPr>
        <p:spPr>
          <a:xfrm>
            <a:off x="1856507" y="4716787"/>
            <a:ext cx="6764897" cy="2246769"/>
          </a:xfrm>
          <a:prstGeom prst="rect">
            <a:avLst/>
          </a:prstGeom>
          <a:noFill/>
        </p:spPr>
        <p:txBody>
          <a:bodyPr wrap="square">
            <a:spAutoFit/>
          </a:bodyPr>
          <a:lstStyle/>
          <a:p>
            <a:r>
              <a:rPr lang="en-US" sz="2800" b="1" dirty="0"/>
              <a:t>Support Vector Machine:</a:t>
            </a:r>
          </a:p>
          <a:p>
            <a:pPr marL="457200" indent="-457200">
              <a:buFont typeface="Arial" panose="020B0604020202020204" pitchFamily="34" charset="0"/>
              <a:buChar char="•"/>
            </a:pPr>
            <a:r>
              <a:rPr lang="en-US" sz="2800" dirty="0"/>
              <a:t>Regularization strength: 1</a:t>
            </a:r>
          </a:p>
          <a:p>
            <a:pPr marL="457200" indent="-457200">
              <a:buFont typeface="Arial" panose="020B0604020202020204" pitchFamily="34" charset="0"/>
              <a:buChar char="•"/>
            </a:pPr>
            <a:r>
              <a:rPr lang="en-US" sz="2800" dirty="0"/>
              <a:t>Kernel: '</a:t>
            </a:r>
            <a:r>
              <a:rPr lang="en-US" sz="2800" dirty="0" err="1"/>
              <a:t>rbf</a:t>
            </a:r>
            <a:r>
              <a:rPr lang="en-US" sz="2800" dirty="0"/>
              <a:t>’</a:t>
            </a:r>
          </a:p>
          <a:p>
            <a:pPr marL="457200" indent="-457200">
              <a:buFont typeface="Arial" panose="020B0604020202020204" pitchFamily="34" charset="0"/>
              <a:buChar char="•"/>
            </a:pPr>
            <a:r>
              <a:rPr lang="en-US" sz="2800" dirty="0"/>
              <a:t>Gamma: 'scale’</a:t>
            </a:r>
          </a:p>
          <a:p>
            <a:pPr marL="457200" indent="-457200">
              <a:buFont typeface="Arial" panose="020B0604020202020204" pitchFamily="34" charset="0"/>
              <a:buChar char="•"/>
            </a:pPr>
            <a:r>
              <a:rPr lang="en-US" sz="2800" dirty="0"/>
              <a:t>Probability: False</a:t>
            </a:r>
          </a:p>
        </p:txBody>
      </p:sp>
      <p:pic>
        <p:nvPicPr>
          <p:cNvPr id="15" name="Picture 2">
            <a:extLst>
              <a:ext uri="{FF2B5EF4-FFF2-40B4-BE49-F238E27FC236}">
                <a16:creationId xmlns:a16="http://schemas.microsoft.com/office/drawing/2014/main" id="{80400EA5-9ED3-386F-9B84-6F20BDB917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65251" y="4023013"/>
            <a:ext cx="5135331" cy="342355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D256010D-F1B6-4153-41C6-0CE3238D5067}"/>
              </a:ext>
            </a:extLst>
          </p:cNvPr>
          <p:cNvSpPr txBox="1"/>
          <p:nvPr/>
        </p:nvSpPr>
        <p:spPr>
          <a:xfrm>
            <a:off x="1856507" y="7446567"/>
            <a:ext cx="6248401" cy="1815882"/>
          </a:xfrm>
          <a:prstGeom prst="rect">
            <a:avLst/>
          </a:prstGeom>
          <a:noFill/>
        </p:spPr>
        <p:txBody>
          <a:bodyPr wrap="square">
            <a:spAutoFit/>
          </a:bodyPr>
          <a:lstStyle/>
          <a:p>
            <a:r>
              <a:rPr lang="en-US" sz="2800" b="1" dirty="0"/>
              <a:t>K-Nearest Neighbors:</a:t>
            </a:r>
          </a:p>
          <a:p>
            <a:pPr marL="457200" indent="-457200">
              <a:buFont typeface="Arial" panose="020B0604020202020204" pitchFamily="34" charset="0"/>
              <a:buChar char="•"/>
            </a:pPr>
            <a:r>
              <a:rPr lang="en-US" sz="2800" dirty="0" err="1"/>
              <a:t>n_neighbors</a:t>
            </a:r>
            <a:r>
              <a:rPr lang="en-US" sz="2800" dirty="0"/>
              <a:t>: [3, 5, 7, 9, 11]</a:t>
            </a:r>
          </a:p>
          <a:p>
            <a:pPr marL="457200" indent="-457200">
              <a:buFont typeface="Arial" panose="020B0604020202020204" pitchFamily="34" charset="0"/>
              <a:buChar char="•"/>
            </a:pPr>
            <a:r>
              <a:rPr lang="en-US" sz="2800" dirty="0"/>
              <a:t>weights: ‘uniform', 'distance’</a:t>
            </a:r>
          </a:p>
          <a:p>
            <a:pPr marL="457200" indent="-457200">
              <a:buFont typeface="Arial" panose="020B0604020202020204" pitchFamily="34" charset="0"/>
              <a:buChar char="•"/>
            </a:pPr>
            <a:r>
              <a:rPr lang="en-US" sz="2800" dirty="0"/>
              <a:t>metric: '</a:t>
            </a:r>
            <a:r>
              <a:rPr lang="en-US" sz="2800" dirty="0" err="1"/>
              <a:t>euclidean</a:t>
            </a:r>
            <a:r>
              <a:rPr lang="en-US" sz="2800" dirty="0"/>
              <a:t>', '</a:t>
            </a:r>
            <a:r>
              <a:rPr lang="en-US" sz="2800" dirty="0" err="1"/>
              <a:t>manhattan</a:t>
            </a:r>
            <a:r>
              <a:rPr lang="en-US" sz="2800" dirty="0"/>
              <a:t>'</a:t>
            </a:r>
          </a:p>
        </p:txBody>
      </p:sp>
      <p:pic>
        <p:nvPicPr>
          <p:cNvPr id="18" name="Picture 17">
            <a:extLst>
              <a:ext uri="{FF2B5EF4-FFF2-40B4-BE49-F238E27FC236}">
                <a16:creationId xmlns:a16="http://schemas.microsoft.com/office/drawing/2014/main" id="{BE502851-5197-2C39-1687-4C859FC4253D}"/>
              </a:ext>
            </a:extLst>
          </p:cNvPr>
          <p:cNvPicPr>
            <a:picLocks noChangeAspect="1"/>
          </p:cNvPicPr>
          <p:nvPr/>
        </p:nvPicPr>
        <p:blipFill>
          <a:blip r:embed="rId4"/>
          <a:stretch>
            <a:fillRect/>
          </a:stretch>
        </p:blipFill>
        <p:spPr>
          <a:xfrm>
            <a:off x="10061663" y="7449410"/>
            <a:ext cx="4142506" cy="2705100"/>
          </a:xfrm>
          <a:prstGeom prst="rect">
            <a:avLst/>
          </a:prstGeom>
        </p:spPr>
      </p:pic>
      <p:sp>
        <p:nvSpPr>
          <p:cNvPr id="19" name="Freeform 2">
            <a:extLst>
              <a:ext uri="{FF2B5EF4-FFF2-40B4-BE49-F238E27FC236}">
                <a16:creationId xmlns:a16="http://schemas.microsoft.com/office/drawing/2014/main" id="{7C339500-13BE-94A0-852B-1189A157547E}"/>
              </a:ext>
            </a:extLst>
          </p:cNvPr>
          <p:cNvSpPr/>
          <p:nvPr/>
        </p:nvSpPr>
        <p:spPr>
          <a:xfrm>
            <a:off x="-53474" y="-3372"/>
            <a:ext cx="14760074" cy="2271454"/>
          </a:xfrm>
          <a:custGeom>
            <a:avLst/>
            <a:gdLst/>
            <a:ahLst/>
            <a:cxnLst/>
            <a:rect l="l" t="t" r="r" b="b"/>
            <a:pathLst>
              <a:path w="11587539" h="3657241">
                <a:moveTo>
                  <a:pt x="0" y="0"/>
                </a:moveTo>
                <a:lnTo>
                  <a:pt x="11587539" y="0"/>
                </a:lnTo>
                <a:lnTo>
                  <a:pt x="11587539" y="3657241"/>
                </a:lnTo>
                <a:lnTo>
                  <a:pt x="0" y="365724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0" name="Group 3">
            <a:extLst>
              <a:ext uri="{FF2B5EF4-FFF2-40B4-BE49-F238E27FC236}">
                <a16:creationId xmlns:a16="http://schemas.microsoft.com/office/drawing/2014/main" id="{22C4692F-3777-517F-3F86-42F1FFECD629}"/>
              </a:ext>
            </a:extLst>
          </p:cNvPr>
          <p:cNvGrpSpPr/>
          <p:nvPr/>
        </p:nvGrpSpPr>
        <p:grpSpPr>
          <a:xfrm>
            <a:off x="225236" y="-96170"/>
            <a:ext cx="9154392" cy="1308824"/>
            <a:chOff x="0" y="0"/>
            <a:chExt cx="21031200" cy="1745098"/>
          </a:xfrm>
        </p:grpSpPr>
        <p:sp>
          <p:nvSpPr>
            <p:cNvPr id="21" name="Freeform 4">
              <a:extLst>
                <a:ext uri="{FF2B5EF4-FFF2-40B4-BE49-F238E27FC236}">
                  <a16:creationId xmlns:a16="http://schemas.microsoft.com/office/drawing/2014/main" id="{EA7010FB-E3E6-1F1A-FAFA-B276545DBA85}"/>
                </a:ext>
              </a:extLst>
            </p:cNvPr>
            <p:cNvSpPr/>
            <p:nvPr/>
          </p:nvSpPr>
          <p:spPr>
            <a:xfrm>
              <a:off x="0" y="0"/>
              <a:ext cx="21031200" cy="1745098"/>
            </a:xfrm>
            <a:custGeom>
              <a:avLst/>
              <a:gdLst/>
              <a:ahLst/>
              <a:cxnLst/>
              <a:rect l="l" t="t" r="r" b="b"/>
              <a:pathLst>
                <a:path w="21031200" h="1745098">
                  <a:moveTo>
                    <a:pt x="0" y="0"/>
                  </a:moveTo>
                  <a:lnTo>
                    <a:pt x="21031200" y="0"/>
                  </a:lnTo>
                  <a:lnTo>
                    <a:pt x="21031200" y="1745098"/>
                  </a:lnTo>
                  <a:lnTo>
                    <a:pt x="0" y="1745098"/>
                  </a:lnTo>
                  <a:close/>
                </a:path>
              </a:pathLst>
            </a:custGeom>
            <a:solidFill>
              <a:srgbClr val="000000">
                <a:alpha val="0"/>
              </a:srgbClr>
            </a:solidFill>
          </p:spPr>
          <p:txBody>
            <a:bodyPr/>
            <a:lstStyle/>
            <a:p>
              <a:endParaRPr lang="en-US"/>
            </a:p>
          </p:txBody>
        </p:sp>
        <p:sp>
          <p:nvSpPr>
            <p:cNvPr id="22" name="TextBox 5">
              <a:extLst>
                <a:ext uri="{FF2B5EF4-FFF2-40B4-BE49-F238E27FC236}">
                  <a16:creationId xmlns:a16="http://schemas.microsoft.com/office/drawing/2014/main" id="{AC62B252-DE36-0B46-6CD6-6AA320CBC0FF}"/>
                </a:ext>
              </a:extLst>
            </p:cNvPr>
            <p:cNvSpPr txBox="1"/>
            <p:nvPr/>
          </p:nvSpPr>
          <p:spPr>
            <a:xfrm>
              <a:off x="0" y="38100"/>
              <a:ext cx="21031200" cy="1706998"/>
            </a:xfrm>
            <a:prstGeom prst="rect">
              <a:avLst/>
            </a:prstGeom>
          </p:spPr>
          <p:txBody>
            <a:bodyPr lIns="0" tIns="0" rIns="0" bIns="0" rtlCol="0" anchor="ctr"/>
            <a:lstStyle/>
            <a:p>
              <a:pPr algn="l">
                <a:lnSpc>
                  <a:spcPts val="5184"/>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4. Experience and result</a:t>
              </a:r>
            </a:p>
          </p:txBody>
        </p:sp>
      </p:gr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474" y="-3373"/>
            <a:ext cx="11587539" cy="2327473"/>
          </a:xfrm>
          <a:custGeom>
            <a:avLst/>
            <a:gdLst/>
            <a:ahLst/>
            <a:cxnLst/>
            <a:rect l="l" t="t" r="r" b="b"/>
            <a:pathLst>
              <a:path w="11587539" h="3657241">
                <a:moveTo>
                  <a:pt x="0" y="0"/>
                </a:moveTo>
                <a:lnTo>
                  <a:pt x="11587539" y="0"/>
                </a:lnTo>
                <a:lnTo>
                  <a:pt x="11587539" y="3657241"/>
                </a:lnTo>
                <a:lnTo>
                  <a:pt x="0" y="36572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238866" y="-3374"/>
            <a:ext cx="15773400" cy="1308824"/>
            <a:chOff x="0" y="0"/>
            <a:chExt cx="21031200" cy="1745098"/>
          </a:xfrm>
        </p:grpSpPr>
        <p:sp>
          <p:nvSpPr>
            <p:cNvPr id="4" name="Freeform 4"/>
            <p:cNvSpPr/>
            <p:nvPr/>
          </p:nvSpPr>
          <p:spPr>
            <a:xfrm>
              <a:off x="0" y="0"/>
              <a:ext cx="21031200" cy="1745098"/>
            </a:xfrm>
            <a:custGeom>
              <a:avLst/>
              <a:gdLst/>
              <a:ahLst/>
              <a:cxnLst/>
              <a:rect l="l" t="t" r="r" b="b"/>
              <a:pathLst>
                <a:path w="21031200" h="1745098">
                  <a:moveTo>
                    <a:pt x="0" y="0"/>
                  </a:moveTo>
                  <a:lnTo>
                    <a:pt x="21031200" y="0"/>
                  </a:lnTo>
                  <a:lnTo>
                    <a:pt x="21031200" y="1745098"/>
                  </a:lnTo>
                  <a:lnTo>
                    <a:pt x="0" y="1745098"/>
                  </a:lnTo>
                  <a:close/>
                </a:path>
              </a:pathLst>
            </a:custGeom>
            <a:solidFill>
              <a:srgbClr val="000000">
                <a:alpha val="0"/>
              </a:srgbClr>
            </a:solidFill>
          </p:spPr>
          <p:txBody>
            <a:bodyPr/>
            <a:lstStyle/>
            <a:p>
              <a:endParaRPr lang="en-US"/>
            </a:p>
          </p:txBody>
        </p:sp>
        <p:sp>
          <p:nvSpPr>
            <p:cNvPr id="5" name="TextBox 5"/>
            <p:cNvSpPr txBox="1"/>
            <p:nvPr/>
          </p:nvSpPr>
          <p:spPr>
            <a:xfrm>
              <a:off x="0" y="38100"/>
              <a:ext cx="21031200" cy="1706998"/>
            </a:xfrm>
            <a:prstGeom prst="rect">
              <a:avLst/>
            </a:prstGeom>
          </p:spPr>
          <p:txBody>
            <a:bodyPr lIns="0" tIns="0" rIns="0" bIns="0" rtlCol="0" anchor="ctr"/>
            <a:lstStyle/>
            <a:p>
              <a:pPr>
                <a:lnSpc>
                  <a:spcPts val="5184"/>
                </a:lnSpc>
              </a:pPr>
              <a:r>
                <a:rPr lang="en-US" sz="48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5. Conclusion</a:t>
              </a:r>
            </a:p>
          </p:txBody>
        </p:sp>
      </p:grpSp>
      <p:sp>
        <p:nvSpPr>
          <p:cNvPr id="10" name="TextBox 10"/>
          <p:cNvSpPr txBox="1"/>
          <p:nvPr/>
        </p:nvSpPr>
        <p:spPr>
          <a:xfrm>
            <a:off x="1177945" y="2115557"/>
            <a:ext cx="15354300" cy="4580036"/>
          </a:xfrm>
          <a:prstGeom prst="rect">
            <a:avLst/>
          </a:prstGeom>
        </p:spPr>
        <p:txBody>
          <a:bodyPr wrap="square" lIns="0" tIns="0" rIns="0" bIns="0" rtlCol="0" anchor="t">
            <a:spAutoFit/>
          </a:bodyPr>
          <a:lstStyle/>
          <a:p>
            <a:pPr algn="l">
              <a:lnSpc>
                <a:spcPts val="5184"/>
              </a:lnSpc>
              <a:spcBef>
                <a:spcPct val="0"/>
              </a:spcBef>
            </a:pPr>
            <a:r>
              <a:rPr lang="en-US" sz="2700" dirty="0">
                <a:solidFill>
                  <a:srgbClr val="000000"/>
                </a:solidFill>
                <a:latin typeface="Arimo"/>
                <a:ea typeface="Arimo"/>
                <a:cs typeface="Arimo"/>
                <a:sym typeface="Arimo"/>
              </a:rPr>
              <a:t>Qua </a:t>
            </a:r>
            <a:r>
              <a:rPr lang="en-US" sz="2700" dirty="0" err="1">
                <a:solidFill>
                  <a:srgbClr val="000000"/>
                </a:solidFill>
                <a:latin typeface="Arimo"/>
                <a:ea typeface="Arimo"/>
                <a:cs typeface="Arimo"/>
                <a:sym typeface="Arimo"/>
              </a:rPr>
              <a:t>quá</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huấn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luyện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đánh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giá</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chúng</a:t>
            </a:r>
            <a:r>
              <a:rPr lang="en-US" sz="2700" dirty="0">
                <a:solidFill>
                  <a:srgbClr val="000000"/>
                </a:solidFill>
                <a:latin typeface="Arimo"/>
                <a:ea typeface="Arimo"/>
                <a:cs typeface="Arimo"/>
                <a:sym typeface="Arimo"/>
              </a:rPr>
              <a:t> ta </a:t>
            </a:r>
            <a:r>
              <a:rPr lang="en-US" sz="2700" dirty="0" err="1">
                <a:solidFill>
                  <a:srgbClr val="000000"/>
                </a:solidFill>
                <a:latin typeface="Arimo"/>
                <a:ea typeface="Arimo"/>
                <a:cs typeface="Arimo"/>
                <a:sym typeface="Arimo"/>
              </a:rPr>
              <a:t>thấy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b="1" dirty="0">
                <a:solidFill>
                  <a:srgbClr val="000000"/>
                </a:solidFill>
                <a:latin typeface="Arimo"/>
                <a:ea typeface="Arimo"/>
                <a:cs typeface="Arimo"/>
                <a:sym typeface="Arimo"/>
              </a:rPr>
              <a:t>Random Forest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độ</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chính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xác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cao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nhất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điểm</a:t>
            </a:r>
            <a:r>
              <a:rPr lang="en-US" sz="2700" dirty="0">
                <a:solidFill>
                  <a:srgbClr val="000000"/>
                </a:solidFill>
                <a:latin typeface="Arimo"/>
                <a:ea typeface="Arimo"/>
                <a:cs typeface="Arimo"/>
                <a:sym typeface="Arimo"/>
              </a:rPr>
              <a:t> ROC AUC </a:t>
            </a:r>
            <a:r>
              <a:rPr lang="en-US" sz="2700" dirty="0" err="1">
                <a:solidFill>
                  <a:srgbClr val="000000"/>
                </a:solidFill>
                <a:latin typeface="Arimo"/>
                <a:ea typeface="Arimo"/>
                <a:cs typeface="Arimo"/>
                <a:sym typeface="Arimo"/>
              </a:rPr>
              <a:t>đạt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cao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nhất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trong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tất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Mặc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dù</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trong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quá</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huấn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luyện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gặp</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chút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sai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sót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khi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kết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của</a:t>
            </a:r>
            <a:r>
              <a:rPr lang="en-US" sz="2700" dirty="0">
                <a:solidFill>
                  <a:srgbClr val="000000"/>
                </a:solidFill>
                <a:latin typeface="Arimo"/>
                <a:ea typeface="Arimo"/>
                <a:cs typeface="Arimo"/>
                <a:sym typeface="Arimo"/>
              </a:rPr>
              <a:t> SVM </a:t>
            </a:r>
            <a:r>
              <a:rPr lang="en-US" sz="2700" dirty="0" err="1">
                <a:solidFill>
                  <a:srgbClr val="000000"/>
                </a:solidFill>
                <a:latin typeface="Arimo"/>
                <a:ea typeface="Arimo"/>
                <a:cs typeface="Arimo"/>
                <a:sym typeface="Arimo"/>
              </a:rPr>
              <a:t>luôn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cao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hơn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mô</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hình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còn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lại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nhưng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xét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về</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tính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phù</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hợp</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ổn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định</a:t>
            </a:r>
            <a:r>
              <a:rPr lang="en-US" sz="2700" dirty="0">
                <a:solidFill>
                  <a:srgbClr val="000000"/>
                </a:solidFill>
                <a:latin typeface="Arimo"/>
                <a:ea typeface="Arimo"/>
                <a:cs typeface="Arimo"/>
                <a:sym typeface="Arimo"/>
              </a:rPr>
              <a:t>, Random Forest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kết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quả</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nhỉnh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hơn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đôi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chút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trở</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thành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lựa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chọn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tối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ưu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việc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dự</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đoán</a:t>
            </a:r>
            <a:endParaRPr lang="en-US" sz="2700" dirty="0">
              <a:solidFill>
                <a:srgbClr val="000000"/>
              </a:solidFill>
              <a:latin typeface="Arimo"/>
              <a:ea typeface="Arimo"/>
              <a:cs typeface="Arimo"/>
              <a:sym typeface="Arimo"/>
            </a:endParaRPr>
          </a:p>
          <a:p>
            <a:pPr algn="l">
              <a:lnSpc>
                <a:spcPts val="5184"/>
              </a:lnSpc>
              <a:spcBef>
                <a:spcPct val="0"/>
              </a:spcBef>
            </a:pPr>
            <a:endParaRPr lang="en-US" sz="2700" dirty="0">
              <a:solidFill>
                <a:srgbClr val="000000"/>
              </a:solidFill>
              <a:latin typeface="Arimo"/>
              <a:ea typeface="Arimo"/>
              <a:cs typeface="Arimo"/>
              <a:sym typeface="Arimo"/>
            </a:endParaRPr>
          </a:p>
          <a:p>
            <a:pPr algn="l">
              <a:lnSpc>
                <a:spcPts val="5184"/>
              </a:lnSpc>
              <a:spcBef>
                <a:spcPct val="0"/>
              </a:spcBef>
            </a:pPr>
            <a:r>
              <a:rPr lang="en-US" sz="2700" dirty="0">
                <a:solidFill>
                  <a:srgbClr val="000000"/>
                </a:solidFill>
                <a:latin typeface="Arimo"/>
                <a:ea typeface="Arimo"/>
                <a:cs typeface="Arimo"/>
                <a:sym typeface="Arimo"/>
              </a:rPr>
              <a:t>Qua </a:t>
            </a:r>
            <a:r>
              <a:rPr lang="en-US" sz="2700" dirty="0" err="1">
                <a:solidFill>
                  <a:srgbClr val="000000"/>
                </a:solidFill>
                <a:latin typeface="Arimo"/>
                <a:ea typeface="Arimo"/>
                <a:cs typeface="Arimo"/>
                <a:sym typeface="Arimo"/>
              </a:rPr>
              <a:t>đây</a:t>
            </a:r>
            <a:r>
              <a:rPr lang="en-US" sz="2700" dirty="0">
                <a:solidFill>
                  <a:srgbClr val="000000"/>
                </a:solidFill>
                <a:latin typeface="Arimo"/>
                <a:ea typeface="Arimo"/>
                <a:cs typeface="Arimo"/>
                <a:sym typeface="Arimo"/>
              </a:rPr>
              <a:t>, ta </a:t>
            </a:r>
            <a:r>
              <a:rPr lang="en-US" sz="2700" dirty="0" err="1">
                <a:solidFill>
                  <a:srgbClr val="000000"/>
                </a:solidFill>
                <a:latin typeface="Arimo"/>
                <a:ea typeface="Arimo"/>
                <a:cs typeface="Arimo"/>
                <a:sym typeface="Arimo"/>
              </a:rPr>
              <a:t>thấy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vai</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trò</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quan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trọng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của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xử</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lý</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và</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tạo</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đặc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trưng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chúng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thể</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biến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các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tắc</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sống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còn</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của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thảm</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họa</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trở</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thành</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yêu</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tố</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có</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quy</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luật</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rõ</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ràng</a:t>
            </a:r>
            <a:r>
              <a:rPr lang="en-US" sz="2700" dirty="0">
                <a:solidFill>
                  <a:srgbClr val="000000"/>
                </a:solidFill>
                <a:latin typeface="Arimo"/>
                <a:ea typeface="Arimo"/>
                <a:cs typeface="Arimo"/>
                <a:sym typeface="Arimo"/>
              </a:rPr>
              <a:t> </a:t>
            </a:r>
            <a:r>
              <a:rPr lang="en-US" sz="2700" dirty="0" err="1">
                <a:solidFill>
                  <a:srgbClr val="000000"/>
                </a:solidFill>
                <a:latin typeface="Arimo"/>
                <a:ea typeface="Arimo"/>
                <a:cs typeface="Arimo"/>
                <a:sym typeface="Arimo"/>
              </a:rPr>
              <a:t>hơn</a:t>
            </a:r>
            <a:endParaRPr lang="en-US" sz="2700" dirty="0">
              <a:solidFill>
                <a:srgbClr val="000000"/>
              </a:solidFill>
              <a:latin typeface="Arimo"/>
              <a:ea typeface="Arimo"/>
              <a:cs typeface="Arimo"/>
              <a:sym typeface="Arimo"/>
            </a:endParaRPr>
          </a:p>
        </p:txBody>
      </p:sp>
      <p:pic>
        <p:nvPicPr>
          <p:cNvPr id="29" name="Picture 28">
            <a:extLst>
              <a:ext uri="{FF2B5EF4-FFF2-40B4-BE49-F238E27FC236}">
                <a16:creationId xmlns:a16="http://schemas.microsoft.com/office/drawing/2014/main" id="{B26C5D2C-6653-78EA-A7BD-3E78ADF42C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125" y="7505700"/>
            <a:ext cx="15539940" cy="1676173"/>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98D19E-D46F-1060-A2AE-F7CD3A7FD067}"/>
              </a:ext>
            </a:extLst>
          </p:cNvPr>
          <p:cNvPicPr>
            <a:picLocks noChangeAspect="1"/>
          </p:cNvPicPr>
          <p:nvPr/>
        </p:nvPicPr>
        <p:blipFill>
          <a:blip r:embed="rId2"/>
          <a:stretch>
            <a:fillRect/>
          </a:stretch>
        </p:blipFill>
        <p:spPr>
          <a:xfrm>
            <a:off x="2708" y="0"/>
            <a:ext cx="18282583" cy="10287000"/>
          </a:xfrm>
          <a:prstGeom prst="rect">
            <a:avLst/>
          </a:prstGeom>
        </p:spPr>
      </p:pic>
      <p:sp>
        <p:nvSpPr>
          <p:cNvPr id="2" name="Freeform 2"/>
          <p:cNvSpPr/>
          <p:nvPr/>
        </p:nvSpPr>
        <p:spPr>
          <a:xfrm>
            <a:off x="20161" y="-28575"/>
            <a:ext cx="15581212" cy="10325100"/>
          </a:xfrm>
          <a:custGeom>
            <a:avLst/>
            <a:gdLst/>
            <a:ahLst/>
            <a:cxnLst/>
            <a:rect l="l" t="t" r="r" b="b"/>
            <a:pathLst>
              <a:path w="15581212" h="10325100">
                <a:moveTo>
                  <a:pt x="0" y="0"/>
                </a:moveTo>
                <a:lnTo>
                  <a:pt x="15581212" y="0"/>
                </a:lnTo>
                <a:lnTo>
                  <a:pt x="15581212" y="10325100"/>
                </a:lnTo>
                <a:lnTo>
                  <a:pt x="0" y="10325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355935" y="546647"/>
            <a:ext cx="10960919" cy="1846659"/>
          </a:xfrm>
          <a:prstGeom prst="rect">
            <a:avLst/>
          </a:prstGeom>
        </p:spPr>
        <p:txBody>
          <a:bodyPr lIns="0" tIns="0" rIns="0" bIns="0" rtlCol="0" anchor="t">
            <a:spAutoFit/>
          </a:bodyPr>
          <a:lstStyle/>
          <a:p>
            <a:pPr algn="l">
              <a:lnSpc>
                <a:spcPts val="14400"/>
              </a:lnSpc>
            </a:pPr>
            <a:r>
              <a:rPr lang="en-US" sz="12000" dirty="0">
                <a:solidFill>
                  <a:srgbClr val="FFFFFF"/>
                </a:solidFill>
                <a:latin typeface="HYWenHei-85W" panose="00020600040101010101" pitchFamily="18" charset="-128"/>
                <a:ea typeface="HYWenHei-85W" panose="00020600040101010101" pitchFamily="18" charset="-128"/>
                <a:cs typeface="HYWenHei-85W" panose="00020600040101010101" pitchFamily="18" charset="-128"/>
                <a:sym typeface="Arimo"/>
              </a:rPr>
              <a:t>Thank You All</a:t>
            </a:r>
          </a:p>
        </p:txBody>
      </p:sp>
      <p:sp>
        <p:nvSpPr>
          <p:cNvPr id="4" name="AutoShape 4"/>
          <p:cNvSpPr/>
          <p:nvPr/>
        </p:nvSpPr>
        <p:spPr>
          <a:xfrm rot="10767420">
            <a:off x="408561" y="3235125"/>
            <a:ext cx="4020347" cy="0"/>
          </a:xfrm>
          <a:prstGeom prst="line">
            <a:avLst/>
          </a:prstGeom>
          <a:ln w="19050" cap="rnd">
            <a:solidFill>
              <a:srgbClr val="FFFFFF"/>
            </a:solidFill>
            <a:prstDash val="solid"/>
            <a:headEnd type="none" w="sm" len="sm"/>
            <a:tailEnd type="none" w="sm" len="sm"/>
          </a:ln>
        </p:spPr>
        <p:txBody>
          <a:bodyPr/>
          <a:lstStyle/>
          <a:p>
            <a:endParaRPr lang="en-US"/>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519</TotalTime>
  <Words>1709</Words>
  <Application>Microsoft Office PowerPoint</Application>
  <PresentationFormat>Custom</PresentationFormat>
  <Paragraphs>173</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HYWenHei-85W</vt:lpstr>
      <vt:lpstr>Canva Sans</vt:lpstr>
      <vt:lpstr>Arial Italics</vt:lpstr>
      <vt:lpstr>Arial Bold</vt:lpstr>
      <vt:lpstr>Arimo Bold</vt:lpstr>
      <vt:lpstr>Calibri</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paragraph text</dc:title>
  <dc:creator>Akama Asumi</dc:creator>
  <cp:lastModifiedBy>Akama Asumi</cp:lastModifiedBy>
  <cp:revision>7</cp:revision>
  <dcterms:created xsi:type="dcterms:W3CDTF">2006-08-16T00:00:00Z</dcterms:created>
  <dcterms:modified xsi:type="dcterms:W3CDTF">2025-10-30T16:41:02Z</dcterms:modified>
  <dc:identifier>DAG3C7bHhwk</dc:identifier>
</cp:coreProperties>
</file>