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4" r:id="rId20"/>
    <p:sldId id="273" r:id="rId21"/>
    <p:sldId id="275" r:id="rId22"/>
    <p:sldId id="276" r:id="rId23"/>
  </p:sldIdLst>
  <p:sldSz cx="18288000" cy="10287000"/>
  <p:notesSz cx="6858000" cy="9144000"/>
  <p:embeddedFontLst>
    <p:embeddedFont>
      <p:font typeface="Arial Bold" panose="020B0704020202020204" pitchFamily="34" charset="0"/>
      <p:regular r:id="rId24"/>
      <p:bold r:id="rId25"/>
    </p:embeddedFont>
    <p:embeddedFont>
      <p:font typeface="Arimo" panose="020B0604020202020204" charset="0"/>
      <p:regular r:id="rId26"/>
    </p:embeddedFont>
    <p:embeddedFont>
      <p:font typeface="Arimo Bold" panose="020B0604020202020204" charset="0"/>
      <p:regular r:id="rId27"/>
    </p:embeddedFont>
    <p:embeddedFont>
      <p:font typeface="Calibri (MS)" panose="020B0604020202020204" charset="0"/>
      <p:regular r:id="rId28"/>
    </p:embeddedFont>
    <p:embeddedFont>
      <p:font typeface="Canva San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0ABF6B8-4A9C-709E-F592-2351E8012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" y="13080"/>
            <a:ext cx="18225898" cy="1027392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31051" y="0"/>
            <a:ext cx="18289809" cy="6896100"/>
            <a:chOff x="0" y="0"/>
            <a:chExt cx="2203958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39580" cy="13716000"/>
            </a:xfrm>
            <a:custGeom>
              <a:avLst/>
              <a:gdLst/>
              <a:ahLst/>
              <a:cxnLst/>
              <a:rect l="l" t="t" r="r" b="b"/>
              <a:pathLst>
                <a:path w="22039580" h="13716000">
                  <a:moveTo>
                    <a:pt x="0" y="13716000"/>
                  </a:moveTo>
                  <a:lnTo>
                    <a:pt x="0" y="0"/>
                  </a:lnTo>
                  <a:lnTo>
                    <a:pt x="22039580" y="0"/>
                  </a:lnTo>
                  <a:cubicBezTo>
                    <a:pt x="20668235" y="1586230"/>
                    <a:pt x="19000978" y="2907030"/>
                    <a:pt x="17126586" y="3893820"/>
                  </a:cubicBezTo>
                  <a:cubicBezTo>
                    <a:pt x="15291943" y="4860290"/>
                    <a:pt x="13295122" y="5488305"/>
                    <a:pt x="11297286" y="6088380"/>
                  </a:cubicBezTo>
                  <a:cubicBezTo>
                    <a:pt x="9297416" y="6688455"/>
                    <a:pt x="7237350" y="7310755"/>
                    <a:pt x="5399659" y="8211185"/>
                  </a:cubicBezTo>
                  <a:cubicBezTo>
                    <a:pt x="3561969" y="9111615"/>
                    <a:pt x="1945767" y="10289540"/>
                    <a:pt x="835660" y="12002770"/>
                  </a:cubicBezTo>
                  <a:cubicBezTo>
                    <a:pt x="487680" y="12539980"/>
                    <a:pt x="207137" y="13114655"/>
                    <a:pt x="0" y="137160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14216"/>
            <a:ext cx="18289809" cy="6667500"/>
            <a:chOff x="0" y="0"/>
            <a:chExt cx="24386412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6412" cy="13716000"/>
            </a:xfrm>
            <a:custGeom>
              <a:avLst/>
              <a:gdLst/>
              <a:ahLst/>
              <a:cxnLst/>
              <a:rect l="l" t="t" r="r" b="b"/>
              <a:pathLst>
                <a:path w="24386412" h="13716000">
                  <a:moveTo>
                    <a:pt x="0" y="13716000"/>
                  </a:moveTo>
                  <a:lnTo>
                    <a:pt x="0" y="0"/>
                  </a:lnTo>
                  <a:lnTo>
                    <a:pt x="24386412" y="0"/>
                  </a:lnTo>
                  <a:cubicBezTo>
                    <a:pt x="22869017" y="1586230"/>
                    <a:pt x="21024214" y="2907030"/>
                    <a:pt x="18950304" y="3893820"/>
                  </a:cubicBezTo>
                  <a:cubicBezTo>
                    <a:pt x="16920336" y="4860290"/>
                    <a:pt x="14710918" y="5488305"/>
                    <a:pt x="12500356" y="6088380"/>
                  </a:cubicBezTo>
                  <a:cubicBezTo>
                    <a:pt x="10287507" y="6688455"/>
                    <a:pt x="8008111" y="7310755"/>
                    <a:pt x="5974714" y="8211185"/>
                  </a:cubicBezTo>
                  <a:cubicBezTo>
                    <a:pt x="3941317" y="9111615"/>
                    <a:pt x="2153031" y="10289540"/>
                    <a:pt x="924687" y="12002770"/>
                  </a:cubicBezTo>
                  <a:cubicBezTo>
                    <a:pt x="539623" y="12539980"/>
                    <a:pt x="229235" y="13114655"/>
                    <a:pt x="0" y="13716000"/>
                  </a:cubicBezTo>
                  <a:close/>
                </a:path>
              </a:pathLst>
            </a:custGeom>
            <a:solidFill>
              <a:srgbClr val="2866A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2400" y="361010"/>
            <a:ext cx="1614154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Dự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đoán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giá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nhà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bằng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các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mô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hình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máy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học</a:t>
            </a: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812" y="1427085"/>
            <a:ext cx="1278874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Đỗ</a:t>
            </a:r>
            <a:r>
              <a:rPr lang="en-US" sz="27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Nguyễn Thanh Phong, Dương Chí Khang, Trịnh Minh </a:t>
            </a:r>
            <a:r>
              <a:rPr lang="en-US" sz="27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Toàn</a:t>
            </a:r>
            <a:r>
              <a:rPr lang="en-US" sz="27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Cao Thanh Tài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67236" y="509587"/>
            <a:ext cx="9605010" cy="1510474"/>
            <a:chOff x="0" y="0"/>
            <a:chExt cx="12806680" cy="20139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06680" cy="2013966"/>
            </a:xfrm>
            <a:custGeom>
              <a:avLst/>
              <a:gdLst/>
              <a:ahLst/>
              <a:cxnLst/>
              <a:rect l="l" t="t" r="r" b="b"/>
              <a:pathLst>
                <a:path w="12806680" h="2013966">
                  <a:moveTo>
                    <a:pt x="0" y="0"/>
                  </a:moveTo>
                  <a:lnTo>
                    <a:pt x="12806680" y="0"/>
                  </a:lnTo>
                  <a:lnTo>
                    <a:pt x="12806680" y="2013966"/>
                  </a:lnTo>
                  <a:lnTo>
                    <a:pt x="0" y="2013966"/>
                  </a:ln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783980" y="684816"/>
            <a:ext cx="8971521" cy="1131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8740" y="2307908"/>
            <a:ext cx="15590520" cy="708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4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Introduction</a:t>
            </a:r>
          </a:p>
          <a:p>
            <a:pPr algn="l">
              <a:lnSpc>
                <a:spcPts val="10560"/>
              </a:lnSpc>
            </a:pPr>
            <a:r>
              <a:rPr lang="en-US" sz="4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Related works</a:t>
            </a:r>
          </a:p>
          <a:p>
            <a:pPr algn="l">
              <a:lnSpc>
                <a:spcPts val="10560"/>
              </a:lnSpc>
            </a:pPr>
            <a:r>
              <a:rPr lang="en-US" sz="4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Proposed method</a:t>
            </a:r>
          </a:p>
          <a:p>
            <a:pPr algn="l">
              <a:lnSpc>
                <a:spcPts val="10560"/>
              </a:lnSpc>
            </a:pPr>
            <a:r>
              <a:rPr lang="en-US" sz="4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Experiment and Results</a:t>
            </a:r>
          </a:p>
          <a:p>
            <a:pPr algn="l">
              <a:lnSpc>
                <a:spcPts val="10560"/>
              </a:lnSpc>
            </a:pPr>
            <a:r>
              <a:rPr lang="en-US" sz="4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Conclusion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586" y="0"/>
            <a:ext cx="10047801" cy="2717511"/>
          </a:xfrm>
          <a:custGeom>
            <a:avLst/>
            <a:gdLst/>
            <a:ahLst/>
            <a:cxnLst/>
            <a:rect l="l" t="t" r="r" b="b"/>
            <a:pathLst>
              <a:path w="10047801" h="2717511">
                <a:moveTo>
                  <a:pt x="0" y="0"/>
                </a:moveTo>
                <a:lnTo>
                  <a:pt x="10047801" y="0"/>
                </a:lnTo>
                <a:lnTo>
                  <a:pt x="10047801" y="2717511"/>
                </a:lnTo>
                <a:lnTo>
                  <a:pt x="0" y="27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6" b="-116"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7916" y="-3006"/>
            <a:ext cx="5238176" cy="96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1. 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0079" y="2548274"/>
            <a:ext cx="375129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Input: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Bộ</a:t>
            </a: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đặc</a:t>
            </a: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trưng</a:t>
            </a: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mô</a:t>
            </a: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tả</a:t>
            </a: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ngôi</a:t>
            </a: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nhà</a:t>
            </a:r>
            <a:endParaRPr lang="en-US" sz="27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580421" y="2698461"/>
            <a:ext cx="348805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Output: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Giá</a:t>
            </a:r>
            <a:r>
              <a:rPr lang="en-US" sz="27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nhà</a:t>
            </a:r>
            <a:endParaRPr lang="en-US" sz="27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108884" y="3869006"/>
            <a:ext cx="3456242" cy="3456242"/>
            <a:chOff x="0" y="0"/>
            <a:chExt cx="4608323" cy="4608323"/>
          </a:xfrm>
        </p:grpSpPr>
        <p:sp>
          <p:nvSpPr>
            <p:cNvPr id="7" name="Freeform 7" descr="documentos icono vector. reporte ilustración signo. análisis ..."/>
            <p:cNvSpPr/>
            <p:nvPr/>
          </p:nvSpPr>
          <p:spPr>
            <a:xfrm>
              <a:off x="0" y="0"/>
              <a:ext cx="4608322" cy="4608322"/>
            </a:xfrm>
            <a:custGeom>
              <a:avLst/>
              <a:gdLst/>
              <a:ahLst/>
              <a:cxnLst/>
              <a:rect l="l" t="t" r="r" b="b"/>
              <a:pathLst>
                <a:path w="4608322" h="4608322">
                  <a:moveTo>
                    <a:pt x="0" y="0"/>
                  </a:moveTo>
                  <a:lnTo>
                    <a:pt x="4608322" y="0"/>
                  </a:lnTo>
                  <a:lnTo>
                    <a:pt x="4608322" y="4608322"/>
                  </a:lnTo>
                  <a:lnTo>
                    <a:pt x="0" y="4608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41071" y="5587278"/>
            <a:ext cx="2449272" cy="38100"/>
            <a:chOff x="0" y="0"/>
            <a:chExt cx="3265696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65805" cy="50927"/>
            </a:xfrm>
            <a:custGeom>
              <a:avLst/>
              <a:gdLst/>
              <a:ahLst/>
              <a:cxnLst/>
              <a:rect l="l" t="t" r="r" b="b"/>
              <a:pathLst>
                <a:path w="3265805" h="50927">
                  <a:moveTo>
                    <a:pt x="12827" y="0"/>
                  </a:moveTo>
                  <a:lnTo>
                    <a:pt x="3253105" y="25400"/>
                  </a:lnTo>
                  <a:cubicBezTo>
                    <a:pt x="3260090" y="25400"/>
                    <a:pt x="3265805" y="31242"/>
                    <a:pt x="3265678" y="38227"/>
                  </a:cubicBezTo>
                  <a:cubicBezTo>
                    <a:pt x="3265551" y="45212"/>
                    <a:pt x="3259836" y="50927"/>
                    <a:pt x="3252851" y="50800"/>
                  </a:cubicBezTo>
                  <a:lnTo>
                    <a:pt x="12573" y="25400"/>
                  </a:lnTo>
                  <a:cubicBezTo>
                    <a:pt x="5588" y="25400"/>
                    <a:pt x="0" y="19558"/>
                    <a:pt x="0" y="12573"/>
                  </a:cubicBezTo>
                  <a:cubicBezTo>
                    <a:pt x="0" y="5588"/>
                    <a:pt x="5842" y="0"/>
                    <a:pt x="12827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66303" y="5232453"/>
            <a:ext cx="3144965" cy="766191"/>
            <a:chOff x="0" y="0"/>
            <a:chExt cx="4193286" cy="10215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93286" cy="1021588"/>
            </a:xfrm>
            <a:custGeom>
              <a:avLst/>
              <a:gdLst/>
              <a:ahLst/>
              <a:cxnLst/>
              <a:rect l="l" t="t" r="r" b="b"/>
              <a:pathLst>
                <a:path w="4193286" h="1021588">
                  <a:moveTo>
                    <a:pt x="0" y="170307"/>
                  </a:moveTo>
                  <a:cubicBezTo>
                    <a:pt x="0" y="76200"/>
                    <a:pt x="77597" y="0"/>
                    <a:pt x="173482" y="0"/>
                  </a:cubicBezTo>
                  <a:lnTo>
                    <a:pt x="4019804" y="0"/>
                  </a:lnTo>
                  <a:cubicBezTo>
                    <a:pt x="4115562" y="0"/>
                    <a:pt x="4193286" y="76200"/>
                    <a:pt x="4193286" y="170307"/>
                  </a:cubicBezTo>
                  <a:lnTo>
                    <a:pt x="4193286" y="851281"/>
                  </a:lnTo>
                  <a:cubicBezTo>
                    <a:pt x="4193286" y="945261"/>
                    <a:pt x="4115689" y="1021588"/>
                    <a:pt x="4019804" y="1021588"/>
                  </a:cubicBezTo>
                  <a:lnTo>
                    <a:pt x="173482" y="1021588"/>
                  </a:lnTo>
                  <a:cubicBezTo>
                    <a:pt x="77597" y="1021588"/>
                    <a:pt x="0" y="945388"/>
                    <a:pt x="0" y="851281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6956778" y="5222928"/>
            <a:ext cx="3164015" cy="785241"/>
          </a:xfrm>
          <a:custGeom>
            <a:avLst/>
            <a:gdLst/>
            <a:ahLst/>
            <a:cxnLst/>
            <a:rect l="l" t="t" r="r" b="b"/>
            <a:pathLst>
              <a:path w="3164015" h="785241">
                <a:moveTo>
                  <a:pt x="0" y="0"/>
                </a:moveTo>
                <a:lnTo>
                  <a:pt x="3164015" y="0"/>
                </a:lnTo>
                <a:lnTo>
                  <a:pt x="3164015" y="785241"/>
                </a:lnTo>
                <a:lnTo>
                  <a:pt x="0" y="7852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983681" y="5277809"/>
            <a:ext cx="3062431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Model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087387" y="5596487"/>
            <a:ext cx="2448986" cy="38100"/>
            <a:chOff x="0" y="0"/>
            <a:chExt cx="3265315" cy="50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65424" cy="50927"/>
            </a:xfrm>
            <a:custGeom>
              <a:avLst/>
              <a:gdLst/>
              <a:ahLst/>
              <a:cxnLst/>
              <a:rect l="l" t="t" r="r" b="b"/>
              <a:pathLst>
                <a:path w="3265424" h="50927">
                  <a:moveTo>
                    <a:pt x="12827" y="0"/>
                  </a:moveTo>
                  <a:lnTo>
                    <a:pt x="3252724" y="25400"/>
                  </a:lnTo>
                  <a:cubicBezTo>
                    <a:pt x="3259709" y="25400"/>
                    <a:pt x="3265424" y="31242"/>
                    <a:pt x="3265297" y="38227"/>
                  </a:cubicBezTo>
                  <a:cubicBezTo>
                    <a:pt x="3265170" y="45212"/>
                    <a:pt x="3259455" y="50927"/>
                    <a:pt x="3252470" y="50800"/>
                  </a:cubicBezTo>
                  <a:lnTo>
                    <a:pt x="12573" y="25400"/>
                  </a:lnTo>
                  <a:cubicBezTo>
                    <a:pt x="5588" y="25400"/>
                    <a:pt x="0" y="19558"/>
                    <a:pt x="0" y="12573"/>
                  </a:cubicBezTo>
                  <a:cubicBezTo>
                    <a:pt x="0" y="5588"/>
                    <a:pt x="5842" y="0"/>
                    <a:pt x="12827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12446" y="5015731"/>
            <a:ext cx="3494003" cy="1143093"/>
            <a:chOff x="0" y="0"/>
            <a:chExt cx="920231" cy="3010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0231" cy="301062"/>
            </a:xfrm>
            <a:custGeom>
              <a:avLst/>
              <a:gdLst/>
              <a:ahLst/>
              <a:cxnLst/>
              <a:rect l="l" t="t" r="r" b="b"/>
              <a:pathLst>
                <a:path w="920231" h="301062">
                  <a:moveTo>
                    <a:pt x="37668" y="0"/>
                  </a:moveTo>
                  <a:lnTo>
                    <a:pt x="882563" y="0"/>
                  </a:lnTo>
                  <a:cubicBezTo>
                    <a:pt x="903367" y="0"/>
                    <a:pt x="920231" y="16865"/>
                    <a:pt x="920231" y="37668"/>
                  </a:cubicBezTo>
                  <a:lnTo>
                    <a:pt x="920231" y="263393"/>
                  </a:lnTo>
                  <a:cubicBezTo>
                    <a:pt x="920231" y="284197"/>
                    <a:pt x="903367" y="301062"/>
                    <a:pt x="882563" y="301062"/>
                  </a:cubicBezTo>
                  <a:lnTo>
                    <a:pt x="37668" y="301062"/>
                  </a:lnTo>
                  <a:cubicBezTo>
                    <a:pt x="27678" y="301062"/>
                    <a:pt x="18097" y="297093"/>
                    <a:pt x="11033" y="290029"/>
                  </a:cubicBezTo>
                  <a:cubicBezTo>
                    <a:pt x="3969" y="282965"/>
                    <a:pt x="0" y="273384"/>
                    <a:pt x="0" y="263393"/>
                  </a:cubicBezTo>
                  <a:lnTo>
                    <a:pt x="0" y="37668"/>
                  </a:lnTo>
                  <a:cubicBezTo>
                    <a:pt x="0" y="16865"/>
                    <a:pt x="16865" y="0"/>
                    <a:pt x="37668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920231" cy="358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FFFFFF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34900 - 755000đô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74"/>
            <a:ext cx="10047801" cy="2116178"/>
          </a:xfrm>
          <a:custGeom>
            <a:avLst/>
            <a:gdLst/>
            <a:ahLst/>
            <a:cxnLst/>
            <a:rect l="l" t="t" r="r" b="b"/>
            <a:pathLst>
              <a:path w="10047801" h="2558158">
                <a:moveTo>
                  <a:pt x="0" y="0"/>
                </a:moveTo>
                <a:lnTo>
                  <a:pt x="10047801" y="0"/>
                </a:lnTo>
                <a:lnTo>
                  <a:pt x="10047801" y="2558158"/>
                </a:lnTo>
                <a:lnTo>
                  <a:pt x="0" y="2558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4" b="-7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308" y="690031"/>
            <a:ext cx="10375301" cy="9978516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552492"/>
              </p:ext>
            </p:extLst>
          </p:nvPr>
        </p:nvGraphicFramePr>
        <p:xfrm>
          <a:off x="609600" y="2131853"/>
          <a:ext cx="7988716" cy="7507450"/>
        </p:xfrm>
        <a:graphic>
          <a:graphicData uri="http://schemas.openxmlformats.org/drawingml/2006/table">
            <a:tbl>
              <a:tblPr/>
              <a:tblGrid>
                <a:gridCol w="21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3588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SalePrice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Giá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</a:t>
                      </a: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bán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</a:t>
                      </a: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bất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</a:t>
                      </a: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động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</a:t>
                      </a: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sản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</a:t>
                      </a: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tính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</a:t>
                      </a: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bằng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</a:t>
                      </a:r>
                      <a:r>
                        <a:rPr lang="en-US" sz="2199" b="1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đô</a:t>
                      </a:r>
                      <a:r>
                        <a:rPr lang="en-US" sz="2199" b="1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 la.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(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Biến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Mục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Tiêu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972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MSSubClass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Lớp</a:t>
                      </a:r>
                      <a:r>
                        <a:rPr lang="en-US" sz="2199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xây</a:t>
                      </a:r>
                      <a:r>
                        <a:rPr lang="en-US" sz="2199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dựng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870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MSZoning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Phân loại phân vùng chung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870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LotArea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Diện tích lô đất tính bằng feet vuông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870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Đường phố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Loại đường đi vào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870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Hẻm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Loại lối vào hẻm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870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LotShape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Hình dạng chung của bất động sản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870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LandContour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Độ phẳng của bất động sản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5670"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 Bold"/>
                          <a:cs typeface="Arial" panose="020B0604020202020204" pitchFamily="34" charset="0"/>
                          <a:sym typeface="Canva Sans Bold"/>
                        </a:rPr>
                        <a:t>Tiện ích</a:t>
                      </a:r>
                      <a:endParaRPr lang="en-US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Loại</a:t>
                      </a:r>
                      <a:r>
                        <a:rPr lang="en-US" sz="2199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tiện</a:t>
                      </a:r>
                      <a:r>
                        <a:rPr lang="en-US" sz="2199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ích</a:t>
                      </a:r>
                      <a:r>
                        <a:rPr lang="en-US" sz="2199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có</a:t>
                      </a:r>
                      <a:r>
                        <a:rPr lang="en-US" sz="2199" dirty="0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1B1C1D"/>
                          </a:solidFill>
                          <a:latin typeface="Arial" panose="020B0604020202020204" pitchFamily="34" charset="0"/>
                          <a:ea typeface="Canva Sans"/>
                          <a:cs typeface="Arial" panose="020B0604020202020204" pitchFamily="34" charset="0"/>
                          <a:sym typeface="Canva Sans"/>
                        </a:rPr>
                        <a:t>sẵn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329036" y="-114300"/>
            <a:ext cx="5334000" cy="130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1. 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1269" y="1316514"/>
            <a:ext cx="6145530" cy="81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0"/>
              </a:lnSpc>
              <a:spcBef>
                <a:spcPct val="0"/>
              </a:spcBef>
            </a:pPr>
            <a:r>
              <a:rPr lang="en-US" sz="38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Bộ</a:t>
            </a:r>
            <a:r>
              <a:rPr lang="en-US" sz="3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dữ</a:t>
            </a:r>
            <a:r>
              <a:rPr lang="en-US" sz="3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liệu</a:t>
            </a:r>
            <a:r>
              <a:rPr lang="en-US" sz="3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gồm</a:t>
            </a:r>
            <a:r>
              <a:rPr lang="en-US" sz="3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79 </a:t>
            </a:r>
            <a:r>
              <a:rPr lang="en-US" sz="38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đặc</a:t>
            </a:r>
            <a:r>
              <a:rPr lang="en-US" sz="38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trưng</a:t>
            </a:r>
            <a:endParaRPr lang="en-US" sz="38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460709" y="2779406"/>
            <a:ext cx="1508604" cy="77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1460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52251" y="2779406"/>
            <a:ext cx="1464358" cy="77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1460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014" y="-2506"/>
            <a:ext cx="9201639" cy="2088370"/>
          </a:xfrm>
          <a:custGeom>
            <a:avLst/>
            <a:gdLst/>
            <a:ahLst/>
            <a:cxnLst/>
            <a:rect l="l" t="t" r="r" b="b"/>
            <a:pathLst>
              <a:path w="9201639" h="2717511">
                <a:moveTo>
                  <a:pt x="0" y="0"/>
                </a:moveTo>
                <a:lnTo>
                  <a:pt x="9201639" y="0"/>
                </a:lnTo>
                <a:lnTo>
                  <a:pt x="9201639" y="2717511"/>
                </a:lnTo>
                <a:lnTo>
                  <a:pt x="0" y="27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2" b="-72"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73769" y="4130419"/>
            <a:ext cx="7605581" cy="5704186"/>
          </a:xfrm>
          <a:custGeom>
            <a:avLst/>
            <a:gdLst/>
            <a:ahLst/>
            <a:cxnLst/>
            <a:rect l="l" t="t" r="r" b="b"/>
            <a:pathLst>
              <a:path w="7605581" h="5704186">
                <a:moveTo>
                  <a:pt x="0" y="0"/>
                </a:moveTo>
                <a:lnTo>
                  <a:pt x="7605581" y="0"/>
                </a:lnTo>
                <a:lnTo>
                  <a:pt x="7605581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700517" y="2336616"/>
            <a:ext cx="5696578" cy="1543050"/>
            <a:chOff x="0" y="0"/>
            <a:chExt cx="1500333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0333" cy="406400"/>
            </a:xfrm>
            <a:custGeom>
              <a:avLst/>
              <a:gdLst/>
              <a:ahLst/>
              <a:cxnLst/>
              <a:rect l="l" t="t" r="r" b="b"/>
              <a:pathLst>
                <a:path w="1500333" h="406400">
                  <a:moveTo>
                    <a:pt x="1297133" y="0"/>
                  </a:moveTo>
                  <a:cubicBezTo>
                    <a:pt x="1409357" y="0"/>
                    <a:pt x="1500333" y="90976"/>
                    <a:pt x="1500333" y="203200"/>
                  </a:cubicBezTo>
                  <a:cubicBezTo>
                    <a:pt x="1500333" y="315424"/>
                    <a:pt x="1409357" y="406400"/>
                    <a:pt x="12971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1500333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 err="1">
                  <a:solidFill>
                    <a:srgbClr val="FFFFFF"/>
                  </a:solidFill>
                  <a:latin typeface="Arial" panose="020B0604020202020204" pitchFamily="34" charset="0"/>
                  <a:ea typeface="Canva Sans"/>
                  <a:cs typeface="Arial" panose="020B0604020202020204" pitchFamily="34" charset="0"/>
                  <a:sym typeface="Canva Sans"/>
                </a:rPr>
                <a:t>KNeighborsRegressor</a:t>
              </a:r>
              <a:endParaRPr lang="en-US" sz="3799" dirty="0">
                <a:solidFill>
                  <a:srgbClr val="FFFFFF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8949670" y="4130419"/>
            <a:ext cx="7829617" cy="5216482"/>
          </a:xfrm>
          <a:custGeom>
            <a:avLst/>
            <a:gdLst/>
            <a:ahLst/>
            <a:cxnLst/>
            <a:rect l="l" t="t" r="r" b="b"/>
            <a:pathLst>
              <a:path w="7829617" h="5216482">
                <a:moveTo>
                  <a:pt x="0" y="0"/>
                </a:moveTo>
                <a:lnTo>
                  <a:pt x="7829617" y="0"/>
                </a:lnTo>
                <a:lnTo>
                  <a:pt x="7829617" y="5216482"/>
                </a:lnTo>
                <a:lnTo>
                  <a:pt x="0" y="5216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-136539"/>
            <a:ext cx="6810202" cy="96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2. Related Work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91200" y="885738"/>
            <a:ext cx="7329770" cy="96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sz="4800" dirty="0" err="1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Thuật</a:t>
            </a:r>
            <a:r>
              <a:rPr lang="en-US" sz="4800" dirty="0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toán</a:t>
            </a:r>
            <a:r>
              <a:rPr lang="en-US" sz="4800" dirty="0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sử</a:t>
            </a:r>
            <a:r>
              <a:rPr lang="en-US" sz="4800" dirty="0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dụng</a:t>
            </a:r>
            <a:endParaRPr lang="en-US" sz="4800" dirty="0">
              <a:solidFill>
                <a:srgbClr val="000000"/>
              </a:solidFill>
              <a:latin typeface="Arial" panose="020B0604020202020204" pitchFamily="34" charset="0"/>
              <a:ea typeface="Arimo"/>
              <a:cs typeface="Arial" panose="020B0604020202020204" pitchFamily="34" charset="0"/>
              <a:sym typeface="Arimo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016190" y="2336616"/>
            <a:ext cx="5696578" cy="1543050"/>
            <a:chOff x="0" y="0"/>
            <a:chExt cx="1500333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00333" cy="406400"/>
            </a:xfrm>
            <a:custGeom>
              <a:avLst/>
              <a:gdLst/>
              <a:ahLst/>
              <a:cxnLst/>
              <a:rect l="l" t="t" r="r" b="b"/>
              <a:pathLst>
                <a:path w="1500333" h="406400">
                  <a:moveTo>
                    <a:pt x="1297133" y="0"/>
                  </a:moveTo>
                  <a:cubicBezTo>
                    <a:pt x="1409357" y="0"/>
                    <a:pt x="1500333" y="90976"/>
                    <a:pt x="1500333" y="203200"/>
                  </a:cubicBezTo>
                  <a:cubicBezTo>
                    <a:pt x="1500333" y="315424"/>
                    <a:pt x="1409357" y="406400"/>
                    <a:pt x="12971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1500333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 err="1">
                  <a:solidFill>
                    <a:srgbClr val="FFFFFF"/>
                  </a:solidFill>
                  <a:latin typeface="Arial" panose="020B0604020202020204" pitchFamily="34" charset="0"/>
                  <a:ea typeface="Canva Sans"/>
                  <a:cs typeface="Arial" panose="020B0604020202020204" pitchFamily="34" charset="0"/>
                  <a:sym typeface="Canva Sans"/>
                </a:rPr>
                <a:t>LinearRegression</a:t>
              </a:r>
              <a:endParaRPr lang="en-US" sz="3799" dirty="0">
                <a:solidFill>
                  <a:srgbClr val="FFFFFF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014" y="-2507"/>
            <a:ext cx="9201639" cy="2717511"/>
          </a:xfrm>
          <a:custGeom>
            <a:avLst/>
            <a:gdLst/>
            <a:ahLst/>
            <a:cxnLst/>
            <a:rect l="l" t="t" r="r" b="b"/>
            <a:pathLst>
              <a:path w="9201639" h="2717511">
                <a:moveTo>
                  <a:pt x="0" y="0"/>
                </a:moveTo>
                <a:lnTo>
                  <a:pt x="9201639" y="0"/>
                </a:lnTo>
                <a:lnTo>
                  <a:pt x="9201639" y="2717511"/>
                </a:lnTo>
                <a:lnTo>
                  <a:pt x="0" y="27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2" b="-72"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5943600" y="2465283"/>
            <a:ext cx="5696578" cy="1543050"/>
            <a:chOff x="0" y="0"/>
            <a:chExt cx="1500333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00333" cy="406400"/>
            </a:xfrm>
            <a:custGeom>
              <a:avLst/>
              <a:gdLst/>
              <a:ahLst/>
              <a:cxnLst/>
              <a:rect l="l" t="t" r="r" b="b"/>
              <a:pathLst>
                <a:path w="1500333" h="406400">
                  <a:moveTo>
                    <a:pt x="1297133" y="0"/>
                  </a:moveTo>
                  <a:cubicBezTo>
                    <a:pt x="1409357" y="0"/>
                    <a:pt x="1500333" y="90976"/>
                    <a:pt x="1500333" y="203200"/>
                  </a:cubicBezTo>
                  <a:cubicBezTo>
                    <a:pt x="1500333" y="315424"/>
                    <a:pt x="1409357" y="406400"/>
                    <a:pt x="12971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500333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 err="1">
                  <a:solidFill>
                    <a:srgbClr val="FFFFFF"/>
                  </a:solidFill>
                  <a:latin typeface="Arial" panose="020B0604020202020204" pitchFamily="34" charset="0"/>
                  <a:ea typeface="Canva Sans"/>
                  <a:cs typeface="Arial" panose="020B0604020202020204" pitchFamily="34" charset="0"/>
                  <a:sym typeface="Canva Sans"/>
                </a:rPr>
                <a:t>DecisionTreeRegressor</a:t>
              </a:r>
              <a:endParaRPr lang="en-US" sz="3799" dirty="0">
                <a:solidFill>
                  <a:srgbClr val="FFFFFF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3493370" y="3989221"/>
            <a:ext cx="11301259" cy="5255085"/>
          </a:xfrm>
          <a:custGeom>
            <a:avLst/>
            <a:gdLst/>
            <a:ahLst/>
            <a:cxnLst/>
            <a:rect l="l" t="t" r="r" b="b"/>
            <a:pathLst>
              <a:path w="11301259" h="5255085">
                <a:moveTo>
                  <a:pt x="0" y="0"/>
                </a:moveTo>
                <a:lnTo>
                  <a:pt x="11301259" y="0"/>
                </a:lnTo>
                <a:lnTo>
                  <a:pt x="11301259" y="5255085"/>
                </a:lnTo>
                <a:lnTo>
                  <a:pt x="0" y="5255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2400" y="-65508"/>
            <a:ext cx="6810202" cy="967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mo"/>
                <a:cs typeface="Arial" panose="020B0604020202020204" pitchFamily="34" charset="0"/>
                <a:sym typeface="Arimo"/>
              </a:rPr>
              <a:t>2. Related Work 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014" y="-2507"/>
            <a:ext cx="9201639" cy="2717511"/>
          </a:xfrm>
          <a:custGeom>
            <a:avLst/>
            <a:gdLst/>
            <a:ahLst/>
            <a:cxnLst/>
            <a:rect l="l" t="t" r="r" b="b"/>
            <a:pathLst>
              <a:path w="9201639" h="2717511">
                <a:moveTo>
                  <a:pt x="0" y="0"/>
                </a:moveTo>
                <a:lnTo>
                  <a:pt x="9201639" y="0"/>
                </a:lnTo>
                <a:lnTo>
                  <a:pt x="9201639" y="2717511"/>
                </a:lnTo>
                <a:lnTo>
                  <a:pt x="0" y="27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2" b="-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3839" y="4263696"/>
            <a:ext cx="9370511" cy="5190963"/>
          </a:xfrm>
          <a:custGeom>
            <a:avLst/>
            <a:gdLst/>
            <a:ahLst/>
            <a:cxnLst/>
            <a:rect l="l" t="t" r="r" b="b"/>
            <a:pathLst>
              <a:path w="9370511" h="5190963">
                <a:moveTo>
                  <a:pt x="0" y="0"/>
                </a:moveTo>
                <a:lnTo>
                  <a:pt x="9370510" y="0"/>
                </a:lnTo>
                <a:lnTo>
                  <a:pt x="9370510" y="5190963"/>
                </a:lnTo>
                <a:lnTo>
                  <a:pt x="0" y="5190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0" b="-7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4145" y="-77614"/>
            <a:ext cx="6810202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Related Work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43327" y="2336616"/>
            <a:ext cx="7311534" cy="1543050"/>
            <a:chOff x="0" y="0"/>
            <a:chExt cx="1925672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5672" cy="406400"/>
            </a:xfrm>
            <a:custGeom>
              <a:avLst/>
              <a:gdLst/>
              <a:ahLst/>
              <a:cxnLst/>
              <a:rect l="l" t="t" r="r" b="b"/>
              <a:pathLst>
                <a:path w="1925672" h="406400">
                  <a:moveTo>
                    <a:pt x="1722472" y="0"/>
                  </a:moveTo>
                  <a:cubicBezTo>
                    <a:pt x="1834696" y="0"/>
                    <a:pt x="1925672" y="90976"/>
                    <a:pt x="1925672" y="203200"/>
                  </a:cubicBezTo>
                  <a:cubicBezTo>
                    <a:pt x="1925672" y="315424"/>
                    <a:pt x="1834696" y="406400"/>
                    <a:pt x="172247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6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925672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GradientBoostingRegressor</a:t>
              </a:r>
              <a:endParaRPr lang="en-US" sz="3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9820039" y="4087996"/>
            <a:ext cx="8293416" cy="5542364"/>
          </a:xfrm>
          <a:custGeom>
            <a:avLst/>
            <a:gdLst/>
            <a:ahLst/>
            <a:cxnLst/>
            <a:rect l="l" t="t" r="r" b="b"/>
            <a:pathLst>
              <a:path w="8293416" h="5542364">
                <a:moveTo>
                  <a:pt x="0" y="0"/>
                </a:moveTo>
                <a:lnTo>
                  <a:pt x="8293415" y="0"/>
                </a:lnTo>
                <a:lnTo>
                  <a:pt x="8293415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1406053" y="2336616"/>
            <a:ext cx="6050541" cy="1543050"/>
            <a:chOff x="0" y="0"/>
            <a:chExt cx="1593558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3558" cy="406400"/>
            </a:xfrm>
            <a:custGeom>
              <a:avLst/>
              <a:gdLst/>
              <a:ahLst/>
              <a:cxnLst/>
              <a:rect l="l" t="t" r="r" b="b"/>
              <a:pathLst>
                <a:path w="1593558" h="406400">
                  <a:moveTo>
                    <a:pt x="1390358" y="0"/>
                  </a:moveTo>
                  <a:cubicBezTo>
                    <a:pt x="1502582" y="0"/>
                    <a:pt x="1593558" y="90976"/>
                    <a:pt x="1593558" y="203200"/>
                  </a:cubicBezTo>
                  <a:cubicBezTo>
                    <a:pt x="1593558" y="315424"/>
                    <a:pt x="1502582" y="406400"/>
                    <a:pt x="13903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593558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RandomForestRegressor</a:t>
              </a:r>
              <a:endParaRPr lang="en-US" sz="3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014" y="-2507"/>
            <a:ext cx="9201639" cy="2717511"/>
          </a:xfrm>
          <a:custGeom>
            <a:avLst/>
            <a:gdLst/>
            <a:ahLst/>
            <a:cxnLst/>
            <a:rect l="l" t="t" r="r" b="b"/>
            <a:pathLst>
              <a:path w="9201639" h="2717511">
                <a:moveTo>
                  <a:pt x="0" y="0"/>
                </a:moveTo>
                <a:lnTo>
                  <a:pt x="9201639" y="0"/>
                </a:lnTo>
                <a:lnTo>
                  <a:pt x="9201639" y="2717511"/>
                </a:lnTo>
                <a:lnTo>
                  <a:pt x="0" y="27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2" b="-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46015" y="3817873"/>
            <a:ext cx="7605581" cy="5704186"/>
          </a:xfrm>
          <a:custGeom>
            <a:avLst/>
            <a:gdLst/>
            <a:ahLst/>
            <a:cxnLst/>
            <a:rect l="l" t="t" r="r" b="b"/>
            <a:pathLst>
              <a:path w="7605581" h="5704186">
                <a:moveTo>
                  <a:pt x="0" y="0"/>
                </a:moveTo>
                <a:lnTo>
                  <a:pt x="7605581" y="0"/>
                </a:lnTo>
                <a:lnTo>
                  <a:pt x="7605581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523535" y="1943479"/>
            <a:ext cx="6050541" cy="1543050"/>
            <a:chOff x="0" y="0"/>
            <a:chExt cx="1593558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93558" cy="406400"/>
            </a:xfrm>
            <a:custGeom>
              <a:avLst/>
              <a:gdLst/>
              <a:ahLst/>
              <a:cxnLst/>
              <a:rect l="l" t="t" r="r" b="b"/>
              <a:pathLst>
                <a:path w="1593558" h="406400">
                  <a:moveTo>
                    <a:pt x="1390358" y="0"/>
                  </a:moveTo>
                  <a:cubicBezTo>
                    <a:pt x="1502582" y="0"/>
                    <a:pt x="1593558" y="90976"/>
                    <a:pt x="1593558" y="203200"/>
                  </a:cubicBezTo>
                  <a:cubicBezTo>
                    <a:pt x="1593558" y="315424"/>
                    <a:pt x="1502582" y="406400"/>
                    <a:pt x="13903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1593558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SGDRegressor</a:t>
              </a:r>
              <a:endParaRPr lang="en-US" sz="3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8764059" y="4152227"/>
            <a:ext cx="7750652" cy="5106073"/>
          </a:xfrm>
          <a:custGeom>
            <a:avLst/>
            <a:gdLst/>
            <a:ahLst/>
            <a:cxnLst/>
            <a:rect l="l" t="t" r="r" b="b"/>
            <a:pathLst>
              <a:path w="7750652" h="5106073">
                <a:moveTo>
                  <a:pt x="0" y="0"/>
                </a:moveTo>
                <a:lnTo>
                  <a:pt x="7750652" y="0"/>
                </a:lnTo>
                <a:lnTo>
                  <a:pt x="7750652" y="5106073"/>
                </a:lnTo>
                <a:lnTo>
                  <a:pt x="0" y="5106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52400" y="-108795"/>
            <a:ext cx="6810202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Related Work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060435" y="1943479"/>
            <a:ext cx="6050541" cy="1543050"/>
            <a:chOff x="0" y="0"/>
            <a:chExt cx="1593558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3558" cy="406400"/>
            </a:xfrm>
            <a:custGeom>
              <a:avLst/>
              <a:gdLst/>
              <a:ahLst/>
              <a:cxnLst/>
              <a:rect l="l" t="t" r="r" b="b"/>
              <a:pathLst>
                <a:path w="1593558" h="406400">
                  <a:moveTo>
                    <a:pt x="1390358" y="0"/>
                  </a:moveTo>
                  <a:cubicBezTo>
                    <a:pt x="1502582" y="0"/>
                    <a:pt x="1593558" y="90976"/>
                    <a:pt x="1593558" y="203200"/>
                  </a:cubicBezTo>
                  <a:cubicBezTo>
                    <a:pt x="1593558" y="315424"/>
                    <a:pt x="1502582" y="406400"/>
                    <a:pt x="13903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593558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SVR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014" y="-2507"/>
            <a:ext cx="9201639" cy="2717511"/>
          </a:xfrm>
          <a:custGeom>
            <a:avLst/>
            <a:gdLst/>
            <a:ahLst/>
            <a:cxnLst/>
            <a:rect l="l" t="t" r="r" b="b"/>
            <a:pathLst>
              <a:path w="9201639" h="2717511">
                <a:moveTo>
                  <a:pt x="0" y="0"/>
                </a:moveTo>
                <a:lnTo>
                  <a:pt x="9201639" y="0"/>
                </a:lnTo>
                <a:lnTo>
                  <a:pt x="9201639" y="2717511"/>
                </a:lnTo>
                <a:lnTo>
                  <a:pt x="0" y="27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2" b="-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93371" y="4158607"/>
            <a:ext cx="11301259" cy="5099693"/>
          </a:xfrm>
          <a:custGeom>
            <a:avLst/>
            <a:gdLst/>
            <a:ahLst/>
            <a:cxnLst/>
            <a:rect l="l" t="t" r="r" b="b"/>
            <a:pathLst>
              <a:path w="11301259" h="5099693">
                <a:moveTo>
                  <a:pt x="0" y="0"/>
                </a:moveTo>
                <a:lnTo>
                  <a:pt x="11301258" y="0"/>
                </a:lnTo>
                <a:lnTo>
                  <a:pt x="11301258" y="5099693"/>
                </a:lnTo>
                <a:lnTo>
                  <a:pt x="0" y="509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28600" y="-48764"/>
            <a:ext cx="6810202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2. Related Work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124355" y="1943479"/>
            <a:ext cx="6050541" cy="1543050"/>
            <a:chOff x="0" y="0"/>
            <a:chExt cx="1593558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93558" cy="406400"/>
            </a:xfrm>
            <a:custGeom>
              <a:avLst/>
              <a:gdLst/>
              <a:ahLst/>
              <a:cxnLst/>
              <a:rect l="l" t="t" r="r" b="b"/>
              <a:pathLst>
                <a:path w="1593558" h="406400">
                  <a:moveTo>
                    <a:pt x="1390358" y="0"/>
                  </a:moveTo>
                  <a:cubicBezTo>
                    <a:pt x="1502582" y="0"/>
                    <a:pt x="1593558" y="90976"/>
                    <a:pt x="1593558" y="203200"/>
                  </a:cubicBezTo>
                  <a:cubicBezTo>
                    <a:pt x="1593558" y="315424"/>
                    <a:pt x="1502582" y="406400"/>
                    <a:pt x="13903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593558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  <a:spcBef>
                  <a:spcPct val="0"/>
                </a:spcBef>
              </a:pPr>
              <a:r>
                <a:rPr lang="en-US" sz="3799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SVXGBRegressor</a:t>
              </a:r>
              <a:endParaRPr lang="en-US" sz="3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02682" y="4538776"/>
            <a:ext cx="4141929" cy="1776412"/>
            <a:chOff x="0" y="0"/>
            <a:chExt cx="5522572" cy="23685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22595" cy="2368550"/>
            </a:xfrm>
            <a:custGeom>
              <a:avLst/>
              <a:gdLst/>
              <a:ahLst/>
              <a:cxnLst/>
              <a:rect l="l" t="t" r="r" b="b"/>
              <a:pathLst>
                <a:path w="5522595" h="2368550">
                  <a:moveTo>
                    <a:pt x="0" y="0"/>
                  </a:moveTo>
                  <a:lnTo>
                    <a:pt x="4141978" y="0"/>
                  </a:lnTo>
                  <a:lnTo>
                    <a:pt x="5522595" y="1184275"/>
                  </a:lnTo>
                  <a:lnTo>
                    <a:pt x="4141978" y="2368550"/>
                  </a:lnTo>
                  <a:lnTo>
                    <a:pt x="0" y="2368550"/>
                  </a:lnTo>
                  <a:lnTo>
                    <a:pt x="1380617" y="1184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308729" y="4372237"/>
            <a:ext cx="2847576" cy="1942951"/>
            <a:chOff x="0" y="0"/>
            <a:chExt cx="3796768" cy="25906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96768" cy="2590601"/>
            </a:xfrm>
            <a:custGeom>
              <a:avLst/>
              <a:gdLst/>
              <a:ahLst/>
              <a:cxnLst/>
              <a:rect l="l" t="t" r="r" b="b"/>
              <a:pathLst>
                <a:path w="3796768" h="2590601">
                  <a:moveTo>
                    <a:pt x="0" y="0"/>
                  </a:moveTo>
                  <a:lnTo>
                    <a:pt x="3796768" y="0"/>
                  </a:lnTo>
                  <a:lnTo>
                    <a:pt x="3796768" y="2590601"/>
                  </a:lnTo>
                  <a:lnTo>
                    <a:pt x="0" y="2590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96768" cy="2647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Phân tích và khám phá dữ liệu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47118" y="4538776"/>
            <a:ext cx="3552825" cy="1776412"/>
            <a:chOff x="0" y="0"/>
            <a:chExt cx="4737100" cy="2368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37100" cy="2368550"/>
            </a:xfrm>
            <a:custGeom>
              <a:avLst/>
              <a:gdLst/>
              <a:ahLst/>
              <a:cxnLst/>
              <a:rect l="l" t="t" r="r" b="b"/>
              <a:pathLst>
                <a:path w="4737100" h="2368550">
                  <a:moveTo>
                    <a:pt x="0" y="0"/>
                  </a:moveTo>
                  <a:lnTo>
                    <a:pt x="3552825" y="0"/>
                  </a:lnTo>
                  <a:lnTo>
                    <a:pt x="4737100" y="1184275"/>
                  </a:lnTo>
                  <a:lnTo>
                    <a:pt x="3552825" y="2368550"/>
                  </a:lnTo>
                  <a:lnTo>
                    <a:pt x="0" y="2368550"/>
                  </a:lnTo>
                  <a:lnTo>
                    <a:pt x="1184275" y="1184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724298" y="4372237"/>
            <a:ext cx="2442567" cy="1942951"/>
            <a:chOff x="0" y="0"/>
            <a:chExt cx="3256756" cy="25906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6756" cy="2590601"/>
            </a:xfrm>
            <a:custGeom>
              <a:avLst/>
              <a:gdLst/>
              <a:ahLst/>
              <a:cxnLst/>
              <a:rect l="l" t="t" r="r" b="b"/>
              <a:pathLst>
                <a:path w="3256756" h="2590601">
                  <a:moveTo>
                    <a:pt x="0" y="0"/>
                  </a:moveTo>
                  <a:lnTo>
                    <a:pt x="3256756" y="0"/>
                  </a:lnTo>
                  <a:lnTo>
                    <a:pt x="3256756" y="2590601"/>
                  </a:lnTo>
                  <a:lnTo>
                    <a:pt x="0" y="2590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256756" cy="2647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Xử lí dữ liệu và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chọn đặc trưng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71189" y="4538776"/>
            <a:ext cx="3729807" cy="1776412"/>
            <a:chOff x="0" y="0"/>
            <a:chExt cx="4973076" cy="23685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73066" cy="2368550"/>
            </a:xfrm>
            <a:custGeom>
              <a:avLst/>
              <a:gdLst/>
              <a:ahLst/>
              <a:cxnLst/>
              <a:rect l="l" t="t" r="r" b="b"/>
              <a:pathLst>
                <a:path w="4973066" h="2368550">
                  <a:moveTo>
                    <a:pt x="0" y="0"/>
                  </a:moveTo>
                  <a:lnTo>
                    <a:pt x="3788791" y="0"/>
                  </a:lnTo>
                  <a:lnTo>
                    <a:pt x="4973066" y="1184275"/>
                  </a:lnTo>
                  <a:lnTo>
                    <a:pt x="3788791" y="2368550"/>
                  </a:lnTo>
                  <a:lnTo>
                    <a:pt x="0" y="2368550"/>
                  </a:lnTo>
                  <a:lnTo>
                    <a:pt x="1184275" y="1184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48370" y="4372237"/>
            <a:ext cx="2619549" cy="1942951"/>
            <a:chOff x="0" y="0"/>
            <a:chExt cx="3492732" cy="25906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92732" cy="2590601"/>
            </a:xfrm>
            <a:custGeom>
              <a:avLst/>
              <a:gdLst/>
              <a:ahLst/>
              <a:cxnLst/>
              <a:rect l="l" t="t" r="r" b="b"/>
              <a:pathLst>
                <a:path w="3492732" h="2590601">
                  <a:moveTo>
                    <a:pt x="0" y="0"/>
                  </a:moveTo>
                  <a:lnTo>
                    <a:pt x="3492732" y="0"/>
                  </a:lnTo>
                  <a:lnTo>
                    <a:pt x="3492732" y="2590601"/>
                  </a:lnTo>
                  <a:lnTo>
                    <a:pt x="0" y="2590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492732" cy="2647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Sử dụng mô hình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58800" y="4538776"/>
            <a:ext cx="4038600" cy="1776412"/>
            <a:chOff x="0" y="0"/>
            <a:chExt cx="4737100" cy="23685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37100" cy="2368550"/>
            </a:xfrm>
            <a:custGeom>
              <a:avLst/>
              <a:gdLst/>
              <a:ahLst/>
              <a:cxnLst/>
              <a:rect l="l" t="t" r="r" b="b"/>
              <a:pathLst>
                <a:path w="4737100" h="2368550">
                  <a:moveTo>
                    <a:pt x="0" y="0"/>
                  </a:moveTo>
                  <a:lnTo>
                    <a:pt x="3552825" y="0"/>
                  </a:lnTo>
                  <a:lnTo>
                    <a:pt x="4737100" y="1184275"/>
                  </a:lnTo>
                  <a:lnTo>
                    <a:pt x="3552825" y="2368550"/>
                  </a:lnTo>
                  <a:lnTo>
                    <a:pt x="0" y="2368550"/>
                  </a:lnTo>
                  <a:lnTo>
                    <a:pt x="1184275" y="1184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323480" y="4329373"/>
            <a:ext cx="2684498" cy="1985815"/>
            <a:chOff x="0" y="-57152"/>
            <a:chExt cx="3579331" cy="2647753"/>
          </a:xfrm>
        </p:grpSpPr>
        <p:sp>
          <p:nvSpPr>
            <p:cNvPr id="20" name="Freeform 20"/>
            <p:cNvSpPr/>
            <p:nvPr/>
          </p:nvSpPr>
          <p:spPr>
            <a:xfrm>
              <a:off x="322575" y="-57152"/>
              <a:ext cx="3256756" cy="2590601"/>
            </a:xfrm>
            <a:custGeom>
              <a:avLst/>
              <a:gdLst/>
              <a:ahLst/>
              <a:cxnLst/>
              <a:rect l="l" t="t" r="r" b="b"/>
              <a:pathLst>
                <a:path w="3256756" h="2590601">
                  <a:moveTo>
                    <a:pt x="0" y="0"/>
                  </a:moveTo>
                  <a:lnTo>
                    <a:pt x="3256756" y="0"/>
                  </a:lnTo>
                  <a:lnTo>
                    <a:pt x="3256756" y="2590601"/>
                  </a:lnTo>
                  <a:lnTo>
                    <a:pt x="0" y="2590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3256756" cy="2647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Đánh</a:t>
              </a:r>
              <a:r>
                <a:rPr lang="en-US" sz="2399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39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giá</a:t>
              </a:r>
              <a:r>
                <a:rPr lang="en-US" sz="2399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39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mô</a:t>
              </a:r>
              <a:r>
                <a:rPr lang="en-US" sz="2399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399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hình</a:t>
              </a:r>
              <a:endParaRPr lang="en-US" sz="23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6762" y="4538776"/>
            <a:ext cx="3552825" cy="1776412"/>
            <a:chOff x="0" y="0"/>
            <a:chExt cx="4737100" cy="23685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37100" cy="2368550"/>
            </a:xfrm>
            <a:custGeom>
              <a:avLst/>
              <a:gdLst/>
              <a:ahLst/>
              <a:cxnLst/>
              <a:rect l="l" t="t" r="r" b="b"/>
              <a:pathLst>
                <a:path w="4737100" h="2368550">
                  <a:moveTo>
                    <a:pt x="0" y="0"/>
                  </a:moveTo>
                  <a:lnTo>
                    <a:pt x="3552825" y="0"/>
                  </a:lnTo>
                  <a:lnTo>
                    <a:pt x="4737100" y="1184275"/>
                  </a:lnTo>
                  <a:lnTo>
                    <a:pt x="3552825" y="2368550"/>
                  </a:lnTo>
                  <a:lnTo>
                    <a:pt x="0" y="2368550"/>
                  </a:lnTo>
                  <a:lnTo>
                    <a:pt x="1184275" y="1184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3942" y="4372237"/>
            <a:ext cx="2442567" cy="1942951"/>
            <a:chOff x="0" y="0"/>
            <a:chExt cx="3256756" cy="25906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56756" cy="2590601"/>
            </a:xfrm>
            <a:custGeom>
              <a:avLst/>
              <a:gdLst/>
              <a:ahLst/>
              <a:cxnLst/>
              <a:rect l="l" t="t" r="r" b="b"/>
              <a:pathLst>
                <a:path w="3256756" h="2590601">
                  <a:moveTo>
                    <a:pt x="0" y="0"/>
                  </a:moveTo>
                  <a:lnTo>
                    <a:pt x="3256756" y="0"/>
                  </a:lnTo>
                  <a:lnTo>
                    <a:pt x="3256756" y="2590601"/>
                  </a:lnTo>
                  <a:lnTo>
                    <a:pt x="0" y="2590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3256756" cy="2647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 input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-53026" y="-22205"/>
            <a:ext cx="12549825" cy="2651106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63830" y="-114300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026" y="-22205"/>
            <a:ext cx="12549825" cy="2651106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804031" y="1058910"/>
            <a:ext cx="10206841" cy="1304162"/>
            <a:chOff x="0" y="0"/>
            <a:chExt cx="3180633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80633" cy="406400"/>
            </a:xfrm>
            <a:custGeom>
              <a:avLst/>
              <a:gdLst/>
              <a:ahLst/>
              <a:cxnLst/>
              <a:rect l="l" t="t" r="r" b="b"/>
              <a:pathLst>
                <a:path w="3180633" h="406400">
                  <a:moveTo>
                    <a:pt x="2977433" y="0"/>
                  </a:moveTo>
                  <a:cubicBezTo>
                    <a:pt x="3089657" y="0"/>
                    <a:pt x="3180633" y="90976"/>
                    <a:pt x="3180633" y="203200"/>
                  </a:cubicBezTo>
                  <a:cubicBezTo>
                    <a:pt x="3180633" y="315424"/>
                    <a:pt x="3089657" y="406400"/>
                    <a:pt x="29774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3180633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Phân tích và khám phá dữ liệu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681053" y="2955341"/>
            <a:ext cx="11042026" cy="6302959"/>
          </a:xfrm>
          <a:custGeom>
            <a:avLst/>
            <a:gdLst/>
            <a:ahLst/>
            <a:cxnLst/>
            <a:rect l="l" t="t" r="r" b="b"/>
            <a:pathLst>
              <a:path w="11042026" h="6302959">
                <a:moveTo>
                  <a:pt x="0" y="0"/>
                </a:moveTo>
                <a:lnTo>
                  <a:pt x="11042026" y="0"/>
                </a:lnTo>
                <a:lnTo>
                  <a:pt x="11042026" y="6302959"/>
                </a:lnTo>
                <a:lnTo>
                  <a:pt x="0" y="6302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3830" y="-68764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3783" y="3469153"/>
            <a:ext cx="5628104" cy="4514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00"/>
              </a:lnSpc>
            </a:pPr>
            <a:r>
              <a:rPr lang="en-US" sz="4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Dữ liệu bị lệch trái</a:t>
            </a:r>
          </a:p>
          <a:p>
            <a:pPr algn="just">
              <a:lnSpc>
                <a:spcPts val="7200"/>
              </a:lnSpc>
            </a:pPr>
            <a:r>
              <a:rPr lang="en-US" sz="4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Đa số nhà có giá từ 100.000 - 200.000 đô</a:t>
            </a: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Giá nhà trãi dài từ 30.000 - hơn 700.000 đô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48370" y="4372237"/>
            <a:ext cx="2619549" cy="1942951"/>
            <a:chOff x="0" y="0"/>
            <a:chExt cx="3492732" cy="25906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92732" cy="2590601"/>
            </a:xfrm>
            <a:custGeom>
              <a:avLst/>
              <a:gdLst/>
              <a:ahLst/>
              <a:cxnLst/>
              <a:rect l="l" t="t" r="r" b="b"/>
              <a:pathLst>
                <a:path w="3492732" h="2590601">
                  <a:moveTo>
                    <a:pt x="0" y="0"/>
                  </a:moveTo>
                  <a:lnTo>
                    <a:pt x="3492732" y="0"/>
                  </a:lnTo>
                  <a:lnTo>
                    <a:pt x="3492732" y="2590601"/>
                  </a:lnTo>
                  <a:lnTo>
                    <a:pt x="0" y="2590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92732" cy="2647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Sử dụng mô hình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(KNN, SVM, RF)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-53026" y="-22205"/>
            <a:ext cx="12549825" cy="1889105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304176" y="930536"/>
            <a:ext cx="8485469" cy="1698365"/>
            <a:chOff x="0" y="-114300"/>
            <a:chExt cx="2601552" cy="520700"/>
          </a:xfrm>
        </p:grpSpPr>
        <p:sp>
          <p:nvSpPr>
            <p:cNvPr id="7" name="Freeform 7"/>
            <p:cNvSpPr/>
            <p:nvPr/>
          </p:nvSpPr>
          <p:spPr>
            <a:xfrm>
              <a:off x="0" y="-46724"/>
              <a:ext cx="2601552" cy="406400"/>
            </a:xfrm>
            <a:custGeom>
              <a:avLst/>
              <a:gdLst/>
              <a:ahLst/>
              <a:cxnLst/>
              <a:rect l="l" t="t" r="r" b="b"/>
              <a:pathLst>
                <a:path w="2601552" h="406400">
                  <a:moveTo>
                    <a:pt x="2398352" y="0"/>
                  </a:moveTo>
                  <a:cubicBezTo>
                    <a:pt x="2510576" y="0"/>
                    <a:pt x="2601552" y="90976"/>
                    <a:pt x="2601552" y="203200"/>
                  </a:cubicBezTo>
                  <a:cubicBezTo>
                    <a:pt x="2601552" y="315424"/>
                    <a:pt x="2510576" y="406400"/>
                    <a:pt x="23983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2601552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Phân tích và khám phá dữ liệu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6264915" y="3086100"/>
            <a:ext cx="12049243" cy="6705358"/>
          </a:xfrm>
          <a:custGeom>
            <a:avLst/>
            <a:gdLst/>
            <a:ahLst/>
            <a:cxnLst/>
            <a:rect l="l" t="t" r="r" b="b"/>
            <a:pathLst>
              <a:path w="12922941" h="7692113">
                <a:moveTo>
                  <a:pt x="0" y="0"/>
                </a:moveTo>
                <a:lnTo>
                  <a:pt x="12922941" y="0"/>
                </a:lnTo>
                <a:lnTo>
                  <a:pt x="12922941" y="7692113"/>
                </a:lnTo>
                <a:lnTo>
                  <a:pt x="0" y="7692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5" b="-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3830" y="-169217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829" y="2528212"/>
            <a:ext cx="6101085" cy="775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thiếu</a:t>
            </a:r>
            <a:endParaRPr lang="en-US" sz="26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thiếu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hoàn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toàn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(&gt;90%):</a:t>
            </a: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PoolQC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MiscFeature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Alley</a:t>
            </a: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→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tế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hồ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bơi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năng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đặc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biệt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ngõ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hẻm</a:t>
            </a:r>
            <a:endParaRPr lang="en-US" sz="26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778"/>
              </a:lnSpc>
            </a:pPr>
            <a:endParaRPr lang="en-US" sz="26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thiếu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(50-90%):</a:t>
            </a: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Fence,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FireplaceQu</a:t>
            </a:r>
            <a:endParaRPr lang="en-US" sz="26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→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tế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rào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lò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sưởi</a:t>
            </a:r>
            <a:endParaRPr lang="en-US" sz="26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778"/>
              </a:lnSpc>
            </a:pPr>
            <a:endParaRPr lang="en-US" sz="26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thiếu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trung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bình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(10-30%):</a:t>
            </a: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</a:t>
            </a:r>
            <a:r>
              <a:rPr lang="en-US" sz="26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LotFrontage</a:t>
            </a: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Garage-related features </a:t>
            </a:r>
          </a:p>
          <a:p>
            <a:pPr algn="l">
              <a:lnSpc>
                <a:spcPts val="3778"/>
              </a:lnSpc>
            </a:pPr>
            <a:r>
              <a:rPr lang="en-US" sz="26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Basement-related features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48370" y="4372237"/>
            <a:ext cx="2619549" cy="1942951"/>
            <a:chOff x="0" y="0"/>
            <a:chExt cx="3492732" cy="25906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92732" cy="2590601"/>
            </a:xfrm>
            <a:custGeom>
              <a:avLst/>
              <a:gdLst/>
              <a:ahLst/>
              <a:cxnLst/>
              <a:rect l="l" t="t" r="r" b="b"/>
              <a:pathLst>
                <a:path w="3492732" h="2590601">
                  <a:moveTo>
                    <a:pt x="0" y="0"/>
                  </a:moveTo>
                  <a:lnTo>
                    <a:pt x="3492732" y="0"/>
                  </a:lnTo>
                  <a:lnTo>
                    <a:pt x="3492732" y="2590601"/>
                  </a:lnTo>
                  <a:lnTo>
                    <a:pt x="0" y="25906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92732" cy="2647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Sử dụng mô hình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(KNN, SVM, RF)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34020"/>
            <a:ext cx="12549825" cy="1985814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533884" y="856183"/>
            <a:ext cx="10792837" cy="9740535"/>
          </a:xfrm>
          <a:custGeom>
            <a:avLst/>
            <a:gdLst/>
            <a:ahLst/>
            <a:cxnLst/>
            <a:rect l="l" t="t" r="r" b="b"/>
            <a:pathLst>
              <a:path w="10792837" h="9740535">
                <a:moveTo>
                  <a:pt x="0" y="0"/>
                </a:moveTo>
                <a:lnTo>
                  <a:pt x="10792837" y="0"/>
                </a:lnTo>
                <a:lnTo>
                  <a:pt x="10792837" y="9740535"/>
                </a:lnTo>
                <a:lnTo>
                  <a:pt x="0" y="9740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3830" y="-114300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400" y="2628900"/>
            <a:ext cx="7533884" cy="693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8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biến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tương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MẠNH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SalePrice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3918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(|r| &gt; 0.6):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`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OverallQual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 (0.79): -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Chất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lượng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yếu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trọng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nhất</a:t>
            </a:r>
            <a:endParaRPr lang="en-US" sz="27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 `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GrLivArea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 (0.71):  -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Diện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hoạt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hưởng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lớn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đến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endParaRPr lang="en-US" sz="27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`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GarageCars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 (0.64):  -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chỗ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đỗ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garage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đẳng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cấp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bất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sản</a:t>
            </a:r>
            <a:endParaRPr lang="en-US" sz="27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`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GarageArea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 (0.62):  -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Diện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garage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tỷ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lệ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thuận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nhà</a:t>
            </a:r>
            <a:endParaRPr lang="en-US" sz="27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`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TotalBsmtSF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 (0.61):  -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Diện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tầng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hầm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phản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ánh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endParaRPr lang="en-US" sz="27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 `1stFlrSF` (0.61):  -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Diện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tầng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tác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đáng</a:t>
            </a: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kể</a:t>
            </a:r>
            <a:endParaRPr lang="en-US" sz="279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205"/>
            <a:ext cx="12549825" cy="2651106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3830" y="-261255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608577" y="1303348"/>
            <a:ext cx="8348535" cy="1304162"/>
            <a:chOff x="0" y="0"/>
            <a:chExt cx="2601552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1552" cy="406400"/>
            </a:xfrm>
            <a:custGeom>
              <a:avLst/>
              <a:gdLst/>
              <a:ahLst/>
              <a:cxnLst/>
              <a:rect l="l" t="t" r="r" b="b"/>
              <a:pathLst>
                <a:path w="2601552" h="406400">
                  <a:moveTo>
                    <a:pt x="2398352" y="0"/>
                  </a:moveTo>
                  <a:cubicBezTo>
                    <a:pt x="2510576" y="0"/>
                    <a:pt x="2601552" y="90976"/>
                    <a:pt x="2601552" y="203200"/>
                  </a:cubicBezTo>
                  <a:cubicBezTo>
                    <a:pt x="2601552" y="315424"/>
                    <a:pt x="2510576" y="406400"/>
                    <a:pt x="23983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601552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Điền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giá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trị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thiếu</a:t>
              </a:r>
              <a:endParaRPr lang="en-US" sz="4798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3830" y="2807018"/>
            <a:ext cx="18124170" cy="585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576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Điền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các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giá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trị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NA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bằng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None ở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các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cột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PoolQC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MiscFeature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'Alley', 'Fence',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FireplaceQu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GarageType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GarageFinish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GarageQual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GarageCond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BsmtQual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BsmtCond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BsmtExposure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'BsmtFinType1', 'BsmtFinType2'.</a:t>
            </a:r>
          </a:p>
          <a:p>
            <a:pPr marL="457200" indent="-457200" algn="l">
              <a:lnSpc>
                <a:spcPts val="576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Điền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các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giá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trị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NA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bằng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0 ở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các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cột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GarageYrBlt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GarageArea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'GarageCars','BsmtFinSF1', 'BsmtFinSF2',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BsmtUnfSF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TotalBsmtSF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BsmtFullBath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', '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BsmtHalfBath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'.</a:t>
            </a:r>
          </a:p>
          <a:p>
            <a:pPr marL="457200" indent="-457200" algn="l">
              <a:lnSpc>
                <a:spcPts val="576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Điền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theo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nhóm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LotFrontage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theo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Neighborhood) : `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LotFrontage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` ;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điền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theo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trung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vị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trong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khu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vực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57200" indent="-457200" algn="l">
              <a:lnSpc>
                <a:spcPts val="57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Các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cột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phân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loại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còn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lại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dùng</a:t>
            </a:r>
            <a:r>
              <a:rPr lang="en-US" sz="32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" y="0"/>
            <a:ext cx="12549825" cy="2651106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3830" y="0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0" y="718146"/>
            <a:ext cx="8348535" cy="2502967"/>
            <a:chOff x="0" y="-75504"/>
            <a:chExt cx="2601552" cy="520700"/>
          </a:xfrm>
        </p:grpSpPr>
        <p:sp>
          <p:nvSpPr>
            <p:cNvPr id="5" name="Freeform 5"/>
            <p:cNvSpPr/>
            <p:nvPr/>
          </p:nvSpPr>
          <p:spPr>
            <a:xfrm>
              <a:off x="0" y="-20494"/>
              <a:ext cx="2601552" cy="406400"/>
            </a:xfrm>
            <a:custGeom>
              <a:avLst/>
              <a:gdLst/>
              <a:ahLst/>
              <a:cxnLst/>
              <a:rect l="l" t="t" r="r" b="b"/>
              <a:pathLst>
                <a:path w="2601552" h="406400">
                  <a:moveTo>
                    <a:pt x="2398352" y="0"/>
                  </a:moveTo>
                  <a:cubicBezTo>
                    <a:pt x="2510576" y="0"/>
                    <a:pt x="2601552" y="90976"/>
                    <a:pt x="2601552" y="203200"/>
                  </a:cubicBezTo>
                  <a:cubicBezTo>
                    <a:pt x="2601552" y="315424"/>
                    <a:pt x="2510576" y="406400"/>
                    <a:pt x="23983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5504"/>
              <a:ext cx="2601552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Kỹ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thuật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chọn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đặc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trưng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và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chuẩn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hóa</a:t>
              </a:r>
              <a:endParaRPr lang="en-US" sz="4798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959699-C47D-0D73-5575-B46210C7F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100785"/>
              </p:ext>
            </p:extLst>
          </p:nvPr>
        </p:nvGraphicFramePr>
        <p:xfrm>
          <a:off x="1371600" y="3221113"/>
          <a:ext cx="16078200" cy="609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903050908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861020726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853510890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8845503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45802837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292057180"/>
                    </a:ext>
                  </a:extLst>
                </a:gridCol>
              </a:tblGrid>
              <a:tr h="626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Nhóm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Phương pháp mã hóa</a:t>
                      </a:r>
                      <a:endParaRPr lang="vi-V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Ví dụ biến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Cách chuyển đổi / Quy tắc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Mục tiêu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Nhóm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0405"/>
                  </a:ext>
                </a:extLst>
              </a:tr>
              <a:tr h="14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thứ tự (Ordinal)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Ordinal Mapping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ExterQual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KitchenQual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FireplaceQu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GarageCond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PoolQC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Chuyển đổi thang chất lượng: </a:t>
                      </a:r>
                      <a:r>
                        <a:rPr lang="vi-V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=5, </a:t>
                      </a:r>
                      <a:r>
                        <a:rPr lang="vi-V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=4, TA=3, </a:t>
                      </a:r>
                      <a:r>
                        <a:rPr lang="vi-V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=2, </a:t>
                      </a:r>
                      <a:r>
                        <a:rPr lang="vi-V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=1, </a:t>
                      </a:r>
                      <a:r>
                        <a:rPr lang="vi-V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r>
                        <a:rPr lang="vi-V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Giúp mô hình hiểu </a:t>
                      </a: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thứ tự tốt–xấu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giữa các giá trị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thứ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(Ordinal)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986507"/>
                  </a:ext>
                </a:extLst>
              </a:tr>
              <a:tr h="14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thứ tự đặc biệt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 Mapping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BsmtExposure</a:t>
                      </a: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fr-FR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LandSlope</a:t>
                      </a: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fr-FR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LotShape</a:t>
                      </a: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fr-FR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PavedDrive</a:t>
                      </a: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Utilities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 mapping riêng theo mức độ (ví dụ: Gtl&gt;Mod&gt;Sev hoặc Y&gt;P&gt;N)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Bảo toàn </a:t>
                      </a: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mối quan hệ thứ bậc thực tế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giữa các mức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thứ tự đặc biệt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407448"/>
                  </a:ext>
                </a:extLst>
              </a:tr>
              <a:tr h="14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danh nghĩa (Nominal)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One-Hot Encoding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Neighborhood, BldgType, HouseStyle, Exterior1st, MSZoning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Tạo cột nhị phân (0/1) cho từng giá trị, dùng pd.get_dummies(drop_first=True)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dữ liệu </a:t>
                      </a: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 loại rời rạc</a:t>
                      </a: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thành dạng số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danh nghĩa (Nominal)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935998"/>
                  </a:ext>
                </a:extLst>
              </a:tr>
              <a:tr h="1162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số nhưng thực chất là danh nghĩa</a:t>
                      </a:r>
                      <a:endParaRPr lang="vi-V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Ép kiểu sang chuỗi (str)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MSSubClass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Chuyển kiểu dữ liệu từ số sang chuỗi trước khi mã hóa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Xử lý chính xác biến dạng </a:t>
                      </a: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 phân loại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Biến số nhưng thực chất là danh nghĩa</a:t>
                      </a:r>
                      <a:endParaRPr lang="vi-V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1503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E25A-91C6-3064-79D3-B5B1871D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46DC07-85AE-3C3F-7A5A-B402F15EEB83}"/>
              </a:ext>
            </a:extLst>
          </p:cNvPr>
          <p:cNvSpPr/>
          <p:nvPr/>
        </p:nvSpPr>
        <p:spPr>
          <a:xfrm>
            <a:off x="19050" y="0"/>
            <a:ext cx="12549825" cy="2651106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3186DFA-ADFF-729C-441E-DBE74F870ADA}"/>
              </a:ext>
            </a:extLst>
          </p:cNvPr>
          <p:cNvSpPr txBox="1"/>
          <p:nvPr/>
        </p:nvSpPr>
        <p:spPr>
          <a:xfrm>
            <a:off x="163830" y="0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CB219B6-E530-625B-059C-6E374A62B531}"/>
              </a:ext>
            </a:extLst>
          </p:cNvPr>
          <p:cNvGrpSpPr/>
          <p:nvPr/>
        </p:nvGrpSpPr>
        <p:grpSpPr>
          <a:xfrm>
            <a:off x="9525000" y="718146"/>
            <a:ext cx="8348535" cy="2502967"/>
            <a:chOff x="0" y="-75504"/>
            <a:chExt cx="2601552" cy="520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0F68EF-D110-4AC3-2A8C-DE37DE398D3A}"/>
                </a:ext>
              </a:extLst>
            </p:cNvPr>
            <p:cNvSpPr/>
            <p:nvPr/>
          </p:nvSpPr>
          <p:spPr>
            <a:xfrm>
              <a:off x="0" y="-20494"/>
              <a:ext cx="2601552" cy="406400"/>
            </a:xfrm>
            <a:custGeom>
              <a:avLst/>
              <a:gdLst/>
              <a:ahLst/>
              <a:cxnLst/>
              <a:rect l="l" t="t" r="r" b="b"/>
              <a:pathLst>
                <a:path w="2601552" h="406400">
                  <a:moveTo>
                    <a:pt x="2398352" y="0"/>
                  </a:moveTo>
                  <a:cubicBezTo>
                    <a:pt x="2510576" y="0"/>
                    <a:pt x="2601552" y="90976"/>
                    <a:pt x="2601552" y="203200"/>
                  </a:cubicBezTo>
                  <a:cubicBezTo>
                    <a:pt x="2601552" y="315424"/>
                    <a:pt x="2510576" y="406400"/>
                    <a:pt x="23983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865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21F8E99-D18A-C980-4FB7-551817571914}"/>
                </a:ext>
              </a:extLst>
            </p:cNvPr>
            <p:cNvSpPr txBox="1"/>
            <p:nvPr/>
          </p:nvSpPr>
          <p:spPr>
            <a:xfrm>
              <a:off x="0" y="-75504"/>
              <a:ext cx="2601552" cy="52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Kỹ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thuật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chọn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đặc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trưng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và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chuẩn</a:t>
              </a:r>
              <a:r>
                <a:rPr lang="en-US" sz="4798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798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hóa</a:t>
              </a:r>
              <a:endParaRPr lang="en-US" sz="4798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7EC0B13-37C5-0C7C-6873-533F9B67501F}"/>
              </a:ext>
            </a:extLst>
          </p:cNvPr>
          <p:cNvSpPr txBox="1"/>
          <p:nvPr/>
        </p:nvSpPr>
        <p:spPr>
          <a:xfrm>
            <a:off x="1219200" y="3554022"/>
            <a:ext cx="15316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⇒ </a:t>
            </a:r>
            <a:r>
              <a:rPr lang="en-US" sz="4000" dirty="0" err="1"/>
              <a:t>Tóm</a:t>
            </a:r>
            <a:r>
              <a:rPr lang="en-US" sz="4000" dirty="0"/>
              <a:t> </a:t>
            </a:r>
            <a:r>
              <a:rPr lang="en-US" sz="4000" dirty="0" err="1"/>
              <a:t>lại</a:t>
            </a:r>
            <a:r>
              <a:rPr lang="en-US" sz="40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 err="1"/>
              <a:t>Mã</a:t>
            </a:r>
            <a:r>
              <a:rPr lang="en-US" sz="4000" dirty="0"/>
              <a:t> </a:t>
            </a:r>
            <a:r>
              <a:rPr lang="en-US" sz="4000" dirty="0" err="1"/>
              <a:t>hóa</a:t>
            </a:r>
            <a:r>
              <a:rPr lang="en-US" sz="4000" dirty="0"/>
              <a:t> ordinal </a:t>
            </a:r>
            <a:r>
              <a:rPr lang="en-US" sz="4000" dirty="0" err="1"/>
              <a:t>cho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biến</a:t>
            </a:r>
            <a:r>
              <a:rPr lang="en-US" sz="4000" dirty="0"/>
              <a:t> </a:t>
            </a:r>
            <a:r>
              <a:rPr lang="en-US" sz="4000" dirty="0" err="1"/>
              <a:t>chất</a:t>
            </a:r>
            <a:r>
              <a:rPr lang="en-US" sz="4000" dirty="0"/>
              <a:t> </a:t>
            </a:r>
            <a:r>
              <a:rPr lang="en-US" sz="4000" dirty="0" err="1"/>
              <a:t>lượng</a:t>
            </a: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/>
              <a:t>One-hot encoding </a:t>
            </a:r>
            <a:r>
              <a:rPr lang="en-US" sz="4000" dirty="0" err="1"/>
              <a:t>cho</a:t>
            </a:r>
            <a:r>
              <a:rPr lang="en-US" sz="4000" dirty="0"/>
              <a:t> </a:t>
            </a:r>
            <a:r>
              <a:rPr lang="en-US" sz="4000" dirty="0" err="1"/>
              <a:t>biến</a:t>
            </a:r>
            <a:r>
              <a:rPr lang="en-US" sz="4000" dirty="0"/>
              <a:t> </a:t>
            </a:r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loại</a:t>
            </a:r>
            <a:r>
              <a:rPr lang="en-US" sz="4000" dirty="0"/>
              <a:t> </a:t>
            </a:r>
            <a:r>
              <a:rPr lang="en-US" sz="4000" dirty="0" err="1"/>
              <a:t>còn</a:t>
            </a:r>
            <a:r>
              <a:rPr lang="en-US" sz="4000" dirty="0"/>
              <a:t> </a:t>
            </a:r>
            <a:r>
              <a:rPr lang="en-US" sz="4000" dirty="0" err="1"/>
              <a:t>lại</a:t>
            </a: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 err="1"/>
              <a:t>Dùng</a:t>
            </a:r>
            <a:r>
              <a:rPr lang="en-US" sz="4000" dirty="0"/>
              <a:t> </a:t>
            </a:r>
            <a:r>
              <a:rPr lang="en-US" sz="4000" dirty="0" err="1"/>
              <a:t>get_dummies</a:t>
            </a:r>
            <a:r>
              <a:rPr lang="en-US" sz="4000" dirty="0"/>
              <a:t> </a:t>
            </a:r>
            <a:r>
              <a:rPr lang="en-US" sz="4000" dirty="0" err="1"/>
              <a:t>cho</a:t>
            </a:r>
            <a:r>
              <a:rPr lang="en-US" sz="4000" dirty="0"/>
              <a:t> </a:t>
            </a:r>
            <a:r>
              <a:rPr lang="en-US" sz="4000" dirty="0" err="1"/>
              <a:t>tất</a:t>
            </a:r>
            <a:r>
              <a:rPr lang="en-US" sz="4000" dirty="0"/>
              <a:t> </a:t>
            </a:r>
            <a:r>
              <a:rPr lang="en-US" sz="4000" dirty="0" err="1"/>
              <a:t>cả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cột</a:t>
            </a:r>
            <a:r>
              <a:rPr lang="en-US" sz="4000" dirty="0"/>
              <a:t> 'object' </a:t>
            </a:r>
            <a:r>
              <a:rPr lang="en-US" sz="4000" dirty="0" err="1"/>
              <a:t>còn</a:t>
            </a:r>
            <a:r>
              <a:rPr lang="en-US" sz="4000" dirty="0"/>
              <a:t> </a:t>
            </a:r>
            <a:r>
              <a:rPr lang="en-US" sz="4000" dirty="0" err="1"/>
              <a:t>lại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53998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3006360"/>
            <a:ext cx="9874545" cy="50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gia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K-Fold Cross-Validation: </a:t>
            </a:r>
          </a:p>
          <a:p>
            <a:pPr marL="325755" lvl="1" indent="-162877" algn="l">
              <a:lnSpc>
                <a:spcPts val="4759"/>
              </a:lnSpc>
              <a:buFont typeface="Arial"/>
              <a:buChar char="•"/>
            </a:pP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kỹ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thuật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tiêu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suất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ổn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máy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37820" lvl="1" indent="-168910" algn="l">
              <a:lnSpc>
                <a:spcPts val="4759"/>
              </a:lnSpc>
              <a:buFont typeface="Arial"/>
              <a:buChar char="•"/>
            </a:pP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Mục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đích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chính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ước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đáng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tin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cậy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về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khả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năng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quát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hóa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trên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mới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chưa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từng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thấy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đồng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thời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giúp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đề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như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khớp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(overfitting).</a:t>
            </a:r>
          </a:p>
          <a:p>
            <a:pPr marL="337820" lvl="1" indent="-168910" algn="l">
              <a:lnSpc>
                <a:spcPts val="4759"/>
              </a:lnSpc>
            </a:pPr>
            <a:endParaRPr lang="en-US" sz="27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629632" y="1157884"/>
            <a:ext cx="8193983" cy="1024891"/>
            <a:chOff x="0" y="0"/>
            <a:chExt cx="10925311" cy="13665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5428" cy="1366520"/>
            </a:xfrm>
            <a:custGeom>
              <a:avLst/>
              <a:gdLst/>
              <a:ahLst/>
              <a:cxnLst/>
              <a:rect l="l" t="t" r="r" b="b"/>
              <a:pathLst>
                <a:path w="10925428" h="1366520">
                  <a:moveTo>
                    <a:pt x="9877171" y="0"/>
                  </a:moveTo>
                  <a:cubicBezTo>
                    <a:pt x="10456037" y="0"/>
                    <a:pt x="10925428" y="305943"/>
                    <a:pt x="10925428" y="683260"/>
                  </a:cubicBezTo>
                  <a:cubicBezTo>
                    <a:pt x="10925428" y="1060577"/>
                    <a:pt x="10456164" y="1366520"/>
                    <a:pt x="9877171" y="1366520"/>
                  </a:cubicBezTo>
                  <a:lnTo>
                    <a:pt x="1048258" y="1366520"/>
                  </a:lnTo>
                  <a:cubicBezTo>
                    <a:pt x="469265" y="1366520"/>
                    <a:pt x="0" y="1060577"/>
                    <a:pt x="0" y="683260"/>
                  </a:cubicBezTo>
                  <a:cubicBezTo>
                    <a:pt x="0" y="305943"/>
                    <a:pt x="469265" y="0"/>
                    <a:pt x="1048258" y="0"/>
                  </a:cubicBez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0" y="952500"/>
            <a:ext cx="8193983" cy="1241079"/>
            <a:chOff x="0" y="0"/>
            <a:chExt cx="10925311" cy="16547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25311" cy="1654772"/>
            </a:xfrm>
            <a:custGeom>
              <a:avLst/>
              <a:gdLst/>
              <a:ahLst/>
              <a:cxnLst/>
              <a:rect l="l" t="t" r="r" b="b"/>
              <a:pathLst>
                <a:path w="10925311" h="1654772">
                  <a:moveTo>
                    <a:pt x="0" y="0"/>
                  </a:moveTo>
                  <a:lnTo>
                    <a:pt x="10925311" y="0"/>
                  </a:lnTo>
                  <a:lnTo>
                    <a:pt x="10925311" y="1654772"/>
                  </a:lnTo>
                  <a:lnTo>
                    <a:pt x="0" y="1654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10925311" cy="176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Đánh giá mô hình</a:t>
              </a: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096768" y="4000500"/>
            <a:ext cx="6698415" cy="2743200"/>
            <a:chOff x="0" y="0"/>
            <a:chExt cx="8931220" cy="365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31275" cy="3657600"/>
            </a:xfrm>
            <a:custGeom>
              <a:avLst/>
              <a:gdLst/>
              <a:ahLst/>
              <a:cxnLst/>
              <a:rect l="l" t="t" r="r" b="b"/>
              <a:pathLst>
                <a:path w="8931275" h="3657600">
                  <a:moveTo>
                    <a:pt x="0" y="0"/>
                  </a:moveTo>
                  <a:lnTo>
                    <a:pt x="8931275" y="0"/>
                  </a:lnTo>
                  <a:lnTo>
                    <a:pt x="8931275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633" r="-296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53026" y="-22205"/>
            <a:ext cx="12549825" cy="2651106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3830" y="-22205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7016" y="2466975"/>
            <a:ext cx="9874545" cy="747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gia bằng Train-Test Split Evalution: </a:t>
            </a:r>
          </a:p>
          <a:p>
            <a:pPr marL="337820" lvl="1" indent="-168910" algn="l">
              <a:lnSpc>
                <a:spcPts val="47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Là một kỹ thuật đánh giá mô hình đơn giản và phổ biến nhất trong máy học.</a:t>
            </a:r>
          </a:p>
          <a:p>
            <a:pPr marL="337820" lvl="1" indent="-168910" algn="l">
              <a:lnSpc>
                <a:spcPts val="47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 chia tập dữ liệu ban đầu của bạn thành hai phần riêng biệt: Training Set (Thường chiếm phần lớn dữ liệu, ví dụ: 70% - 80%) và Testing Set (Là phần dữ liệu còn lại, ví dụ: 20% - 30%)</a:t>
            </a:r>
          </a:p>
          <a:p>
            <a:pPr marL="337820" lvl="1" indent="-168910" algn="l">
              <a:lnSpc>
                <a:spcPts val="47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Mục đích chính là để đánh giá hiệu suất tổng quát hóa của mô hình, thông qua đánh giá hiệu suất của mô hình trên 1 tập validation riêng biệt sau khi huấn luyện phần còn lại trước đó.</a:t>
            </a:r>
          </a:p>
          <a:p>
            <a:pPr marL="337820" lvl="1" indent="-168910" algn="l">
              <a:lnSpc>
                <a:spcPts val="4759"/>
              </a:lnSpc>
            </a:pPr>
            <a:endParaRPr lang="en-US" sz="27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629632" y="1157884"/>
            <a:ext cx="8193983" cy="1024891"/>
            <a:chOff x="0" y="0"/>
            <a:chExt cx="10925311" cy="13665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5428" cy="1366520"/>
            </a:xfrm>
            <a:custGeom>
              <a:avLst/>
              <a:gdLst/>
              <a:ahLst/>
              <a:cxnLst/>
              <a:rect l="l" t="t" r="r" b="b"/>
              <a:pathLst>
                <a:path w="10925428" h="1366520">
                  <a:moveTo>
                    <a:pt x="9877171" y="0"/>
                  </a:moveTo>
                  <a:cubicBezTo>
                    <a:pt x="10456037" y="0"/>
                    <a:pt x="10925428" y="305943"/>
                    <a:pt x="10925428" y="683260"/>
                  </a:cubicBezTo>
                  <a:cubicBezTo>
                    <a:pt x="10925428" y="1060577"/>
                    <a:pt x="10456164" y="1366520"/>
                    <a:pt x="9877171" y="1366520"/>
                  </a:cubicBezTo>
                  <a:lnTo>
                    <a:pt x="1048258" y="1366520"/>
                  </a:lnTo>
                  <a:cubicBezTo>
                    <a:pt x="469265" y="1366520"/>
                    <a:pt x="0" y="1060577"/>
                    <a:pt x="0" y="683260"/>
                  </a:cubicBezTo>
                  <a:cubicBezTo>
                    <a:pt x="0" y="305943"/>
                    <a:pt x="469265" y="0"/>
                    <a:pt x="1048258" y="0"/>
                  </a:cubicBezTo>
                  <a:close/>
                </a:path>
              </a:pathLst>
            </a:custGeom>
            <a:solidFill>
              <a:srgbClr val="4F81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200" y="952500"/>
            <a:ext cx="8193983" cy="1241079"/>
            <a:chOff x="0" y="0"/>
            <a:chExt cx="10925311" cy="16547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25311" cy="1654772"/>
            </a:xfrm>
            <a:custGeom>
              <a:avLst/>
              <a:gdLst/>
              <a:ahLst/>
              <a:cxnLst/>
              <a:rect l="l" t="t" r="r" b="b"/>
              <a:pathLst>
                <a:path w="10925311" h="1654772">
                  <a:moveTo>
                    <a:pt x="0" y="0"/>
                  </a:moveTo>
                  <a:lnTo>
                    <a:pt x="10925311" y="0"/>
                  </a:lnTo>
                  <a:lnTo>
                    <a:pt x="10925311" y="1654772"/>
                  </a:lnTo>
                  <a:lnTo>
                    <a:pt x="0" y="1654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10925311" cy="176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19"/>
                </a:lnSpc>
              </a:pPr>
              <a:r>
                <a:rPr lang="en-US" sz="4798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Đánh giá mô hình</a:t>
              </a: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127683" y="3365083"/>
            <a:ext cx="6667500" cy="5000625"/>
            <a:chOff x="0" y="0"/>
            <a:chExt cx="8890000" cy="6667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90000" cy="6667500"/>
            </a:xfrm>
            <a:custGeom>
              <a:avLst/>
              <a:gdLst/>
              <a:ahLst/>
              <a:cxnLst/>
              <a:rect l="l" t="t" r="r" b="b"/>
              <a:pathLst>
                <a:path w="8890000" h="6667500">
                  <a:moveTo>
                    <a:pt x="0" y="0"/>
                  </a:moveTo>
                  <a:lnTo>
                    <a:pt x="8890000" y="0"/>
                  </a:lnTo>
                  <a:lnTo>
                    <a:pt x="88900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53026" y="-22205"/>
            <a:ext cx="12549825" cy="2651106"/>
          </a:xfrm>
          <a:custGeom>
            <a:avLst/>
            <a:gdLst/>
            <a:ahLst/>
            <a:cxnLst/>
            <a:rect l="l" t="t" r="r" b="b"/>
            <a:pathLst>
              <a:path w="12549825" h="2651106">
                <a:moveTo>
                  <a:pt x="0" y="0"/>
                </a:moveTo>
                <a:lnTo>
                  <a:pt x="12549825" y="0"/>
                </a:lnTo>
                <a:lnTo>
                  <a:pt x="12549825" y="2651106"/>
                </a:lnTo>
                <a:lnTo>
                  <a:pt x="0" y="2651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886" b="-248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3830" y="-97780"/>
            <a:ext cx="8980170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4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3. Proposed methods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474" y="-3372"/>
            <a:ext cx="14760074" cy="2271454"/>
          </a:xfrm>
          <a:custGeom>
            <a:avLst/>
            <a:gdLst/>
            <a:ahLst/>
            <a:cxnLst/>
            <a:rect l="l" t="t" r="r" b="b"/>
            <a:pathLst>
              <a:path w="14760074" h="2271454">
                <a:moveTo>
                  <a:pt x="0" y="0"/>
                </a:moveTo>
                <a:lnTo>
                  <a:pt x="14760074" y="0"/>
                </a:lnTo>
                <a:lnTo>
                  <a:pt x="14760074" y="2271454"/>
                </a:lnTo>
                <a:lnTo>
                  <a:pt x="0" y="2271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2501" b="-525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25236" y="-67595"/>
            <a:ext cx="9154392" cy="1280249"/>
            <a:chOff x="0" y="0"/>
            <a:chExt cx="12205856" cy="17069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205856" cy="1706999"/>
            </a:xfrm>
            <a:custGeom>
              <a:avLst/>
              <a:gdLst/>
              <a:ahLst/>
              <a:cxnLst/>
              <a:rect l="l" t="t" r="r" b="b"/>
              <a:pathLst>
                <a:path w="12205856" h="1706999">
                  <a:moveTo>
                    <a:pt x="0" y="0"/>
                  </a:moveTo>
                  <a:lnTo>
                    <a:pt x="12205856" y="0"/>
                  </a:lnTo>
                  <a:lnTo>
                    <a:pt x="12205856" y="1706999"/>
                  </a:lnTo>
                  <a:lnTo>
                    <a:pt x="0" y="17069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12205856" cy="1668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4. Experience and result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05400" y="2078315"/>
            <a:ext cx="9036182" cy="45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Kết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quả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khi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dùng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Train/Test Split Evaluation: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786195"/>
              </p:ext>
            </p:extLst>
          </p:nvPr>
        </p:nvGraphicFramePr>
        <p:xfrm>
          <a:off x="1752600" y="2857500"/>
          <a:ext cx="15316200" cy="6763356"/>
        </p:xfrm>
        <a:graphic>
          <a:graphicData uri="http://schemas.openxmlformats.org/drawingml/2006/table">
            <a:tbl>
              <a:tblPr/>
              <a:tblGrid>
                <a:gridCol w="409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Model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Accuracy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F1_Weighted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ROC_AUC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8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KNeighbors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0.8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0.79966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0.935926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17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RandomForest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0.728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0.727054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0.902742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8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GradientBoosting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0.728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0.726893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0.899805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8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DecisionTree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0.64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0.635707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0.729991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8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LogisticRegression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0.688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0.686765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0.837076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8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SGDClassifier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0.608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0.605768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 err="1"/>
                        <a:t>NaN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8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SVR</a:t>
                      </a:r>
                      <a:endParaRPr lang="en-US" sz="2400" b="1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0.808</a:t>
                      </a:r>
                      <a:endParaRPr lang="en-US" sz="2400" b="1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0.807429</a:t>
                      </a:r>
                      <a:endParaRPr lang="en-US" sz="2400" b="1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0.94052</a:t>
                      </a:r>
                      <a:endParaRPr lang="en-US" sz="2400" b="1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8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XGB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0.776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0.77515</a:t>
                      </a:r>
                      <a:endParaRPr lang="en-US" sz="24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0.910234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474" y="-3372"/>
            <a:ext cx="14760074" cy="2271454"/>
          </a:xfrm>
          <a:custGeom>
            <a:avLst/>
            <a:gdLst/>
            <a:ahLst/>
            <a:cxnLst/>
            <a:rect l="l" t="t" r="r" b="b"/>
            <a:pathLst>
              <a:path w="14760074" h="2271454">
                <a:moveTo>
                  <a:pt x="0" y="0"/>
                </a:moveTo>
                <a:lnTo>
                  <a:pt x="14760074" y="0"/>
                </a:lnTo>
                <a:lnTo>
                  <a:pt x="14760074" y="2271454"/>
                </a:lnTo>
                <a:lnTo>
                  <a:pt x="0" y="2271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2501" b="-525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25236" y="-67595"/>
            <a:ext cx="9154392" cy="1280249"/>
            <a:chOff x="0" y="0"/>
            <a:chExt cx="12205856" cy="17069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205856" cy="1706999"/>
            </a:xfrm>
            <a:custGeom>
              <a:avLst/>
              <a:gdLst/>
              <a:ahLst/>
              <a:cxnLst/>
              <a:rect l="l" t="t" r="r" b="b"/>
              <a:pathLst>
                <a:path w="12205856" h="1706999">
                  <a:moveTo>
                    <a:pt x="0" y="0"/>
                  </a:moveTo>
                  <a:lnTo>
                    <a:pt x="12205856" y="0"/>
                  </a:lnTo>
                  <a:lnTo>
                    <a:pt x="12205856" y="1706999"/>
                  </a:lnTo>
                  <a:lnTo>
                    <a:pt x="0" y="17069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12205856" cy="1668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4. Experience and result</a:t>
              </a:r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263595"/>
              </p:ext>
            </p:extLst>
          </p:nvPr>
        </p:nvGraphicFramePr>
        <p:xfrm>
          <a:off x="1321814" y="2781300"/>
          <a:ext cx="15644372" cy="7153272"/>
        </p:xfrm>
        <a:graphic>
          <a:graphicData uri="http://schemas.openxmlformats.org/drawingml/2006/table">
            <a:tbl>
              <a:tblPr/>
              <a:tblGrid>
                <a:gridCol w="3911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 Bold"/>
                          <a:cs typeface="Arial" panose="020B0604020202020204" pitchFamily="34" charset="0"/>
                          <a:sym typeface="Arimo Bold"/>
                        </a:rPr>
                        <a:t>Model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 Bold"/>
                          <a:cs typeface="Arial" panose="020B0604020202020204" pitchFamily="34" charset="0"/>
                          <a:sym typeface="Arimo Bold"/>
                        </a:rPr>
                        <a:t>Accuracy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 Bold"/>
                          <a:cs typeface="Arial" panose="020B0604020202020204" pitchFamily="34" charset="0"/>
                          <a:sym typeface="Arimo Bold"/>
                        </a:rPr>
                        <a:t>F1_Weighted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 Bold"/>
                          <a:cs typeface="Arial" panose="020B0604020202020204" pitchFamily="34" charset="0"/>
                          <a:sym typeface="Arimo Bold"/>
                        </a:rPr>
                        <a:t>ROC_AUC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KNeighbors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0.751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0.892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RandomForest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0.727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0.877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GradientBoosting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0.693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0.853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DecisionTree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0.587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0.690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LogisticRegression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0.70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0.701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0.848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SGDClassifier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0.62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0.615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SVR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0.800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0.919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480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mo"/>
                          <a:cs typeface="Arial" panose="020B0604020202020204" pitchFamily="34" charset="0"/>
                          <a:sym typeface="Arimo"/>
                        </a:rPr>
                        <a:t>XGB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0.720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0.854 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5695439" y="2106890"/>
            <a:ext cx="9036182" cy="45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Kết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quả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khi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dùng</a:t>
            </a: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K-Fold Cross-Validation: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474" y="-3373"/>
            <a:ext cx="11587539" cy="2327473"/>
          </a:xfrm>
          <a:custGeom>
            <a:avLst/>
            <a:gdLst/>
            <a:ahLst/>
            <a:cxnLst/>
            <a:rect l="l" t="t" r="r" b="b"/>
            <a:pathLst>
              <a:path w="11587539" h="2327473">
                <a:moveTo>
                  <a:pt x="0" y="0"/>
                </a:moveTo>
                <a:lnTo>
                  <a:pt x="11587539" y="0"/>
                </a:lnTo>
                <a:lnTo>
                  <a:pt x="11587539" y="2327473"/>
                </a:lnTo>
                <a:lnTo>
                  <a:pt x="0" y="2327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8544" b="-285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38866" y="25201"/>
            <a:ext cx="15773400" cy="1280249"/>
            <a:chOff x="0" y="0"/>
            <a:chExt cx="21031200" cy="17069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1706999"/>
            </a:xfrm>
            <a:custGeom>
              <a:avLst/>
              <a:gdLst/>
              <a:ahLst/>
              <a:cxnLst/>
              <a:rect l="l" t="t" r="r" b="b"/>
              <a:pathLst>
                <a:path w="21031200" h="1706999">
                  <a:moveTo>
                    <a:pt x="0" y="0"/>
                  </a:moveTo>
                  <a:lnTo>
                    <a:pt x="21031200" y="0"/>
                  </a:lnTo>
                  <a:lnTo>
                    <a:pt x="21031200" y="1706999"/>
                  </a:lnTo>
                  <a:lnTo>
                    <a:pt x="0" y="17069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21031200" cy="1668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5. Conclusion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77945" y="2282395"/>
            <a:ext cx="15354300" cy="323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quá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trình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huấn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luyện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đánh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giá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chúng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ta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thấy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hình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b="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SVM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có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độ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chính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xác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cao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nhất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điểm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ROC AUC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đạt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cao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nhất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trong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tất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cả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mô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hình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Mặc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dù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trong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quá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trình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huấn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luyện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có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gặp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chút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trục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trặc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nhưng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xét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về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tính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phù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hợp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ổn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định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b="1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SVM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có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kết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quả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ổn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định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nhất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trở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thành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lựa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chọn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tối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ưu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cho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việc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dự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đoán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giá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nhà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trong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tương</a:t>
            </a: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lai</a:t>
            </a:r>
          </a:p>
          <a:p>
            <a:pPr algn="l">
              <a:lnSpc>
                <a:spcPts val="5184"/>
              </a:lnSpc>
            </a:pP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9" name="Picture 8" descr="A black rectangular object with white lines&#10;&#10;AI-generated content may be incorrect.">
            <a:extLst>
              <a:ext uri="{FF2B5EF4-FFF2-40B4-BE49-F238E27FC236}">
                <a16:creationId xmlns:a16="http://schemas.microsoft.com/office/drawing/2014/main" id="{73565608-8A28-94FB-65F1-4EF2FC9701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470" y="5524500"/>
            <a:ext cx="14573250" cy="19716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77E6FE-90E8-03EB-679C-60DDD293C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1" y="-13079"/>
            <a:ext cx="18247678" cy="10287000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20161" y="-28575"/>
            <a:ext cx="15581212" cy="10325100"/>
          </a:xfrm>
          <a:custGeom>
            <a:avLst/>
            <a:gdLst/>
            <a:ahLst/>
            <a:cxnLst/>
            <a:rect l="l" t="t" r="r" b="b"/>
            <a:pathLst>
              <a:path w="15581212" h="10325100">
                <a:moveTo>
                  <a:pt x="0" y="0"/>
                </a:moveTo>
                <a:lnTo>
                  <a:pt x="15581212" y="0"/>
                </a:lnTo>
                <a:lnTo>
                  <a:pt x="15581212" y="10325100"/>
                </a:lnTo>
                <a:lnTo>
                  <a:pt x="0" y="1032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5935" y="499022"/>
            <a:ext cx="10960919" cy="189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Thank You All</a:t>
            </a:r>
          </a:p>
        </p:txBody>
      </p:sp>
      <p:grpSp>
        <p:nvGrpSpPr>
          <p:cNvPr id="4" name="Group 4"/>
          <p:cNvGrpSpPr/>
          <p:nvPr/>
        </p:nvGrpSpPr>
        <p:grpSpPr>
          <a:xfrm rot="10767420">
            <a:off x="399036" y="3225600"/>
            <a:ext cx="4039397" cy="19050"/>
            <a:chOff x="0" y="0"/>
            <a:chExt cx="5385863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85816" cy="25400"/>
            </a:xfrm>
            <a:custGeom>
              <a:avLst/>
              <a:gdLst/>
              <a:ahLst/>
              <a:cxnLst/>
              <a:rect l="l" t="t" r="r" b="b"/>
              <a:pathLst>
                <a:path w="5385816" h="25400">
                  <a:moveTo>
                    <a:pt x="12700" y="0"/>
                  </a:moveTo>
                  <a:lnTo>
                    <a:pt x="5373116" y="0"/>
                  </a:lnTo>
                  <a:cubicBezTo>
                    <a:pt x="5380101" y="0"/>
                    <a:pt x="5385816" y="5715"/>
                    <a:pt x="5385816" y="12700"/>
                  </a:cubicBezTo>
                  <a:cubicBezTo>
                    <a:pt x="5385816" y="19685"/>
                    <a:pt x="5380101" y="25400"/>
                    <a:pt x="537311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1300</Words>
  <Application>Microsoft Office PowerPoint</Application>
  <PresentationFormat>Custom</PresentationFormat>
  <Paragraphs>222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Calibri</vt:lpstr>
      <vt:lpstr>Arial</vt:lpstr>
      <vt:lpstr>Arial Bold</vt:lpstr>
      <vt:lpstr>Arimo Bold</vt:lpstr>
      <vt:lpstr>Canva Sans</vt:lpstr>
      <vt:lpstr>Arimo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Slide_report.pptx</dc:title>
  <cp:lastModifiedBy>Akama Asumi</cp:lastModifiedBy>
  <cp:revision>4</cp:revision>
  <dcterms:created xsi:type="dcterms:W3CDTF">2006-08-16T00:00:00Z</dcterms:created>
  <dcterms:modified xsi:type="dcterms:W3CDTF">2025-11-13T15:47:59Z</dcterms:modified>
  <dc:identifier>DAG4d9owwYU</dc:identifier>
</cp:coreProperties>
</file>