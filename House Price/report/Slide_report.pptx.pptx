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Arimo" charset="1" panose="020B0604020202020204"/>
      <p:regular r:id="rId33"/>
    </p:embeddedFont>
    <p:embeddedFont>
      <p:font typeface="Arial" charset="1" panose="020B0604020202020204"/>
      <p:regular r:id="rId34"/>
    </p:embeddedFont>
    <p:embeddedFont>
      <p:font typeface="Arimo Bold" charset="1" panose="020B0704020202020204"/>
      <p:regular r:id="rId35"/>
    </p:embeddedFont>
    <p:embeddedFont>
      <p:font typeface="Canva Sans Bold" charset="1" panose="020B0803030501040103"/>
      <p:regular r:id="rId36"/>
    </p:embeddedFont>
    <p:embeddedFont>
      <p:font typeface="Canva Sans" charset="1" panose="020B0503030501040103"/>
      <p:regular r:id="rId37"/>
    </p:embeddedFont>
    <p:embeddedFont>
      <p:font typeface="Arial Bold" charset="1" panose="020B0704020202020204"/>
      <p:regular r:id="rId38"/>
    </p:embeddedFont>
    <p:embeddedFont>
      <p:font typeface="Calibri (MS)" charset="1" panose="020F0502020204030204"/>
      <p:regular r:id="rId39"/>
    </p:embeddedFont>
    <p:embeddedFont>
      <p:font typeface="Calibri (MS) Bold" charset="1" panose="020F070203040403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25.png" Type="http://schemas.openxmlformats.org/officeDocument/2006/relationships/image"/><Relationship Id="rId4" Target="../media/image27.pn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3.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1051" y="0"/>
            <a:ext cx="16529685" cy="10287000"/>
            <a:chOff x="0" y="0"/>
            <a:chExt cx="22039581" cy="13716000"/>
          </a:xfrm>
        </p:grpSpPr>
        <p:sp>
          <p:nvSpPr>
            <p:cNvPr name="Freeform 3" id="3"/>
            <p:cNvSpPr/>
            <p:nvPr/>
          </p:nvSpPr>
          <p:spPr>
            <a:xfrm flipH="false" flipV="false" rot="0">
              <a:off x="0" y="0"/>
              <a:ext cx="22039580" cy="13716000"/>
            </a:xfrm>
            <a:custGeom>
              <a:avLst/>
              <a:gdLst/>
              <a:ahLst/>
              <a:cxnLst/>
              <a:rect r="r" b="b" t="t" l="l"/>
              <a:pathLst>
                <a:path h="13716000" w="22039580">
                  <a:moveTo>
                    <a:pt x="0" y="13716000"/>
                  </a:moveTo>
                  <a:lnTo>
                    <a:pt x="0" y="0"/>
                  </a:lnTo>
                  <a:lnTo>
                    <a:pt x="22039580" y="0"/>
                  </a:lnTo>
                  <a:cubicBezTo>
                    <a:pt x="20668235" y="1586230"/>
                    <a:pt x="19000978" y="2907030"/>
                    <a:pt x="17126586" y="3893820"/>
                  </a:cubicBezTo>
                  <a:cubicBezTo>
                    <a:pt x="15291943" y="4860290"/>
                    <a:pt x="13295122" y="5488305"/>
                    <a:pt x="11297286" y="6088380"/>
                  </a:cubicBezTo>
                  <a:cubicBezTo>
                    <a:pt x="9297416" y="6688455"/>
                    <a:pt x="7237350" y="7310755"/>
                    <a:pt x="5399659" y="8211185"/>
                  </a:cubicBezTo>
                  <a:cubicBezTo>
                    <a:pt x="3561969" y="9111615"/>
                    <a:pt x="1945767" y="10289540"/>
                    <a:pt x="835660" y="12002770"/>
                  </a:cubicBezTo>
                  <a:cubicBezTo>
                    <a:pt x="487680" y="12539980"/>
                    <a:pt x="207137" y="13114655"/>
                    <a:pt x="0" y="13716000"/>
                  </a:cubicBezTo>
                  <a:close/>
                </a:path>
              </a:pathLst>
            </a:custGeom>
            <a:solidFill>
              <a:srgbClr val="FFFFFF"/>
            </a:solidFill>
          </p:spPr>
        </p:sp>
      </p:grpSp>
      <p:grpSp>
        <p:nvGrpSpPr>
          <p:cNvPr name="Group 4" id="4"/>
          <p:cNvGrpSpPr/>
          <p:nvPr/>
        </p:nvGrpSpPr>
        <p:grpSpPr>
          <a:xfrm rot="0">
            <a:off x="31051" y="0"/>
            <a:ext cx="18289809" cy="10287000"/>
            <a:chOff x="0" y="0"/>
            <a:chExt cx="24386412" cy="13716001"/>
          </a:xfrm>
        </p:grpSpPr>
        <p:sp>
          <p:nvSpPr>
            <p:cNvPr name="Freeform 5" id="5"/>
            <p:cNvSpPr/>
            <p:nvPr/>
          </p:nvSpPr>
          <p:spPr>
            <a:xfrm flipH="false" flipV="false" rot="0">
              <a:off x="0" y="0"/>
              <a:ext cx="24386412" cy="13716000"/>
            </a:xfrm>
            <a:custGeom>
              <a:avLst/>
              <a:gdLst/>
              <a:ahLst/>
              <a:cxnLst/>
              <a:rect r="r" b="b" t="t" l="l"/>
              <a:pathLst>
                <a:path h="13716000" w="24386412">
                  <a:moveTo>
                    <a:pt x="0" y="13716000"/>
                  </a:moveTo>
                  <a:lnTo>
                    <a:pt x="0" y="0"/>
                  </a:lnTo>
                  <a:lnTo>
                    <a:pt x="24386412" y="0"/>
                  </a:lnTo>
                  <a:cubicBezTo>
                    <a:pt x="22869017" y="1586230"/>
                    <a:pt x="21024214" y="2907030"/>
                    <a:pt x="18950304" y="3893820"/>
                  </a:cubicBezTo>
                  <a:cubicBezTo>
                    <a:pt x="16920336" y="4860290"/>
                    <a:pt x="14710918" y="5488305"/>
                    <a:pt x="12500356" y="6088380"/>
                  </a:cubicBezTo>
                  <a:cubicBezTo>
                    <a:pt x="10287507" y="6688455"/>
                    <a:pt x="8008111" y="7310755"/>
                    <a:pt x="5974714" y="8211185"/>
                  </a:cubicBezTo>
                  <a:cubicBezTo>
                    <a:pt x="3941317" y="9111615"/>
                    <a:pt x="2153031" y="10289540"/>
                    <a:pt x="924687" y="12002770"/>
                  </a:cubicBezTo>
                  <a:cubicBezTo>
                    <a:pt x="539623" y="12539980"/>
                    <a:pt x="229235" y="13114655"/>
                    <a:pt x="0" y="13716000"/>
                  </a:cubicBezTo>
                  <a:close/>
                </a:path>
              </a:pathLst>
            </a:custGeom>
            <a:solidFill>
              <a:srgbClr val="2866AB"/>
            </a:solidFill>
          </p:spPr>
        </p:sp>
      </p:grpSp>
      <p:sp>
        <p:nvSpPr>
          <p:cNvPr name="TextBox 6" id="6"/>
          <p:cNvSpPr txBox="true"/>
          <p:nvPr/>
        </p:nvSpPr>
        <p:spPr>
          <a:xfrm rot="0">
            <a:off x="317660" y="363853"/>
            <a:ext cx="15171709" cy="1857375"/>
          </a:xfrm>
          <a:prstGeom prst="rect">
            <a:avLst/>
          </a:prstGeom>
        </p:spPr>
        <p:txBody>
          <a:bodyPr anchor="t" rtlCol="false" tIns="0" lIns="0" bIns="0" rIns="0">
            <a:spAutoFit/>
          </a:bodyPr>
          <a:lstStyle/>
          <a:p>
            <a:pPr algn="l">
              <a:lnSpc>
                <a:spcPts val="7200"/>
              </a:lnSpc>
            </a:pPr>
            <a:r>
              <a:rPr lang="en-US" sz="6000">
                <a:solidFill>
                  <a:srgbClr val="FFFFFF"/>
                </a:solidFill>
                <a:latin typeface="Arimo"/>
                <a:ea typeface="Arimo"/>
                <a:cs typeface="Arimo"/>
                <a:sym typeface="Arimo"/>
              </a:rPr>
              <a:t>Dự đoán giá nhà bằng các </a:t>
            </a:r>
          </a:p>
          <a:p>
            <a:pPr algn="l">
              <a:lnSpc>
                <a:spcPts val="7200"/>
              </a:lnSpc>
            </a:pPr>
            <a:r>
              <a:rPr lang="en-US" sz="6000">
                <a:solidFill>
                  <a:srgbClr val="FFFFFF"/>
                </a:solidFill>
                <a:latin typeface="Arimo"/>
                <a:ea typeface="Arimo"/>
                <a:cs typeface="Arimo"/>
                <a:sym typeface="Arimo"/>
              </a:rPr>
              <a:t>mô hình máy học </a:t>
            </a:r>
          </a:p>
        </p:txBody>
      </p:sp>
      <p:sp>
        <p:nvSpPr>
          <p:cNvPr name="TextBox 7" id="7"/>
          <p:cNvSpPr txBox="true"/>
          <p:nvPr/>
        </p:nvSpPr>
        <p:spPr>
          <a:xfrm rot="0">
            <a:off x="335857" y="3545320"/>
            <a:ext cx="7382286" cy="830263"/>
          </a:xfrm>
          <a:prstGeom prst="rect">
            <a:avLst/>
          </a:prstGeom>
        </p:spPr>
        <p:txBody>
          <a:bodyPr anchor="t" rtlCol="false" tIns="0" lIns="0" bIns="0" rIns="0">
            <a:spAutoFit/>
          </a:bodyPr>
          <a:lstStyle/>
          <a:p>
            <a:pPr algn="l">
              <a:lnSpc>
                <a:spcPts val="3240"/>
              </a:lnSpc>
            </a:pPr>
            <a:r>
              <a:rPr lang="en-US" sz="2799">
                <a:solidFill>
                  <a:srgbClr val="FFFFFF"/>
                </a:solidFill>
                <a:latin typeface="Arial"/>
                <a:ea typeface="Arial"/>
                <a:cs typeface="Arial"/>
                <a:sym typeface="Arial"/>
              </a:rPr>
              <a:t>Đỗ Nguyễn Thanh Phong, Dương Chí Khang, Trịnh Minh Toàn, Cao Thanh Tài</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467236" y="509587"/>
            <a:ext cx="9605010" cy="1510474"/>
            <a:chOff x="0" y="0"/>
            <a:chExt cx="12806680" cy="2013965"/>
          </a:xfrm>
        </p:grpSpPr>
        <p:sp>
          <p:nvSpPr>
            <p:cNvPr name="Freeform 3" id="3"/>
            <p:cNvSpPr/>
            <p:nvPr/>
          </p:nvSpPr>
          <p:spPr>
            <a:xfrm flipH="false" flipV="false" rot="0">
              <a:off x="0" y="0"/>
              <a:ext cx="12806680" cy="2013966"/>
            </a:xfrm>
            <a:custGeom>
              <a:avLst/>
              <a:gdLst/>
              <a:ahLst/>
              <a:cxnLst/>
              <a:rect r="r" b="b" t="t" l="l"/>
              <a:pathLst>
                <a:path h="2013966" w="12806680">
                  <a:moveTo>
                    <a:pt x="0" y="0"/>
                  </a:moveTo>
                  <a:lnTo>
                    <a:pt x="12806680" y="0"/>
                  </a:lnTo>
                  <a:lnTo>
                    <a:pt x="12806680" y="2013966"/>
                  </a:lnTo>
                  <a:lnTo>
                    <a:pt x="0" y="2013966"/>
                  </a:lnTo>
                  <a:close/>
                </a:path>
              </a:pathLst>
            </a:custGeom>
            <a:solidFill>
              <a:srgbClr val="2865AB"/>
            </a:solidFill>
          </p:spPr>
        </p:sp>
      </p:grpSp>
      <p:sp>
        <p:nvSpPr>
          <p:cNvPr name="TextBox 4" id="4"/>
          <p:cNvSpPr txBox="true"/>
          <p:nvPr/>
        </p:nvSpPr>
        <p:spPr>
          <a:xfrm rot="0">
            <a:off x="4783980" y="684816"/>
            <a:ext cx="8971521" cy="1131441"/>
          </a:xfrm>
          <a:prstGeom prst="rect">
            <a:avLst/>
          </a:prstGeom>
        </p:spPr>
        <p:txBody>
          <a:bodyPr anchor="t" rtlCol="false" tIns="0" lIns="0" bIns="0" rIns="0">
            <a:spAutoFit/>
          </a:bodyPr>
          <a:lstStyle/>
          <a:p>
            <a:pPr algn="ctr">
              <a:lnSpc>
                <a:spcPts val="8640"/>
              </a:lnSpc>
            </a:pPr>
            <a:r>
              <a:rPr lang="en-US" sz="7200" b="true">
                <a:solidFill>
                  <a:srgbClr val="FFFFFF"/>
                </a:solidFill>
                <a:latin typeface="Arimo Bold"/>
                <a:ea typeface="Arimo Bold"/>
                <a:cs typeface="Arimo Bold"/>
                <a:sym typeface="Arimo Bold"/>
              </a:rPr>
              <a:t>Agenda</a:t>
            </a:r>
          </a:p>
        </p:txBody>
      </p:sp>
      <p:sp>
        <p:nvSpPr>
          <p:cNvPr name="TextBox 5" id="5"/>
          <p:cNvSpPr txBox="true"/>
          <p:nvPr/>
        </p:nvSpPr>
        <p:spPr>
          <a:xfrm rot="0">
            <a:off x="1348740" y="2307908"/>
            <a:ext cx="15590520" cy="7084838"/>
          </a:xfrm>
          <a:prstGeom prst="rect">
            <a:avLst/>
          </a:prstGeom>
        </p:spPr>
        <p:txBody>
          <a:bodyPr anchor="t" rtlCol="false" tIns="0" lIns="0" bIns="0" rIns="0">
            <a:spAutoFit/>
          </a:bodyPr>
          <a:lstStyle/>
          <a:p>
            <a:pPr algn="l">
              <a:lnSpc>
                <a:spcPts val="10560"/>
              </a:lnSpc>
            </a:pPr>
            <a:r>
              <a:rPr lang="en-US" sz="4400">
                <a:solidFill>
                  <a:srgbClr val="000000"/>
                </a:solidFill>
                <a:latin typeface="Arial"/>
                <a:ea typeface="Arial"/>
                <a:cs typeface="Arial"/>
                <a:sym typeface="Arial"/>
              </a:rPr>
              <a:t>1. Introduction</a:t>
            </a:r>
          </a:p>
          <a:p>
            <a:pPr algn="l">
              <a:lnSpc>
                <a:spcPts val="10560"/>
              </a:lnSpc>
            </a:pPr>
            <a:r>
              <a:rPr lang="en-US" sz="4400">
                <a:solidFill>
                  <a:srgbClr val="000000"/>
                </a:solidFill>
                <a:latin typeface="Arial"/>
                <a:ea typeface="Arial"/>
                <a:cs typeface="Arial"/>
                <a:sym typeface="Arial"/>
              </a:rPr>
              <a:t>2. Related works</a:t>
            </a:r>
          </a:p>
          <a:p>
            <a:pPr algn="l">
              <a:lnSpc>
                <a:spcPts val="10560"/>
              </a:lnSpc>
            </a:pPr>
            <a:r>
              <a:rPr lang="en-US" sz="4400">
                <a:solidFill>
                  <a:srgbClr val="000000"/>
                </a:solidFill>
                <a:latin typeface="Arial"/>
                <a:ea typeface="Arial"/>
                <a:cs typeface="Arial"/>
                <a:sym typeface="Arial"/>
              </a:rPr>
              <a:t>3. Proposed method</a:t>
            </a:r>
          </a:p>
          <a:p>
            <a:pPr algn="l">
              <a:lnSpc>
                <a:spcPts val="10560"/>
              </a:lnSpc>
            </a:pPr>
            <a:r>
              <a:rPr lang="en-US" sz="4400">
                <a:solidFill>
                  <a:srgbClr val="000000"/>
                </a:solidFill>
                <a:latin typeface="Arial"/>
                <a:ea typeface="Arial"/>
                <a:cs typeface="Arial"/>
                <a:sym typeface="Arial"/>
              </a:rPr>
              <a:t>4. Experiment and Results</a:t>
            </a:r>
          </a:p>
          <a:p>
            <a:pPr algn="l">
              <a:lnSpc>
                <a:spcPts val="10560"/>
              </a:lnSpc>
            </a:pPr>
            <a:r>
              <a:rPr lang="en-US" sz="4400">
                <a:solidFill>
                  <a:srgbClr val="000000"/>
                </a:solidFill>
                <a:latin typeface="Arial"/>
                <a:ea typeface="Arial"/>
                <a:cs typeface="Arial"/>
                <a:sym typeface="Arial"/>
              </a:rPr>
              <a:t>5. Conclusion</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586" y="0"/>
            <a:ext cx="10047801" cy="2717511"/>
          </a:xfrm>
          <a:custGeom>
            <a:avLst/>
            <a:gdLst/>
            <a:ahLst/>
            <a:cxnLst/>
            <a:rect r="r" b="b" t="t" l="l"/>
            <a:pathLst>
              <a:path h="2717511" w="10047801">
                <a:moveTo>
                  <a:pt x="0" y="0"/>
                </a:moveTo>
                <a:lnTo>
                  <a:pt x="10047801" y="0"/>
                </a:lnTo>
                <a:lnTo>
                  <a:pt x="10047801"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l="0" t="-116" r="0" b="-116"/>
            </a:stretch>
          </a:blipFill>
        </p:spPr>
      </p:sp>
      <p:sp>
        <p:nvSpPr>
          <p:cNvPr name="TextBox 3" id="3"/>
          <p:cNvSpPr txBox="true"/>
          <p:nvPr/>
        </p:nvSpPr>
        <p:spPr>
          <a:xfrm rot="0">
            <a:off x="248224" y="-210285"/>
            <a:ext cx="5238176" cy="1305103"/>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1. Introduction</a:t>
            </a:r>
          </a:p>
        </p:txBody>
      </p:sp>
      <p:sp>
        <p:nvSpPr>
          <p:cNvPr name="TextBox 4" id="4"/>
          <p:cNvSpPr txBox="true"/>
          <p:nvPr/>
        </p:nvSpPr>
        <p:spPr>
          <a:xfrm rot="0">
            <a:off x="1220079" y="2548274"/>
            <a:ext cx="3751290" cy="838200"/>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Input: Bộ đặc trưng mô tả căn nhà</a:t>
            </a:r>
          </a:p>
        </p:txBody>
      </p:sp>
      <p:sp>
        <p:nvSpPr>
          <p:cNvPr name="TextBox 5" id="5"/>
          <p:cNvSpPr txBox="true"/>
          <p:nvPr/>
        </p:nvSpPr>
        <p:spPr>
          <a:xfrm rot="0">
            <a:off x="12580421" y="2698461"/>
            <a:ext cx="3488055" cy="428625"/>
          </a:xfrm>
          <a:prstGeom prst="rect">
            <a:avLst/>
          </a:prstGeom>
        </p:spPr>
        <p:txBody>
          <a:bodyPr anchor="t" rtlCol="false" tIns="0" lIns="0" bIns="0" rIns="0">
            <a:spAutoFit/>
          </a:bodyPr>
          <a:lstStyle/>
          <a:p>
            <a:pPr algn="l">
              <a:lnSpc>
                <a:spcPts val="3240"/>
              </a:lnSpc>
            </a:pPr>
            <a:r>
              <a:rPr lang="en-US" sz="2700">
                <a:solidFill>
                  <a:srgbClr val="000000"/>
                </a:solidFill>
                <a:latin typeface="Arial"/>
                <a:ea typeface="Arial"/>
                <a:cs typeface="Arial"/>
                <a:sym typeface="Arial"/>
              </a:rPr>
              <a:t>Output: Giá nhà</a:t>
            </a:r>
          </a:p>
        </p:txBody>
      </p:sp>
      <p:grpSp>
        <p:nvGrpSpPr>
          <p:cNvPr name="Group 6" id="6"/>
          <p:cNvGrpSpPr/>
          <p:nvPr/>
        </p:nvGrpSpPr>
        <p:grpSpPr>
          <a:xfrm rot="0">
            <a:off x="1108884" y="3869006"/>
            <a:ext cx="3456242" cy="3456242"/>
            <a:chOff x="0" y="0"/>
            <a:chExt cx="4608323" cy="4608323"/>
          </a:xfrm>
        </p:grpSpPr>
        <p:sp>
          <p:nvSpPr>
            <p:cNvPr name="Freeform 7" id="7" descr="documentos icono vector. reporte ilustración signo. análisis ..."/>
            <p:cNvSpPr/>
            <p:nvPr/>
          </p:nvSpPr>
          <p:spPr>
            <a:xfrm flipH="false" flipV="false" rot="0">
              <a:off x="0" y="0"/>
              <a:ext cx="4608322" cy="4608322"/>
            </a:xfrm>
            <a:custGeom>
              <a:avLst/>
              <a:gdLst/>
              <a:ahLst/>
              <a:cxnLst/>
              <a:rect r="r" b="b" t="t" l="l"/>
              <a:pathLst>
                <a:path h="4608322" w="4608322">
                  <a:moveTo>
                    <a:pt x="0" y="0"/>
                  </a:moveTo>
                  <a:lnTo>
                    <a:pt x="4608322" y="0"/>
                  </a:lnTo>
                  <a:lnTo>
                    <a:pt x="4608322" y="4608322"/>
                  </a:lnTo>
                  <a:lnTo>
                    <a:pt x="0" y="4608322"/>
                  </a:lnTo>
                  <a:lnTo>
                    <a:pt x="0" y="0"/>
                  </a:lnTo>
                  <a:close/>
                </a:path>
              </a:pathLst>
            </a:custGeom>
            <a:blipFill>
              <a:blip r:embed="rId4"/>
              <a:stretch>
                <a:fillRect l="0" t="0" r="0" b="0"/>
              </a:stretch>
            </a:blipFill>
          </p:spPr>
        </p:sp>
      </p:grpSp>
      <p:grpSp>
        <p:nvGrpSpPr>
          <p:cNvPr name="Group 8" id="8"/>
          <p:cNvGrpSpPr/>
          <p:nvPr/>
        </p:nvGrpSpPr>
        <p:grpSpPr>
          <a:xfrm rot="0">
            <a:off x="4541071" y="5587278"/>
            <a:ext cx="2449272" cy="38100"/>
            <a:chOff x="0" y="0"/>
            <a:chExt cx="3265696" cy="50800"/>
          </a:xfrm>
        </p:grpSpPr>
        <p:sp>
          <p:nvSpPr>
            <p:cNvPr name="Freeform 9" id="9"/>
            <p:cNvSpPr/>
            <p:nvPr/>
          </p:nvSpPr>
          <p:spPr>
            <a:xfrm flipH="false" flipV="false" rot="0">
              <a:off x="0" y="0"/>
              <a:ext cx="3265805" cy="50927"/>
            </a:xfrm>
            <a:custGeom>
              <a:avLst/>
              <a:gdLst/>
              <a:ahLst/>
              <a:cxnLst/>
              <a:rect r="r" b="b" t="t" l="l"/>
              <a:pathLst>
                <a:path h="50927" w="3265805">
                  <a:moveTo>
                    <a:pt x="12827" y="0"/>
                  </a:moveTo>
                  <a:lnTo>
                    <a:pt x="3253105" y="25400"/>
                  </a:lnTo>
                  <a:cubicBezTo>
                    <a:pt x="3260090" y="25400"/>
                    <a:pt x="3265805" y="31242"/>
                    <a:pt x="3265678" y="38227"/>
                  </a:cubicBezTo>
                  <a:cubicBezTo>
                    <a:pt x="3265551" y="45212"/>
                    <a:pt x="3259836" y="50927"/>
                    <a:pt x="3252851" y="50800"/>
                  </a:cubicBezTo>
                  <a:lnTo>
                    <a:pt x="12573" y="25400"/>
                  </a:lnTo>
                  <a:cubicBezTo>
                    <a:pt x="5588" y="25400"/>
                    <a:pt x="0" y="19558"/>
                    <a:pt x="0" y="12573"/>
                  </a:cubicBezTo>
                  <a:cubicBezTo>
                    <a:pt x="0" y="5588"/>
                    <a:pt x="5842" y="0"/>
                    <a:pt x="12827" y="0"/>
                  </a:cubicBezTo>
                  <a:close/>
                </a:path>
              </a:pathLst>
            </a:custGeom>
            <a:solidFill>
              <a:srgbClr val="2865AB"/>
            </a:solidFill>
          </p:spPr>
        </p:sp>
      </p:grpSp>
      <p:grpSp>
        <p:nvGrpSpPr>
          <p:cNvPr name="Group 10" id="10"/>
          <p:cNvGrpSpPr/>
          <p:nvPr/>
        </p:nvGrpSpPr>
        <p:grpSpPr>
          <a:xfrm rot="0">
            <a:off x="6966303" y="5232453"/>
            <a:ext cx="3144965" cy="766191"/>
            <a:chOff x="0" y="0"/>
            <a:chExt cx="4193286" cy="1021588"/>
          </a:xfrm>
        </p:grpSpPr>
        <p:sp>
          <p:nvSpPr>
            <p:cNvPr name="Freeform 11" id="11"/>
            <p:cNvSpPr/>
            <p:nvPr/>
          </p:nvSpPr>
          <p:spPr>
            <a:xfrm flipH="false" flipV="false" rot="0">
              <a:off x="0" y="0"/>
              <a:ext cx="4193286" cy="1021588"/>
            </a:xfrm>
            <a:custGeom>
              <a:avLst/>
              <a:gdLst/>
              <a:ahLst/>
              <a:cxnLst/>
              <a:rect r="r" b="b" t="t" l="l"/>
              <a:pathLst>
                <a:path h="1021588" w="4193286">
                  <a:moveTo>
                    <a:pt x="0" y="170307"/>
                  </a:moveTo>
                  <a:cubicBezTo>
                    <a:pt x="0" y="76200"/>
                    <a:pt x="77597" y="0"/>
                    <a:pt x="173482" y="0"/>
                  </a:cubicBezTo>
                  <a:lnTo>
                    <a:pt x="4019804" y="0"/>
                  </a:lnTo>
                  <a:cubicBezTo>
                    <a:pt x="4115562" y="0"/>
                    <a:pt x="4193286" y="76200"/>
                    <a:pt x="4193286" y="170307"/>
                  </a:cubicBezTo>
                  <a:lnTo>
                    <a:pt x="4193286" y="851281"/>
                  </a:lnTo>
                  <a:cubicBezTo>
                    <a:pt x="4193286" y="945261"/>
                    <a:pt x="4115689" y="1021588"/>
                    <a:pt x="4019804" y="1021588"/>
                  </a:cubicBezTo>
                  <a:lnTo>
                    <a:pt x="173482" y="1021588"/>
                  </a:lnTo>
                  <a:cubicBezTo>
                    <a:pt x="77597" y="1021588"/>
                    <a:pt x="0" y="945388"/>
                    <a:pt x="0" y="851281"/>
                  </a:cubicBezTo>
                  <a:close/>
                </a:path>
              </a:pathLst>
            </a:custGeom>
            <a:solidFill>
              <a:srgbClr val="2865AB"/>
            </a:solidFill>
          </p:spPr>
        </p:sp>
      </p:grpSp>
      <p:sp>
        <p:nvSpPr>
          <p:cNvPr name="Freeform 12" id="12"/>
          <p:cNvSpPr/>
          <p:nvPr/>
        </p:nvSpPr>
        <p:spPr>
          <a:xfrm flipH="false" flipV="false" rot="0">
            <a:off x="6956778" y="5222928"/>
            <a:ext cx="3164015" cy="785241"/>
          </a:xfrm>
          <a:custGeom>
            <a:avLst/>
            <a:gdLst/>
            <a:ahLst/>
            <a:cxnLst/>
            <a:rect r="r" b="b" t="t" l="l"/>
            <a:pathLst>
              <a:path h="785241" w="3164015">
                <a:moveTo>
                  <a:pt x="0" y="0"/>
                </a:moveTo>
                <a:lnTo>
                  <a:pt x="3164015" y="0"/>
                </a:lnTo>
                <a:lnTo>
                  <a:pt x="3164015" y="785241"/>
                </a:lnTo>
                <a:lnTo>
                  <a:pt x="0" y="7852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6983681" y="5277809"/>
            <a:ext cx="3062431" cy="733623"/>
          </a:xfrm>
          <a:prstGeom prst="rect">
            <a:avLst/>
          </a:prstGeom>
        </p:spPr>
        <p:txBody>
          <a:bodyPr anchor="t" rtlCol="false" tIns="0" lIns="0" bIns="0" rIns="0">
            <a:spAutoFit/>
          </a:bodyPr>
          <a:lstStyle/>
          <a:p>
            <a:pPr algn="ctr">
              <a:lnSpc>
                <a:spcPts val="4320"/>
              </a:lnSpc>
            </a:pPr>
            <a:r>
              <a:rPr lang="en-US" sz="3600">
                <a:solidFill>
                  <a:srgbClr val="FFFFFF"/>
                </a:solidFill>
                <a:latin typeface="Arial"/>
                <a:ea typeface="Arial"/>
                <a:cs typeface="Arial"/>
                <a:sym typeface="Arial"/>
              </a:rPr>
              <a:t>Model</a:t>
            </a:r>
          </a:p>
        </p:txBody>
      </p:sp>
      <p:grpSp>
        <p:nvGrpSpPr>
          <p:cNvPr name="Group 14" id="14"/>
          <p:cNvGrpSpPr/>
          <p:nvPr/>
        </p:nvGrpSpPr>
        <p:grpSpPr>
          <a:xfrm rot="0">
            <a:off x="10087387" y="5596487"/>
            <a:ext cx="2448986" cy="38100"/>
            <a:chOff x="0" y="0"/>
            <a:chExt cx="3265315" cy="50800"/>
          </a:xfrm>
        </p:grpSpPr>
        <p:sp>
          <p:nvSpPr>
            <p:cNvPr name="Freeform 15" id="15"/>
            <p:cNvSpPr/>
            <p:nvPr/>
          </p:nvSpPr>
          <p:spPr>
            <a:xfrm flipH="false" flipV="false" rot="0">
              <a:off x="0" y="0"/>
              <a:ext cx="3265424" cy="50927"/>
            </a:xfrm>
            <a:custGeom>
              <a:avLst/>
              <a:gdLst/>
              <a:ahLst/>
              <a:cxnLst/>
              <a:rect r="r" b="b" t="t" l="l"/>
              <a:pathLst>
                <a:path h="50927" w="3265424">
                  <a:moveTo>
                    <a:pt x="12827" y="0"/>
                  </a:moveTo>
                  <a:lnTo>
                    <a:pt x="3252724" y="25400"/>
                  </a:lnTo>
                  <a:cubicBezTo>
                    <a:pt x="3259709" y="25400"/>
                    <a:pt x="3265424" y="31242"/>
                    <a:pt x="3265297" y="38227"/>
                  </a:cubicBezTo>
                  <a:cubicBezTo>
                    <a:pt x="3265170" y="45212"/>
                    <a:pt x="3259455" y="50927"/>
                    <a:pt x="3252470" y="50800"/>
                  </a:cubicBezTo>
                  <a:lnTo>
                    <a:pt x="12573" y="25400"/>
                  </a:lnTo>
                  <a:cubicBezTo>
                    <a:pt x="5588" y="25400"/>
                    <a:pt x="0" y="19558"/>
                    <a:pt x="0" y="12573"/>
                  </a:cubicBezTo>
                  <a:cubicBezTo>
                    <a:pt x="0" y="5588"/>
                    <a:pt x="5842" y="0"/>
                    <a:pt x="12827" y="0"/>
                  </a:cubicBezTo>
                  <a:close/>
                </a:path>
              </a:pathLst>
            </a:custGeom>
            <a:solidFill>
              <a:srgbClr val="2865AB"/>
            </a:solidFill>
          </p:spPr>
        </p:sp>
      </p:grpSp>
      <p:grpSp>
        <p:nvGrpSpPr>
          <p:cNvPr name="Group 16" id="16"/>
          <p:cNvGrpSpPr/>
          <p:nvPr/>
        </p:nvGrpSpPr>
        <p:grpSpPr>
          <a:xfrm rot="0">
            <a:off x="12580421" y="5143500"/>
            <a:ext cx="3494003" cy="1143093"/>
            <a:chOff x="0" y="0"/>
            <a:chExt cx="920231" cy="301062"/>
          </a:xfrm>
        </p:grpSpPr>
        <p:sp>
          <p:nvSpPr>
            <p:cNvPr name="Freeform 17" id="17"/>
            <p:cNvSpPr/>
            <p:nvPr/>
          </p:nvSpPr>
          <p:spPr>
            <a:xfrm flipH="false" flipV="false" rot="0">
              <a:off x="0" y="0"/>
              <a:ext cx="920231" cy="301062"/>
            </a:xfrm>
            <a:custGeom>
              <a:avLst/>
              <a:gdLst/>
              <a:ahLst/>
              <a:cxnLst/>
              <a:rect r="r" b="b" t="t" l="l"/>
              <a:pathLst>
                <a:path h="301062" w="920231">
                  <a:moveTo>
                    <a:pt x="37668" y="0"/>
                  </a:moveTo>
                  <a:lnTo>
                    <a:pt x="882563" y="0"/>
                  </a:lnTo>
                  <a:cubicBezTo>
                    <a:pt x="903367" y="0"/>
                    <a:pt x="920231" y="16865"/>
                    <a:pt x="920231" y="37668"/>
                  </a:cubicBezTo>
                  <a:lnTo>
                    <a:pt x="920231" y="263393"/>
                  </a:lnTo>
                  <a:cubicBezTo>
                    <a:pt x="920231" y="284197"/>
                    <a:pt x="903367" y="301062"/>
                    <a:pt x="882563" y="301062"/>
                  </a:cubicBezTo>
                  <a:lnTo>
                    <a:pt x="37668" y="301062"/>
                  </a:lnTo>
                  <a:cubicBezTo>
                    <a:pt x="27678" y="301062"/>
                    <a:pt x="18097" y="297093"/>
                    <a:pt x="11033" y="290029"/>
                  </a:cubicBezTo>
                  <a:cubicBezTo>
                    <a:pt x="3969" y="282965"/>
                    <a:pt x="0" y="273384"/>
                    <a:pt x="0" y="263393"/>
                  </a:cubicBezTo>
                  <a:lnTo>
                    <a:pt x="0" y="37668"/>
                  </a:lnTo>
                  <a:cubicBezTo>
                    <a:pt x="0" y="16865"/>
                    <a:pt x="16865" y="0"/>
                    <a:pt x="37668" y="0"/>
                  </a:cubicBezTo>
                  <a:close/>
                </a:path>
              </a:pathLst>
            </a:custGeom>
            <a:solidFill>
              <a:srgbClr val="2865AB"/>
            </a:solidFill>
          </p:spPr>
        </p:sp>
        <p:sp>
          <p:nvSpPr>
            <p:cNvPr name="TextBox 18" id="18"/>
            <p:cNvSpPr txBox="true"/>
            <p:nvPr/>
          </p:nvSpPr>
          <p:spPr>
            <a:xfrm>
              <a:off x="0" y="-57150"/>
              <a:ext cx="920231" cy="358212"/>
            </a:xfrm>
            <a:prstGeom prst="rect">
              <a:avLst/>
            </a:prstGeom>
          </p:spPr>
          <p:txBody>
            <a:bodyPr anchor="ctr" rtlCol="false" tIns="50800" lIns="50800" bIns="50800" rIns="50800"/>
            <a:lstStyle/>
            <a:p>
              <a:pPr algn="ctr">
                <a:lnSpc>
                  <a:spcPts val="3359"/>
                </a:lnSpc>
              </a:pPr>
              <a:r>
                <a:rPr lang="en-US" sz="2399">
                  <a:solidFill>
                    <a:srgbClr val="FFFFFF"/>
                  </a:solidFill>
                  <a:latin typeface="Arial"/>
                  <a:ea typeface="Arial"/>
                  <a:cs typeface="Arial"/>
                  <a:sym typeface="Arial"/>
                </a:rPr>
                <a:t>34900 - 755000đô</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5674"/>
            <a:ext cx="10047801" cy="2558158"/>
          </a:xfrm>
          <a:custGeom>
            <a:avLst/>
            <a:gdLst/>
            <a:ahLst/>
            <a:cxnLst/>
            <a:rect r="r" b="b" t="t" l="l"/>
            <a:pathLst>
              <a:path h="2558158" w="10047801">
                <a:moveTo>
                  <a:pt x="0" y="0"/>
                </a:moveTo>
                <a:lnTo>
                  <a:pt x="10047801" y="0"/>
                </a:lnTo>
                <a:lnTo>
                  <a:pt x="10047801" y="2558158"/>
                </a:lnTo>
                <a:lnTo>
                  <a:pt x="0" y="2558158"/>
                </a:lnTo>
                <a:lnTo>
                  <a:pt x="0" y="0"/>
                </a:lnTo>
                <a:close/>
              </a:path>
            </a:pathLst>
          </a:custGeom>
          <a:blipFill>
            <a:blip r:embed="rId2">
              <a:extLst>
                <a:ext uri="{96DAC541-7B7A-43D3-8B79-37D633B846F1}">
                  <asvg:svgBlip xmlns:asvg="http://schemas.microsoft.com/office/drawing/2016/SVG/main" r:embed="rId3"/>
                </a:ext>
              </a:extLst>
            </a:blip>
            <a:stretch>
              <a:fillRect l="0" t="-74" r="0" b="-74"/>
            </a:stretch>
          </a:blipFill>
        </p:spPr>
      </p:sp>
      <p:pic>
        <p:nvPicPr>
          <p:cNvPr name="Picture 3" id="3"/>
          <p:cNvPicPr>
            <a:picLocks noChangeAspect="true"/>
          </p:cNvPicPr>
          <p:nvPr/>
        </p:nvPicPr>
        <p:blipFill>
          <a:blip r:embed="rId4"/>
          <a:stretch>
            <a:fillRect/>
          </a:stretch>
        </p:blipFill>
        <p:spPr>
          <a:xfrm rot="0">
            <a:off x="8777308" y="690031"/>
            <a:ext cx="10375301" cy="9978516"/>
          </a:xfrm>
          <a:prstGeom prst="rect">
            <a:avLst/>
          </a:prstGeom>
        </p:spPr>
      </p:pic>
      <p:graphicFrame>
        <p:nvGraphicFramePr>
          <p:cNvPr name="Table 4" id="4"/>
          <p:cNvGraphicFramePr>
            <a:graphicFrameLocks noGrp="true"/>
          </p:cNvGraphicFramePr>
          <p:nvPr/>
        </p:nvGraphicFramePr>
        <p:xfrm>
          <a:off x="0" y="2131853"/>
          <a:ext cx="8598316" cy="8155147"/>
        </p:xfrm>
        <a:graphic>
          <a:graphicData uri="http://schemas.openxmlformats.org/drawingml/2006/table">
            <a:tbl>
              <a:tblPr/>
              <a:tblGrid>
                <a:gridCol w="2299254"/>
                <a:gridCol w="6299062"/>
              </a:tblGrid>
              <a:tr h="1177074">
                <a:tc>
                  <a:txBody>
                    <a:bodyPr anchor="t" rtlCol="false"/>
                    <a:lstStyle/>
                    <a:p>
                      <a:pPr algn="l">
                        <a:lnSpc>
                          <a:spcPts val="2529"/>
                        </a:lnSpc>
                        <a:defRPr/>
                      </a:pPr>
                      <a:r>
                        <a:rPr lang="en-US" sz="2199" b="true">
                          <a:solidFill>
                            <a:srgbClr val="1B1C1D"/>
                          </a:solidFill>
                          <a:latin typeface="Canva Sans Bold"/>
                          <a:ea typeface="Canva Sans Bold"/>
                          <a:cs typeface="Canva Sans Bold"/>
                          <a:sym typeface="Canva Sans Bold"/>
                        </a:rPr>
                        <a:t>SalePrice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2529"/>
                        </a:lnSpc>
                        <a:defRPr/>
                      </a:pPr>
                      <a:r>
                        <a:rPr lang="en-US" b="true" sz="2199">
                          <a:solidFill>
                            <a:srgbClr val="1B1C1D"/>
                          </a:solidFill>
                          <a:latin typeface="Canva Sans Bold"/>
                          <a:ea typeface="Canva Sans Bold"/>
                          <a:cs typeface="Canva Sans Bold"/>
                          <a:sym typeface="Canva Sans Bold"/>
                        </a:rPr>
                        <a:t>Giá bán bất động sản tính bằng đô la.</a:t>
                      </a:r>
                      <a:r>
                        <a:rPr lang="en-US" sz="2199">
                          <a:solidFill>
                            <a:srgbClr val="000000"/>
                          </a:solidFill>
                          <a:latin typeface="Canva Sans"/>
                          <a:ea typeface="Canva Sans"/>
                          <a:cs typeface="Canva Sans"/>
                          <a:sym typeface="Canva Sans"/>
                        </a:rPr>
                        <a:t> (Biến Mục Tiêu)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870075">
                <a:tc>
                  <a:txBody>
                    <a:bodyPr anchor="t" rtlCol="false"/>
                    <a:lstStyle/>
                    <a:p>
                      <a:pPr algn="l">
                        <a:lnSpc>
                          <a:spcPts val="2529"/>
                        </a:lnSpc>
                        <a:defRPr/>
                      </a:pPr>
                      <a:r>
                        <a:rPr lang="en-US" sz="2199" b="true">
                          <a:solidFill>
                            <a:srgbClr val="1B1C1D"/>
                          </a:solidFill>
                          <a:latin typeface="Canva Sans Bold"/>
                          <a:ea typeface="Canva Sans Bold"/>
                          <a:cs typeface="Canva Sans Bold"/>
                          <a:sym typeface="Canva Sans Bold"/>
                        </a:rPr>
                        <a:t>MSSubClass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2529"/>
                        </a:lnSpc>
                        <a:defRPr/>
                      </a:pPr>
                      <a:r>
                        <a:rPr lang="en-US" sz="2199">
                          <a:solidFill>
                            <a:srgbClr val="1B1C1D"/>
                          </a:solidFill>
                          <a:latin typeface="Canva Sans"/>
                          <a:ea typeface="Canva Sans"/>
                          <a:cs typeface="Canva Sans"/>
                          <a:sym typeface="Canva Sans"/>
                        </a:rPr>
                        <a:t>Lớp xây dựng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861274">
                <a:tc>
                  <a:txBody>
                    <a:bodyPr anchor="t" rtlCol="false"/>
                    <a:lstStyle/>
                    <a:p>
                      <a:pPr algn="l">
                        <a:lnSpc>
                          <a:spcPts val="2529"/>
                        </a:lnSpc>
                        <a:defRPr/>
                      </a:pPr>
                      <a:r>
                        <a:rPr lang="en-US" sz="2199" b="true">
                          <a:solidFill>
                            <a:srgbClr val="1B1C1D"/>
                          </a:solidFill>
                          <a:latin typeface="Canva Sans Bold"/>
                          <a:ea typeface="Canva Sans Bold"/>
                          <a:cs typeface="Canva Sans Bold"/>
                          <a:sym typeface="Canva Sans Bold"/>
                        </a:rPr>
                        <a:t>MSZoning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2529"/>
                        </a:lnSpc>
                        <a:defRPr/>
                      </a:pPr>
                      <a:r>
                        <a:rPr lang="en-US" sz="2199">
                          <a:solidFill>
                            <a:srgbClr val="1B1C1D"/>
                          </a:solidFill>
                          <a:latin typeface="Canva Sans"/>
                          <a:ea typeface="Canva Sans"/>
                          <a:cs typeface="Canva Sans"/>
                          <a:sym typeface="Canva Sans"/>
                        </a:rPr>
                        <a:t>Phân loại phân vùng chung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861274">
                <a:tc>
                  <a:txBody>
                    <a:bodyPr anchor="t" rtlCol="false"/>
                    <a:lstStyle/>
                    <a:p>
                      <a:pPr algn="l">
                        <a:lnSpc>
                          <a:spcPts val="2529"/>
                        </a:lnSpc>
                        <a:defRPr/>
                      </a:pPr>
                      <a:r>
                        <a:rPr lang="en-US" sz="2199" b="true">
                          <a:solidFill>
                            <a:srgbClr val="1B1C1D"/>
                          </a:solidFill>
                          <a:latin typeface="Canva Sans Bold"/>
                          <a:ea typeface="Canva Sans Bold"/>
                          <a:cs typeface="Canva Sans Bold"/>
                          <a:sym typeface="Canva Sans Bold"/>
                        </a:rPr>
                        <a:t>LotArea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2529"/>
                        </a:lnSpc>
                        <a:defRPr/>
                      </a:pPr>
                      <a:r>
                        <a:rPr lang="en-US" sz="2199">
                          <a:solidFill>
                            <a:srgbClr val="1B1C1D"/>
                          </a:solidFill>
                          <a:latin typeface="Canva Sans"/>
                          <a:ea typeface="Canva Sans"/>
                          <a:cs typeface="Canva Sans"/>
                          <a:sym typeface="Canva Sans"/>
                        </a:rPr>
                        <a:t>Diện tích lô đất tính bằng feet vuông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861274">
                <a:tc>
                  <a:txBody>
                    <a:bodyPr anchor="t" rtlCol="false"/>
                    <a:lstStyle/>
                    <a:p>
                      <a:pPr algn="l">
                        <a:lnSpc>
                          <a:spcPts val="2529"/>
                        </a:lnSpc>
                        <a:defRPr/>
                      </a:pPr>
                      <a:r>
                        <a:rPr lang="en-US" sz="2199" b="true">
                          <a:solidFill>
                            <a:srgbClr val="1B1C1D"/>
                          </a:solidFill>
                          <a:latin typeface="Canva Sans Bold"/>
                          <a:ea typeface="Canva Sans Bold"/>
                          <a:cs typeface="Canva Sans Bold"/>
                          <a:sym typeface="Canva Sans Bold"/>
                        </a:rPr>
                        <a:t>Đường phố</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2529"/>
                        </a:lnSpc>
                        <a:defRPr/>
                      </a:pPr>
                      <a:r>
                        <a:rPr lang="en-US" sz="2199">
                          <a:solidFill>
                            <a:srgbClr val="1B1C1D"/>
                          </a:solidFill>
                          <a:latin typeface="Canva Sans"/>
                          <a:ea typeface="Canva Sans"/>
                          <a:cs typeface="Canva Sans"/>
                          <a:sym typeface="Canva Sans"/>
                        </a:rPr>
                        <a:t>Loại đường đi vào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861274">
                <a:tc>
                  <a:txBody>
                    <a:bodyPr anchor="t" rtlCol="false"/>
                    <a:lstStyle/>
                    <a:p>
                      <a:pPr algn="l">
                        <a:lnSpc>
                          <a:spcPts val="2529"/>
                        </a:lnSpc>
                        <a:defRPr/>
                      </a:pPr>
                      <a:r>
                        <a:rPr lang="en-US" sz="2199" b="true">
                          <a:solidFill>
                            <a:srgbClr val="1B1C1D"/>
                          </a:solidFill>
                          <a:latin typeface="Canva Sans Bold"/>
                          <a:ea typeface="Canva Sans Bold"/>
                          <a:cs typeface="Canva Sans Bold"/>
                          <a:sym typeface="Canva Sans Bold"/>
                        </a:rPr>
                        <a:t>Hẻm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2529"/>
                        </a:lnSpc>
                        <a:defRPr/>
                      </a:pPr>
                      <a:r>
                        <a:rPr lang="en-US" sz="2199">
                          <a:solidFill>
                            <a:srgbClr val="1B1C1D"/>
                          </a:solidFill>
                          <a:latin typeface="Canva Sans"/>
                          <a:ea typeface="Canva Sans"/>
                          <a:cs typeface="Canva Sans"/>
                          <a:sym typeface="Canva Sans"/>
                        </a:rPr>
                        <a:t>Loại lối vào hẻm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861274">
                <a:tc>
                  <a:txBody>
                    <a:bodyPr anchor="t" rtlCol="false"/>
                    <a:lstStyle/>
                    <a:p>
                      <a:pPr algn="l">
                        <a:lnSpc>
                          <a:spcPts val="2529"/>
                        </a:lnSpc>
                        <a:defRPr/>
                      </a:pPr>
                      <a:r>
                        <a:rPr lang="en-US" sz="2199" b="true">
                          <a:solidFill>
                            <a:srgbClr val="1B1C1D"/>
                          </a:solidFill>
                          <a:latin typeface="Canva Sans Bold"/>
                          <a:ea typeface="Canva Sans Bold"/>
                          <a:cs typeface="Canva Sans Bold"/>
                          <a:sym typeface="Canva Sans Bold"/>
                        </a:rPr>
                        <a:t>LotShape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2529"/>
                        </a:lnSpc>
                        <a:defRPr/>
                      </a:pPr>
                      <a:r>
                        <a:rPr lang="en-US" sz="2199">
                          <a:solidFill>
                            <a:srgbClr val="1B1C1D"/>
                          </a:solidFill>
                          <a:latin typeface="Canva Sans"/>
                          <a:ea typeface="Canva Sans"/>
                          <a:cs typeface="Canva Sans"/>
                          <a:sym typeface="Canva Sans"/>
                        </a:rPr>
                        <a:t>Hình dạng chung của bất động sản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861274">
                <a:tc>
                  <a:txBody>
                    <a:bodyPr anchor="t" rtlCol="false"/>
                    <a:lstStyle/>
                    <a:p>
                      <a:pPr algn="l">
                        <a:lnSpc>
                          <a:spcPts val="2529"/>
                        </a:lnSpc>
                        <a:defRPr/>
                      </a:pPr>
                      <a:r>
                        <a:rPr lang="en-US" sz="2199" b="true">
                          <a:solidFill>
                            <a:srgbClr val="1B1C1D"/>
                          </a:solidFill>
                          <a:latin typeface="Canva Sans Bold"/>
                          <a:ea typeface="Canva Sans Bold"/>
                          <a:cs typeface="Canva Sans Bold"/>
                          <a:sym typeface="Canva Sans Bold"/>
                        </a:rPr>
                        <a:t>LandContour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2529"/>
                        </a:lnSpc>
                        <a:defRPr/>
                      </a:pPr>
                      <a:r>
                        <a:rPr lang="en-US" sz="2199">
                          <a:solidFill>
                            <a:srgbClr val="1B1C1D"/>
                          </a:solidFill>
                          <a:latin typeface="Canva Sans"/>
                          <a:ea typeface="Canva Sans"/>
                          <a:cs typeface="Canva Sans"/>
                          <a:sym typeface="Canva Sans"/>
                        </a:rPr>
                        <a:t>Độ phẳng của bất động sản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940355">
                <a:tc>
                  <a:txBody>
                    <a:bodyPr anchor="t" rtlCol="false"/>
                    <a:lstStyle/>
                    <a:p>
                      <a:pPr algn="l">
                        <a:lnSpc>
                          <a:spcPts val="2529"/>
                        </a:lnSpc>
                        <a:defRPr/>
                      </a:pPr>
                      <a:r>
                        <a:rPr lang="en-US" sz="2199" b="true">
                          <a:solidFill>
                            <a:srgbClr val="1B1C1D"/>
                          </a:solidFill>
                          <a:latin typeface="Canva Sans Bold"/>
                          <a:ea typeface="Canva Sans Bold"/>
                          <a:cs typeface="Canva Sans Bold"/>
                          <a:sym typeface="Canva Sans Bold"/>
                        </a:rPr>
                        <a:t>Tiện ích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2529"/>
                        </a:lnSpc>
                        <a:defRPr/>
                      </a:pPr>
                      <a:r>
                        <a:rPr lang="en-US" sz="2199">
                          <a:solidFill>
                            <a:srgbClr val="1B1C1D"/>
                          </a:solidFill>
                          <a:latin typeface="Canva Sans"/>
                          <a:ea typeface="Canva Sans"/>
                          <a:cs typeface="Canva Sans"/>
                          <a:sym typeface="Canva Sans"/>
                        </a:rPr>
                        <a:t>Loại tiện ích có sẵn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bl>
          </a:graphicData>
        </a:graphic>
      </p:graphicFrame>
      <p:sp>
        <p:nvSpPr>
          <p:cNvPr name="TextBox 5" id="5"/>
          <p:cNvSpPr txBox="true"/>
          <p:nvPr/>
        </p:nvSpPr>
        <p:spPr>
          <a:xfrm rot="0">
            <a:off x="381001" y="-279601"/>
            <a:ext cx="5334000" cy="1305103"/>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1. Introduction</a:t>
            </a:r>
          </a:p>
        </p:txBody>
      </p:sp>
      <p:sp>
        <p:nvSpPr>
          <p:cNvPr name="TextBox 6" id="6"/>
          <p:cNvSpPr txBox="true"/>
          <p:nvPr/>
        </p:nvSpPr>
        <p:spPr>
          <a:xfrm rot="0">
            <a:off x="1671269" y="1316514"/>
            <a:ext cx="6145530" cy="815338"/>
          </a:xfrm>
          <a:prstGeom prst="rect">
            <a:avLst/>
          </a:prstGeom>
        </p:spPr>
        <p:txBody>
          <a:bodyPr anchor="t" rtlCol="false" tIns="0" lIns="0" bIns="0" rIns="0">
            <a:spAutoFit/>
          </a:bodyPr>
          <a:lstStyle/>
          <a:p>
            <a:pPr algn="l">
              <a:lnSpc>
                <a:spcPts val="6840"/>
              </a:lnSpc>
              <a:spcBef>
                <a:spcPct val="0"/>
              </a:spcBef>
            </a:pPr>
            <a:r>
              <a:rPr lang="en-US" sz="3800">
                <a:solidFill>
                  <a:srgbClr val="000000"/>
                </a:solidFill>
                <a:latin typeface="Arimo"/>
                <a:ea typeface="Arimo"/>
                <a:cs typeface="Arimo"/>
                <a:sym typeface="Arimo"/>
              </a:rPr>
              <a:t>Bộ dữ liệu gồm 79 đặc trưng</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531" y="-2358"/>
            <a:ext cx="10047801" cy="2558158"/>
          </a:xfrm>
          <a:custGeom>
            <a:avLst/>
            <a:gdLst/>
            <a:ahLst/>
            <a:cxnLst/>
            <a:rect r="r" b="b" t="t" l="l"/>
            <a:pathLst>
              <a:path h="2558158" w="10047801">
                <a:moveTo>
                  <a:pt x="0" y="0"/>
                </a:moveTo>
                <a:lnTo>
                  <a:pt x="10047801" y="0"/>
                </a:lnTo>
                <a:lnTo>
                  <a:pt x="10047801" y="2558158"/>
                </a:lnTo>
                <a:lnTo>
                  <a:pt x="0" y="2558158"/>
                </a:lnTo>
                <a:lnTo>
                  <a:pt x="0" y="0"/>
                </a:lnTo>
                <a:close/>
              </a:path>
            </a:pathLst>
          </a:custGeom>
          <a:blipFill>
            <a:blip r:embed="rId2">
              <a:extLst>
                <a:ext uri="{96DAC541-7B7A-43D3-8B79-37D633B846F1}">
                  <asvg:svgBlip xmlns:asvg="http://schemas.microsoft.com/office/drawing/2016/SVG/main" r:embed="rId3"/>
                </a:ext>
              </a:extLst>
            </a:blip>
            <a:stretch>
              <a:fillRect l="0" t="-74" r="0" b="-74"/>
            </a:stretch>
          </a:blipFill>
        </p:spPr>
      </p:sp>
      <p:sp>
        <p:nvSpPr>
          <p:cNvPr name="TextBox 3" id="3"/>
          <p:cNvSpPr txBox="true"/>
          <p:nvPr/>
        </p:nvSpPr>
        <p:spPr>
          <a:xfrm rot="0">
            <a:off x="381001" y="-279601"/>
            <a:ext cx="5334000" cy="1305103"/>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1. Introduction</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014" y="-2507"/>
            <a:ext cx="9201639" cy="2717511"/>
          </a:xfrm>
          <a:custGeom>
            <a:avLst/>
            <a:gdLst/>
            <a:ahLst/>
            <a:cxnLst/>
            <a:rect r="r" b="b" t="t" l="l"/>
            <a:pathLst>
              <a:path h="2717511" w="9201639">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l="0" t="-72" r="0" b="-72"/>
            </a:stretch>
          </a:blipFill>
        </p:spPr>
      </p:sp>
      <p:sp>
        <p:nvSpPr>
          <p:cNvPr name="Freeform 3" id="3"/>
          <p:cNvSpPr/>
          <p:nvPr/>
        </p:nvSpPr>
        <p:spPr>
          <a:xfrm flipH="false" flipV="false" rot="0">
            <a:off x="573769" y="4130419"/>
            <a:ext cx="7605581" cy="5704186"/>
          </a:xfrm>
          <a:custGeom>
            <a:avLst/>
            <a:gdLst/>
            <a:ahLst/>
            <a:cxnLst/>
            <a:rect r="r" b="b" t="t" l="l"/>
            <a:pathLst>
              <a:path h="5704186" w="7605581">
                <a:moveTo>
                  <a:pt x="0" y="0"/>
                </a:moveTo>
                <a:lnTo>
                  <a:pt x="7605581" y="0"/>
                </a:lnTo>
                <a:lnTo>
                  <a:pt x="7605581" y="5704186"/>
                </a:lnTo>
                <a:lnTo>
                  <a:pt x="0" y="5704186"/>
                </a:lnTo>
                <a:lnTo>
                  <a:pt x="0" y="0"/>
                </a:lnTo>
                <a:close/>
              </a:path>
            </a:pathLst>
          </a:custGeom>
          <a:blipFill>
            <a:blip r:embed="rId4"/>
            <a:stretch>
              <a:fillRect l="0" t="0" r="0" b="0"/>
            </a:stretch>
          </a:blipFill>
        </p:spPr>
      </p:sp>
      <p:grpSp>
        <p:nvGrpSpPr>
          <p:cNvPr name="Group 4" id="4"/>
          <p:cNvGrpSpPr/>
          <p:nvPr/>
        </p:nvGrpSpPr>
        <p:grpSpPr>
          <a:xfrm rot="0">
            <a:off x="1700517" y="2336616"/>
            <a:ext cx="5696578" cy="1543050"/>
            <a:chOff x="0" y="0"/>
            <a:chExt cx="1500333" cy="406400"/>
          </a:xfrm>
        </p:grpSpPr>
        <p:sp>
          <p:nvSpPr>
            <p:cNvPr name="Freeform 5" id="5"/>
            <p:cNvSpPr/>
            <p:nvPr/>
          </p:nvSpPr>
          <p:spPr>
            <a:xfrm flipH="false" flipV="false" rot="0">
              <a:off x="0" y="0"/>
              <a:ext cx="1500333" cy="406400"/>
            </a:xfrm>
            <a:custGeom>
              <a:avLst/>
              <a:gdLst/>
              <a:ahLst/>
              <a:cxnLst/>
              <a:rect r="r" b="b" t="t" l="l"/>
              <a:pathLst>
                <a:path h="406400" w="1500333">
                  <a:moveTo>
                    <a:pt x="1297133" y="0"/>
                  </a:moveTo>
                  <a:cubicBezTo>
                    <a:pt x="1409357" y="0"/>
                    <a:pt x="1500333" y="90976"/>
                    <a:pt x="1500333" y="203200"/>
                  </a:cubicBezTo>
                  <a:cubicBezTo>
                    <a:pt x="1500333" y="315424"/>
                    <a:pt x="1409357" y="406400"/>
                    <a:pt x="1297133"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6" id="6"/>
            <p:cNvSpPr txBox="true"/>
            <p:nvPr/>
          </p:nvSpPr>
          <p:spPr>
            <a:xfrm>
              <a:off x="0" y="-76200"/>
              <a:ext cx="1500333" cy="482600"/>
            </a:xfrm>
            <a:prstGeom prst="rect">
              <a:avLst/>
            </a:prstGeom>
          </p:spPr>
          <p:txBody>
            <a:bodyPr anchor="ctr" rtlCol="false" tIns="50800" lIns="50800" bIns="50800" rIns="50800"/>
            <a:lstStyle/>
            <a:p>
              <a:pPr algn="ctr">
                <a:lnSpc>
                  <a:spcPts val="5319"/>
                </a:lnSpc>
                <a:spcBef>
                  <a:spcPct val="0"/>
                </a:spcBef>
              </a:pPr>
              <a:r>
                <a:rPr lang="en-US" sz="3799">
                  <a:solidFill>
                    <a:srgbClr val="FFFFFF"/>
                  </a:solidFill>
                  <a:latin typeface="Canva Sans"/>
                  <a:ea typeface="Canva Sans"/>
                  <a:cs typeface="Canva Sans"/>
                  <a:sym typeface="Canva Sans"/>
                </a:rPr>
                <a:t>KNeighborsRegressor</a:t>
              </a:r>
            </a:p>
          </p:txBody>
        </p:sp>
      </p:grpSp>
      <p:sp>
        <p:nvSpPr>
          <p:cNvPr name="Freeform 7" id="7"/>
          <p:cNvSpPr/>
          <p:nvPr/>
        </p:nvSpPr>
        <p:spPr>
          <a:xfrm flipH="false" flipV="false" rot="0">
            <a:off x="8949670" y="4130419"/>
            <a:ext cx="7829617" cy="5216482"/>
          </a:xfrm>
          <a:custGeom>
            <a:avLst/>
            <a:gdLst/>
            <a:ahLst/>
            <a:cxnLst/>
            <a:rect r="r" b="b" t="t" l="l"/>
            <a:pathLst>
              <a:path h="5216482" w="7829617">
                <a:moveTo>
                  <a:pt x="0" y="0"/>
                </a:moveTo>
                <a:lnTo>
                  <a:pt x="7829617" y="0"/>
                </a:lnTo>
                <a:lnTo>
                  <a:pt x="7829617" y="5216482"/>
                </a:lnTo>
                <a:lnTo>
                  <a:pt x="0" y="5216482"/>
                </a:lnTo>
                <a:lnTo>
                  <a:pt x="0" y="0"/>
                </a:lnTo>
                <a:close/>
              </a:path>
            </a:pathLst>
          </a:custGeom>
          <a:blipFill>
            <a:blip r:embed="rId5"/>
            <a:stretch>
              <a:fillRect l="0" t="0" r="0" b="0"/>
            </a:stretch>
          </a:blipFill>
        </p:spPr>
      </p:sp>
      <p:sp>
        <p:nvSpPr>
          <p:cNvPr name="TextBox 8" id="8"/>
          <p:cNvSpPr txBox="true"/>
          <p:nvPr/>
        </p:nvSpPr>
        <p:spPr>
          <a:xfrm rot="0">
            <a:off x="152400" y="-302900"/>
            <a:ext cx="6810202"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2. Related Work </a:t>
            </a:r>
          </a:p>
        </p:txBody>
      </p:sp>
      <p:sp>
        <p:nvSpPr>
          <p:cNvPr name="TextBox 9" id="9"/>
          <p:cNvSpPr txBox="true"/>
          <p:nvPr/>
        </p:nvSpPr>
        <p:spPr>
          <a:xfrm rot="0">
            <a:off x="2686420" y="1016858"/>
            <a:ext cx="7329770" cy="1024890"/>
          </a:xfrm>
          <a:prstGeom prst="rect">
            <a:avLst/>
          </a:prstGeom>
        </p:spPr>
        <p:txBody>
          <a:bodyPr anchor="t" rtlCol="false" tIns="0" lIns="0" bIns="0" rIns="0">
            <a:spAutoFit/>
          </a:bodyPr>
          <a:lstStyle/>
          <a:p>
            <a:pPr algn="l">
              <a:lnSpc>
                <a:spcPts val="8640"/>
              </a:lnSpc>
              <a:spcBef>
                <a:spcPct val="0"/>
              </a:spcBef>
            </a:pPr>
            <a:r>
              <a:rPr lang="en-US" sz="4800">
                <a:solidFill>
                  <a:srgbClr val="000000"/>
                </a:solidFill>
                <a:latin typeface="Arimo"/>
                <a:ea typeface="Arimo"/>
                <a:cs typeface="Arimo"/>
                <a:sym typeface="Arimo"/>
              </a:rPr>
              <a:t>Thuật toán sử dụng</a:t>
            </a:r>
          </a:p>
        </p:txBody>
      </p:sp>
      <p:grpSp>
        <p:nvGrpSpPr>
          <p:cNvPr name="Group 10" id="10"/>
          <p:cNvGrpSpPr/>
          <p:nvPr/>
        </p:nvGrpSpPr>
        <p:grpSpPr>
          <a:xfrm rot="0">
            <a:off x="10016190" y="2336616"/>
            <a:ext cx="5696578" cy="1543050"/>
            <a:chOff x="0" y="0"/>
            <a:chExt cx="1500333" cy="406400"/>
          </a:xfrm>
        </p:grpSpPr>
        <p:sp>
          <p:nvSpPr>
            <p:cNvPr name="Freeform 11" id="11"/>
            <p:cNvSpPr/>
            <p:nvPr/>
          </p:nvSpPr>
          <p:spPr>
            <a:xfrm flipH="false" flipV="false" rot="0">
              <a:off x="0" y="0"/>
              <a:ext cx="1500333" cy="406400"/>
            </a:xfrm>
            <a:custGeom>
              <a:avLst/>
              <a:gdLst/>
              <a:ahLst/>
              <a:cxnLst/>
              <a:rect r="r" b="b" t="t" l="l"/>
              <a:pathLst>
                <a:path h="406400" w="1500333">
                  <a:moveTo>
                    <a:pt x="1297133" y="0"/>
                  </a:moveTo>
                  <a:cubicBezTo>
                    <a:pt x="1409357" y="0"/>
                    <a:pt x="1500333" y="90976"/>
                    <a:pt x="1500333" y="203200"/>
                  </a:cubicBezTo>
                  <a:cubicBezTo>
                    <a:pt x="1500333" y="315424"/>
                    <a:pt x="1409357" y="406400"/>
                    <a:pt x="1297133"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12" id="12"/>
            <p:cNvSpPr txBox="true"/>
            <p:nvPr/>
          </p:nvSpPr>
          <p:spPr>
            <a:xfrm>
              <a:off x="0" y="-76200"/>
              <a:ext cx="1500333" cy="482600"/>
            </a:xfrm>
            <a:prstGeom prst="rect">
              <a:avLst/>
            </a:prstGeom>
          </p:spPr>
          <p:txBody>
            <a:bodyPr anchor="ctr" rtlCol="false" tIns="50800" lIns="50800" bIns="50800" rIns="50800"/>
            <a:lstStyle/>
            <a:p>
              <a:pPr algn="ctr">
                <a:lnSpc>
                  <a:spcPts val="5319"/>
                </a:lnSpc>
                <a:spcBef>
                  <a:spcPct val="0"/>
                </a:spcBef>
              </a:pPr>
              <a:r>
                <a:rPr lang="en-US" sz="3799">
                  <a:solidFill>
                    <a:srgbClr val="FFFFFF"/>
                  </a:solidFill>
                  <a:latin typeface="Canva Sans"/>
                  <a:ea typeface="Canva Sans"/>
                  <a:cs typeface="Canva Sans"/>
                  <a:sym typeface="Canva Sans"/>
                </a:rPr>
                <a:t>LinearRegression</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014" y="-2507"/>
            <a:ext cx="9201639" cy="2717511"/>
          </a:xfrm>
          <a:custGeom>
            <a:avLst/>
            <a:gdLst/>
            <a:ahLst/>
            <a:cxnLst/>
            <a:rect r="r" b="b" t="t" l="l"/>
            <a:pathLst>
              <a:path h="2717511" w="9201639">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l="0" t="-72" r="0" b="-72"/>
            </a:stretch>
          </a:blipFill>
        </p:spPr>
      </p:sp>
      <p:grpSp>
        <p:nvGrpSpPr>
          <p:cNvPr name="Group 3" id="3"/>
          <p:cNvGrpSpPr/>
          <p:nvPr/>
        </p:nvGrpSpPr>
        <p:grpSpPr>
          <a:xfrm rot="0">
            <a:off x="5553527" y="2460165"/>
            <a:ext cx="5696578" cy="1543050"/>
            <a:chOff x="0" y="0"/>
            <a:chExt cx="1500333" cy="406400"/>
          </a:xfrm>
        </p:grpSpPr>
        <p:sp>
          <p:nvSpPr>
            <p:cNvPr name="Freeform 4" id="4"/>
            <p:cNvSpPr/>
            <p:nvPr/>
          </p:nvSpPr>
          <p:spPr>
            <a:xfrm flipH="false" flipV="false" rot="0">
              <a:off x="0" y="0"/>
              <a:ext cx="1500333" cy="406400"/>
            </a:xfrm>
            <a:custGeom>
              <a:avLst/>
              <a:gdLst/>
              <a:ahLst/>
              <a:cxnLst/>
              <a:rect r="r" b="b" t="t" l="l"/>
              <a:pathLst>
                <a:path h="406400" w="1500333">
                  <a:moveTo>
                    <a:pt x="1297133" y="0"/>
                  </a:moveTo>
                  <a:cubicBezTo>
                    <a:pt x="1409357" y="0"/>
                    <a:pt x="1500333" y="90976"/>
                    <a:pt x="1500333" y="203200"/>
                  </a:cubicBezTo>
                  <a:cubicBezTo>
                    <a:pt x="1500333" y="315424"/>
                    <a:pt x="1409357" y="406400"/>
                    <a:pt x="1297133"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5" id="5"/>
            <p:cNvSpPr txBox="true"/>
            <p:nvPr/>
          </p:nvSpPr>
          <p:spPr>
            <a:xfrm>
              <a:off x="0" y="-76200"/>
              <a:ext cx="1500333" cy="482600"/>
            </a:xfrm>
            <a:prstGeom prst="rect">
              <a:avLst/>
            </a:prstGeom>
          </p:spPr>
          <p:txBody>
            <a:bodyPr anchor="ctr" rtlCol="false" tIns="50800" lIns="50800" bIns="50800" rIns="50800"/>
            <a:lstStyle/>
            <a:p>
              <a:pPr algn="ctr">
                <a:lnSpc>
                  <a:spcPts val="5319"/>
                </a:lnSpc>
                <a:spcBef>
                  <a:spcPct val="0"/>
                </a:spcBef>
              </a:pPr>
              <a:r>
                <a:rPr lang="en-US" sz="3799">
                  <a:solidFill>
                    <a:srgbClr val="FFFFFF"/>
                  </a:solidFill>
                  <a:latin typeface="Canva Sans"/>
                  <a:ea typeface="Canva Sans"/>
                  <a:cs typeface="Canva Sans"/>
                  <a:sym typeface="Canva Sans"/>
                </a:rPr>
                <a:t>DecisionTreeRegressor</a:t>
              </a:r>
            </a:p>
          </p:txBody>
        </p:sp>
      </p:grpSp>
      <p:sp>
        <p:nvSpPr>
          <p:cNvPr name="Freeform 6" id="6"/>
          <p:cNvSpPr/>
          <p:nvPr/>
        </p:nvSpPr>
        <p:spPr>
          <a:xfrm flipH="false" flipV="false" rot="0">
            <a:off x="3079365" y="4003215"/>
            <a:ext cx="11301259" cy="5255085"/>
          </a:xfrm>
          <a:custGeom>
            <a:avLst/>
            <a:gdLst/>
            <a:ahLst/>
            <a:cxnLst/>
            <a:rect r="r" b="b" t="t" l="l"/>
            <a:pathLst>
              <a:path h="5255085" w="11301259">
                <a:moveTo>
                  <a:pt x="0" y="0"/>
                </a:moveTo>
                <a:lnTo>
                  <a:pt x="11301259" y="0"/>
                </a:lnTo>
                <a:lnTo>
                  <a:pt x="11301259" y="5255085"/>
                </a:lnTo>
                <a:lnTo>
                  <a:pt x="0" y="5255085"/>
                </a:lnTo>
                <a:lnTo>
                  <a:pt x="0" y="0"/>
                </a:lnTo>
                <a:close/>
              </a:path>
            </a:pathLst>
          </a:custGeom>
          <a:blipFill>
            <a:blip r:embed="rId4"/>
            <a:stretch>
              <a:fillRect l="0" t="0" r="0" b="0"/>
            </a:stretch>
          </a:blipFill>
        </p:spPr>
      </p:sp>
      <p:sp>
        <p:nvSpPr>
          <p:cNvPr name="TextBox 7" id="7"/>
          <p:cNvSpPr txBox="true"/>
          <p:nvPr/>
        </p:nvSpPr>
        <p:spPr>
          <a:xfrm rot="0">
            <a:off x="152400" y="-302900"/>
            <a:ext cx="6810202"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2. Related Work </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014" y="-2507"/>
            <a:ext cx="9201639" cy="2717511"/>
          </a:xfrm>
          <a:custGeom>
            <a:avLst/>
            <a:gdLst/>
            <a:ahLst/>
            <a:cxnLst/>
            <a:rect r="r" b="b" t="t" l="l"/>
            <a:pathLst>
              <a:path h="2717511" w="9201639">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l="0" t="-72" r="0" b="-72"/>
            </a:stretch>
          </a:blipFill>
        </p:spPr>
      </p:sp>
      <p:sp>
        <p:nvSpPr>
          <p:cNvPr name="Freeform 3" id="3"/>
          <p:cNvSpPr/>
          <p:nvPr/>
        </p:nvSpPr>
        <p:spPr>
          <a:xfrm flipH="false" flipV="false" rot="0">
            <a:off x="313839" y="4263696"/>
            <a:ext cx="9370511" cy="5190963"/>
          </a:xfrm>
          <a:custGeom>
            <a:avLst/>
            <a:gdLst/>
            <a:ahLst/>
            <a:cxnLst/>
            <a:rect r="r" b="b" t="t" l="l"/>
            <a:pathLst>
              <a:path h="5190963" w="9370511">
                <a:moveTo>
                  <a:pt x="0" y="0"/>
                </a:moveTo>
                <a:lnTo>
                  <a:pt x="9370510" y="0"/>
                </a:lnTo>
                <a:lnTo>
                  <a:pt x="9370510" y="5190963"/>
                </a:lnTo>
                <a:lnTo>
                  <a:pt x="0" y="5190963"/>
                </a:lnTo>
                <a:lnTo>
                  <a:pt x="0" y="0"/>
                </a:lnTo>
                <a:close/>
              </a:path>
            </a:pathLst>
          </a:custGeom>
          <a:blipFill>
            <a:blip r:embed="rId4"/>
            <a:stretch>
              <a:fillRect l="0" t="-770" r="0" b="-770"/>
            </a:stretch>
          </a:blipFill>
        </p:spPr>
      </p:sp>
      <p:sp>
        <p:nvSpPr>
          <p:cNvPr name="TextBox 4" id="4"/>
          <p:cNvSpPr txBox="true"/>
          <p:nvPr/>
        </p:nvSpPr>
        <p:spPr>
          <a:xfrm rot="0">
            <a:off x="152400" y="-302900"/>
            <a:ext cx="6810202"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2. Related Work </a:t>
            </a:r>
          </a:p>
        </p:txBody>
      </p:sp>
      <p:grpSp>
        <p:nvGrpSpPr>
          <p:cNvPr name="Group 5" id="5"/>
          <p:cNvGrpSpPr/>
          <p:nvPr/>
        </p:nvGrpSpPr>
        <p:grpSpPr>
          <a:xfrm rot="0">
            <a:off x="1343327" y="2336616"/>
            <a:ext cx="7311534" cy="1543050"/>
            <a:chOff x="0" y="0"/>
            <a:chExt cx="1925672" cy="406400"/>
          </a:xfrm>
        </p:grpSpPr>
        <p:sp>
          <p:nvSpPr>
            <p:cNvPr name="Freeform 6" id="6"/>
            <p:cNvSpPr/>
            <p:nvPr/>
          </p:nvSpPr>
          <p:spPr>
            <a:xfrm flipH="false" flipV="false" rot="0">
              <a:off x="0" y="0"/>
              <a:ext cx="1925672" cy="406400"/>
            </a:xfrm>
            <a:custGeom>
              <a:avLst/>
              <a:gdLst/>
              <a:ahLst/>
              <a:cxnLst/>
              <a:rect r="r" b="b" t="t" l="l"/>
              <a:pathLst>
                <a:path h="406400" w="1925672">
                  <a:moveTo>
                    <a:pt x="1722472" y="0"/>
                  </a:moveTo>
                  <a:cubicBezTo>
                    <a:pt x="1834696" y="0"/>
                    <a:pt x="1925672" y="90976"/>
                    <a:pt x="1925672" y="203200"/>
                  </a:cubicBezTo>
                  <a:cubicBezTo>
                    <a:pt x="1925672" y="315424"/>
                    <a:pt x="1834696" y="406400"/>
                    <a:pt x="1722472" y="406400"/>
                  </a:cubicBezTo>
                  <a:lnTo>
                    <a:pt x="203200" y="406400"/>
                  </a:lnTo>
                  <a:cubicBezTo>
                    <a:pt x="90976" y="406400"/>
                    <a:pt x="0" y="315424"/>
                    <a:pt x="0" y="203200"/>
                  </a:cubicBezTo>
                  <a:cubicBezTo>
                    <a:pt x="0" y="90976"/>
                    <a:pt x="90976" y="0"/>
                    <a:pt x="203200" y="0"/>
                  </a:cubicBezTo>
                  <a:close/>
                </a:path>
              </a:pathLst>
            </a:custGeom>
            <a:solidFill>
              <a:srgbClr val="2866AB"/>
            </a:solidFill>
          </p:spPr>
        </p:sp>
        <p:sp>
          <p:nvSpPr>
            <p:cNvPr name="TextBox 7" id="7"/>
            <p:cNvSpPr txBox="true"/>
            <p:nvPr/>
          </p:nvSpPr>
          <p:spPr>
            <a:xfrm>
              <a:off x="0" y="-76200"/>
              <a:ext cx="1925672" cy="482600"/>
            </a:xfrm>
            <a:prstGeom prst="rect">
              <a:avLst/>
            </a:prstGeom>
          </p:spPr>
          <p:txBody>
            <a:bodyPr anchor="ctr" rtlCol="false" tIns="50800" lIns="50800" bIns="50800" rIns="50800"/>
            <a:lstStyle/>
            <a:p>
              <a:pPr algn="ctr">
                <a:lnSpc>
                  <a:spcPts val="5319"/>
                </a:lnSpc>
                <a:spcBef>
                  <a:spcPct val="0"/>
                </a:spcBef>
              </a:pPr>
              <a:r>
                <a:rPr lang="en-US" sz="3799">
                  <a:solidFill>
                    <a:srgbClr val="FFFFFF"/>
                  </a:solidFill>
                  <a:latin typeface="Canva Sans"/>
                  <a:ea typeface="Canva Sans"/>
                  <a:cs typeface="Canva Sans"/>
                  <a:sym typeface="Canva Sans"/>
                </a:rPr>
                <a:t>GradientBoostingRegressor</a:t>
              </a:r>
            </a:p>
          </p:txBody>
        </p:sp>
      </p:grpSp>
      <p:sp>
        <p:nvSpPr>
          <p:cNvPr name="Freeform 8" id="8"/>
          <p:cNvSpPr/>
          <p:nvPr/>
        </p:nvSpPr>
        <p:spPr>
          <a:xfrm flipH="false" flipV="false" rot="0">
            <a:off x="9820039" y="4087996"/>
            <a:ext cx="8293416" cy="5542364"/>
          </a:xfrm>
          <a:custGeom>
            <a:avLst/>
            <a:gdLst/>
            <a:ahLst/>
            <a:cxnLst/>
            <a:rect r="r" b="b" t="t" l="l"/>
            <a:pathLst>
              <a:path h="5542364" w="8293416">
                <a:moveTo>
                  <a:pt x="0" y="0"/>
                </a:moveTo>
                <a:lnTo>
                  <a:pt x="8293415" y="0"/>
                </a:lnTo>
                <a:lnTo>
                  <a:pt x="8293415" y="5542363"/>
                </a:lnTo>
                <a:lnTo>
                  <a:pt x="0" y="5542363"/>
                </a:lnTo>
                <a:lnTo>
                  <a:pt x="0" y="0"/>
                </a:lnTo>
                <a:close/>
              </a:path>
            </a:pathLst>
          </a:custGeom>
          <a:blipFill>
            <a:blip r:embed="rId5"/>
            <a:stretch>
              <a:fillRect l="0" t="0" r="0" b="0"/>
            </a:stretch>
          </a:blipFill>
        </p:spPr>
      </p:sp>
      <p:grpSp>
        <p:nvGrpSpPr>
          <p:cNvPr name="Group 9" id="9"/>
          <p:cNvGrpSpPr/>
          <p:nvPr/>
        </p:nvGrpSpPr>
        <p:grpSpPr>
          <a:xfrm rot="0">
            <a:off x="11406053" y="2336616"/>
            <a:ext cx="6050541" cy="1543050"/>
            <a:chOff x="0" y="0"/>
            <a:chExt cx="1593558" cy="406400"/>
          </a:xfrm>
        </p:grpSpPr>
        <p:sp>
          <p:nvSpPr>
            <p:cNvPr name="Freeform 10" id="10"/>
            <p:cNvSpPr/>
            <p:nvPr/>
          </p:nvSpPr>
          <p:spPr>
            <a:xfrm flipH="false" flipV="false" rot="0">
              <a:off x="0" y="0"/>
              <a:ext cx="1593558" cy="406400"/>
            </a:xfrm>
            <a:custGeom>
              <a:avLst/>
              <a:gdLst/>
              <a:ahLst/>
              <a:cxnLst/>
              <a:rect r="r" b="b" t="t" l="l"/>
              <a:pathLst>
                <a:path h="406400" w="1593558">
                  <a:moveTo>
                    <a:pt x="1390358" y="0"/>
                  </a:moveTo>
                  <a:cubicBezTo>
                    <a:pt x="1502582" y="0"/>
                    <a:pt x="1593558" y="90976"/>
                    <a:pt x="1593558" y="203200"/>
                  </a:cubicBezTo>
                  <a:cubicBezTo>
                    <a:pt x="1593558" y="315424"/>
                    <a:pt x="1502582" y="406400"/>
                    <a:pt x="1390358"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11" id="11"/>
            <p:cNvSpPr txBox="true"/>
            <p:nvPr/>
          </p:nvSpPr>
          <p:spPr>
            <a:xfrm>
              <a:off x="0" y="-76200"/>
              <a:ext cx="1593558" cy="482600"/>
            </a:xfrm>
            <a:prstGeom prst="rect">
              <a:avLst/>
            </a:prstGeom>
          </p:spPr>
          <p:txBody>
            <a:bodyPr anchor="ctr" rtlCol="false" tIns="50800" lIns="50800" bIns="50800" rIns="50800"/>
            <a:lstStyle/>
            <a:p>
              <a:pPr algn="ctr">
                <a:lnSpc>
                  <a:spcPts val="5319"/>
                </a:lnSpc>
                <a:spcBef>
                  <a:spcPct val="0"/>
                </a:spcBef>
              </a:pPr>
              <a:r>
                <a:rPr lang="en-US" sz="3799">
                  <a:solidFill>
                    <a:srgbClr val="FFFFFF"/>
                  </a:solidFill>
                  <a:latin typeface="Canva Sans"/>
                  <a:ea typeface="Canva Sans"/>
                  <a:cs typeface="Canva Sans"/>
                  <a:sym typeface="Canva Sans"/>
                </a:rPr>
                <a:t>RandomForestRegressor</a:t>
              </a:r>
            </a:p>
          </p:txBody>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014" y="-2507"/>
            <a:ext cx="9201639" cy="2717511"/>
          </a:xfrm>
          <a:custGeom>
            <a:avLst/>
            <a:gdLst/>
            <a:ahLst/>
            <a:cxnLst/>
            <a:rect r="r" b="b" t="t" l="l"/>
            <a:pathLst>
              <a:path h="2717511" w="9201639">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l="0" t="-72" r="0" b="-72"/>
            </a:stretch>
          </a:blipFill>
        </p:spPr>
      </p:sp>
      <p:sp>
        <p:nvSpPr>
          <p:cNvPr name="Freeform 3" id="3"/>
          <p:cNvSpPr/>
          <p:nvPr/>
        </p:nvSpPr>
        <p:spPr>
          <a:xfrm flipH="false" flipV="false" rot="0">
            <a:off x="746015" y="3817873"/>
            <a:ext cx="7605581" cy="5704186"/>
          </a:xfrm>
          <a:custGeom>
            <a:avLst/>
            <a:gdLst/>
            <a:ahLst/>
            <a:cxnLst/>
            <a:rect r="r" b="b" t="t" l="l"/>
            <a:pathLst>
              <a:path h="5704186" w="7605581">
                <a:moveTo>
                  <a:pt x="0" y="0"/>
                </a:moveTo>
                <a:lnTo>
                  <a:pt x="7605581" y="0"/>
                </a:lnTo>
                <a:lnTo>
                  <a:pt x="7605581" y="5704185"/>
                </a:lnTo>
                <a:lnTo>
                  <a:pt x="0" y="5704185"/>
                </a:lnTo>
                <a:lnTo>
                  <a:pt x="0" y="0"/>
                </a:lnTo>
                <a:close/>
              </a:path>
            </a:pathLst>
          </a:custGeom>
          <a:blipFill>
            <a:blip r:embed="rId4"/>
            <a:stretch>
              <a:fillRect l="0" t="0" r="0" b="0"/>
            </a:stretch>
          </a:blipFill>
        </p:spPr>
      </p:sp>
      <p:grpSp>
        <p:nvGrpSpPr>
          <p:cNvPr name="Group 4" id="4"/>
          <p:cNvGrpSpPr/>
          <p:nvPr/>
        </p:nvGrpSpPr>
        <p:grpSpPr>
          <a:xfrm rot="0">
            <a:off x="1523535" y="1943479"/>
            <a:ext cx="6050541" cy="1543050"/>
            <a:chOff x="0" y="0"/>
            <a:chExt cx="1593558" cy="406400"/>
          </a:xfrm>
        </p:grpSpPr>
        <p:sp>
          <p:nvSpPr>
            <p:cNvPr name="Freeform 5" id="5"/>
            <p:cNvSpPr/>
            <p:nvPr/>
          </p:nvSpPr>
          <p:spPr>
            <a:xfrm flipH="false" flipV="false" rot="0">
              <a:off x="0" y="0"/>
              <a:ext cx="1593558" cy="406400"/>
            </a:xfrm>
            <a:custGeom>
              <a:avLst/>
              <a:gdLst/>
              <a:ahLst/>
              <a:cxnLst/>
              <a:rect r="r" b="b" t="t" l="l"/>
              <a:pathLst>
                <a:path h="406400" w="1593558">
                  <a:moveTo>
                    <a:pt x="1390358" y="0"/>
                  </a:moveTo>
                  <a:cubicBezTo>
                    <a:pt x="1502582" y="0"/>
                    <a:pt x="1593558" y="90976"/>
                    <a:pt x="1593558" y="203200"/>
                  </a:cubicBezTo>
                  <a:cubicBezTo>
                    <a:pt x="1593558" y="315424"/>
                    <a:pt x="1502582" y="406400"/>
                    <a:pt x="1390358"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6" id="6"/>
            <p:cNvSpPr txBox="true"/>
            <p:nvPr/>
          </p:nvSpPr>
          <p:spPr>
            <a:xfrm>
              <a:off x="0" y="-76200"/>
              <a:ext cx="1593558" cy="482600"/>
            </a:xfrm>
            <a:prstGeom prst="rect">
              <a:avLst/>
            </a:prstGeom>
          </p:spPr>
          <p:txBody>
            <a:bodyPr anchor="ctr" rtlCol="false" tIns="50800" lIns="50800" bIns="50800" rIns="50800"/>
            <a:lstStyle/>
            <a:p>
              <a:pPr algn="ctr">
                <a:lnSpc>
                  <a:spcPts val="5319"/>
                </a:lnSpc>
                <a:spcBef>
                  <a:spcPct val="0"/>
                </a:spcBef>
              </a:pPr>
              <a:r>
                <a:rPr lang="en-US" sz="3799">
                  <a:solidFill>
                    <a:srgbClr val="FFFFFF"/>
                  </a:solidFill>
                  <a:latin typeface="Canva Sans"/>
                  <a:ea typeface="Canva Sans"/>
                  <a:cs typeface="Canva Sans"/>
                  <a:sym typeface="Canva Sans"/>
                </a:rPr>
                <a:t>SGDRegressor</a:t>
              </a:r>
            </a:p>
          </p:txBody>
        </p:sp>
      </p:grpSp>
      <p:sp>
        <p:nvSpPr>
          <p:cNvPr name="Freeform 7" id="7"/>
          <p:cNvSpPr/>
          <p:nvPr/>
        </p:nvSpPr>
        <p:spPr>
          <a:xfrm flipH="false" flipV="false" rot="0">
            <a:off x="8764059" y="4152227"/>
            <a:ext cx="7750652" cy="5106073"/>
          </a:xfrm>
          <a:custGeom>
            <a:avLst/>
            <a:gdLst/>
            <a:ahLst/>
            <a:cxnLst/>
            <a:rect r="r" b="b" t="t" l="l"/>
            <a:pathLst>
              <a:path h="5106073" w="7750652">
                <a:moveTo>
                  <a:pt x="0" y="0"/>
                </a:moveTo>
                <a:lnTo>
                  <a:pt x="7750652" y="0"/>
                </a:lnTo>
                <a:lnTo>
                  <a:pt x="7750652" y="5106073"/>
                </a:lnTo>
                <a:lnTo>
                  <a:pt x="0" y="5106073"/>
                </a:lnTo>
                <a:lnTo>
                  <a:pt x="0" y="0"/>
                </a:lnTo>
                <a:close/>
              </a:path>
            </a:pathLst>
          </a:custGeom>
          <a:blipFill>
            <a:blip r:embed="rId5"/>
            <a:stretch>
              <a:fillRect l="0" t="0" r="0" b="0"/>
            </a:stretch>
          </a:blipFill>
        </p:spPr>
      </p:sp>
      <p:sp>
        <p:nvSpPr>
          <p:cNvPr name="TextBox 8" id="8"/>
          <p:cNvSpPr txBox="true"/>
          <p:nvPr/>
        </p:nvSpPr>
        <p:spPr>
          <a:xfrm rot="0">
            <a:off x="152400" y="-302900"/>
            <a:ext cx="6810202"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2. Related Work </a:t>
            </a:r>
          </a:p>
        </p:txBody>
      </p:sp>
      <p:grpSp>
        <p:nvGrpSpPr>
          <p:cNvPr name="Group 9" id="9"/>
          <p:cNvGrpSpPr/>
          <p:nvPr/>
        </p:nvGrpSpPr>
        <p:grpSpPr>
          <a:xfrm rot="0">
            <a:off x="10060435" y="1943479"/>
            <a:ext cx="6050541" cy="1543050"/>
            <a:chOff x="0" y="0"/>
            <a:chExt cx="1593558" cy="406400"/>
          </a:xfrm>
        </p:grpSpPr>
        <p:sp>
          <p:nvSpPr>
            <p:cNvPr name="Freeform 10" id="10"/>
            <p:cNvSpPr/>
            <p:nvPr/>
          </p:nvSpPr>
          <p:spPr>
            <a:xfrm flipH="false" flipV="false" rot="0">
              <a:off x="0" y="0"/>
              <a:ext cx="1593558" cy="406400"/>
            </a:xfrm>
            <a:custGeom>
              <a:avLst/>
              <a:gdLst/>
              <a:ahLst/>
              <a:cxnLst/>
              <a:rect r="r" b="b" t="t" l="l"/>
              <a:pathLst>
                <a:path h="406400" w="1593558">
                  <a:moveTo>
                    <a:pt x="1390358" y="0"/>
                  </a:moveTo>
                  <a:cubicBezTo>
                    <a:pt x="1502582" y="0"/>
                    <a:pt x="1593558" y="90976"/>
                    <a:pt x="1593558" y="203200"/>
                  </a:cubicBezTo>
                  <a:cubicBezTo>
                    <a:pt x="1593558" y="315424"/>
                    <a:pt x="1502582" y="406400"/>
                    <a:pt x="1390358"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11" id="11"/>
            <p:cNvSpPr txBox="true"/>
            <p:nvPr/>
          </p:nvSpPr>
          <p:spPr>
            <a:xfrm>
              <a:off x="0" y="-76200"/>
              <a:ext cx="1593558" cy="482600"/>
            </a:xfrm>
            <a:prstGeom prst="rect">
              <a:avLst/>
            </a:prstGeom>
          </p:spPr>
          <p:txBody>
            <a:bodyPr anchor="ctr" rtlCol="false" tIns="50800" lIns="50800" bIns="50800" rIns="50800"/>
            <a:lstStyle/>
            <a:p>
              <a:pPr algn="ctr">
                <a:lnSpc>
                  <a:spcPts val="5319"/>
                </a:lnSpc>
                <a:spcBef>
                  <a:spcPct val="0"/>
                </a:spcBef>
              </a:pPr>
              <a:r>
                <a:rPr lang="en-US" sz="3799">
                  <a:solidFill>
                    <a:srgbClr val="FFFFFF"/>
                  </a:solidFill>
                  <a:latin typeface="Canva Sans"/>
                  <a:ea typeface="Canva Sans"/>
                  <a:cs typeface="Canva Sans"/>
                  <a:sym typeface="Canva Sans"/>
                </a:rPr>
                <a:t>SVR</a:t>
              </a:r>
            </a:p>
          </p:txBody>
        </p:sp>
      </p:gr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014" y="-2507"/>
            <a:ext cx="9201639" cy="2717511"/>
          </a:xfrm>
          <a:custGeom>
            <a:avLst/>
            <a:gdLst/>
            <a:ahLst/>
            <a:cxnLst/>
            <a:rect r="r" b="b" t="t" l="l"/>
            <a:pathLst>
              <a:path h="2717511" w="9201639">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l="0" t="-72" r="0" b="-72"/>
            </a:stretch>
          </a:blipFill>
        </p:spPr>
      </p:sp>
      <p:sp>
        <p:nvSpPr>
          <p:cNvPr name="Freeform 3" id="3"/>
          <p:cNvSpPr/>
          <p:nvPr/>
        </p:nvSpPr>
        <p:spPr>
          <a:xfrm flipH="false" flipV="false" rot="0">
            <a:off x="3493371" y="4158607"/>
            <a:ext cx="11301259" cy="5099693"/>
          </a:xfrm>
          <a:custGeom>
            <a:avLst/>
            <a:gdLst/>
            <a:ahLst/>
            <a:cxnLst/>
            <a:rect r="r" b="b" t="t" l="l"/>
            <a:pathLst>
              <a:path h="5099693" w="11301259">
                <a:moveTo>
                  <a:pt x="0" y="0"/>
                </a:moveTo>
                <a:lnTo>
                  <a:pt x="11301258" y="0"/>
                </a:lnTo>
                <a:lnTo>
                  <a:pt x="11301258" y="5099693"/>
                </a:lnTo>
                <a:lnTo>
                  <a:pt x="0" y="5099693"/>
                </a:lnTo>
                <a:lnTo>
                  <a:pt x="0" y="0"/>
                </a:lnTo>
                <a:close/>
              </a:path>
            </a:pathLst>
          </a:custGeom>
          <a:blipFill>
            <a:blip r:embed="rId4"/>
            <a:stretch>
              <a:fillRect l="0" t="0" r="0" b="0"/>
            </a:stretch>
          </a:blipFill>
        </p:spPr>
      </p:sp>
      <p:sp>
        <p:nvSpPr>
          <p:cNvPr name="TextBox 4" id="4"/>
          <p:cNvSpPr txBox="true"/>
          <p:nvPr/>
        </p:nvSpPr>
        <p:spPr>
          <a:xfrm rot="0">
            <a:off x="152400" y="-302900"/>
            <a:ext cx="6810202"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2. Related Work </a:t>
            </a:r>
          </a:p>
        </p:txBody>
      </p:sp>
      <p:grpSp>
        <p:nvGrpSpPr>
          <p:cNvPr name="Group 5" id="5"/>
          <p:cNvGrpSpPr/>
          <p:nvPr/>
        </p:nvGrpSpPr>
        <p:grpSpPr>
          <a:xfrm rot="0">
            <a:off x="6124355" y="1943479"/>
            <a:ext cx="6050541" cy="1543050"/>
            <a:chOff x="0" y="0"/>
            <a:chExt cx="1593558" cy="406400"/>
          </a:xfrm>
        </p:grpSpPr>
        <p:sp>
          <p:nvSpPr>
            <p:cNvPr name="Freeform 6" id="6"/>
            <p:cNvSpPr/>
            <p:nvPr/>
          </p:nvSpPr>
          <p:spPr>
            <a:xfrm flipH="false" flipV="false" rot="0">
              <a:off x="0" y="0"/>
              <a:ext cx="1593558" cy="406400"/>
            </a:xfrm>
            <a:custGeom>
              <a:avLst/>
              <a:gdLst/>
              <a:ahLst/>
              <a:cxnLst/>
              <a:rect r="r" b="b" t="t" l="l"/>
              <a:pathLst>
                <a:path h="406400" w="1593558">
                  <a:moveTo>
                    <a:pt x="1390358" y="0"/>
                  </a:moveTo>
                  <a:cubicBezTo>
                    <a:pt x="1502582" y="0"/>
                    <a:pt x="1593558" y="90976"/>
                    <a:pt x="1593558" y="203200"/>
                  </a:cubicBezTo>
                  <a:cubicBezTo>
                    <a:pt x="1593558" y="315424"/>
                    <a:pt x="1502582" y="406400"/>
                    <a:pt x="1390358"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7" id="7"/>
            <p:cNvSpPr txBox="true"/>
            <p:nvPr/>
          </p:nvSpPr>
          <p:spPr>
            <a:xfrm>
              <a:off x="0" y="-76200"/>
              <a:ext cx="1593558" cy="482600"/>
            </a:xfrm>
            <a:prstGeom prst="rect">
              <a:avLst/>
            </a:prstGeom>
          </p:spPr>
          <p:txBody>
            <a:bodyPr anchor="ctr" rtlCol="false" tIns="50800" lIns="50800" bIns="50800" rIns="50800"/>
            <a:lstStyle/>
            <a:p>
              <a:pPr algn="ctr">
                <a:lnSpc>
                  <a:spcPts val="5319"/>
                </a:lnSpc>
                <a:spcBef>
                  <a:spcPct val="0"/>
                </a:spcBef>
              </a:pPr>
              <a:r>
                <a:rPr lang="en-US" sz="3799">
                  <a:solidFill>
                    <a:srgbClr val="FFFFFF"/>
                  </a:solidFill>
                  <a:latin typeface="Canva Sans"/>
                  <a:ea typeface="Canva Sans"/>
                  <a:cs typeface="Canva Sans"/>
                  <a:sym typeface="Canva Sans"/>
                </a:rPr>
                <a:t>SVXGBRegressor</a:t>
              </a:r>
            </a:p>
          </p:txBody>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014" y="-2507"/>
            <a:ext cx="9201639" cy="2717511"/>
          </a:xfrm>
          <a:custGeom>
            <a:avLst/>
            <a:gdLst/>
            <a:ahLst/>
            <a:cxnLst/>
            <a:rect r="r" b="b" t="t" l="l"/>
            <a:pathLst>
              <a:path h="2717511" w="9201639">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l="0" t="-72" r="0" b="-72"/>
            </a:stretch>
          </a:blipFill>
        </p:spPr>
      </p:sp>
      <p:sp>
        <p:nvSpPr>
          <p:cNvPr name="TextBox 3" id="3"/>
          <p:cNvSpPr txBox="true"/>
          <p:nvPr/>
        </p:nvSpPr>
        <p:spPr>
          <a:xfrm rot="0">
            <a:off x="152400" y="-302900"/>
            <a:ext cx="6810202"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2. Related Work </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02682" y="4538776"/>
            <a:ext cx="4141929" cy="1776412"/>
            <a:chOff x="0" y="0"/>
            <a:chExt cx="5522572" cy="2368549"/>
          </a:xfrm>
        </p:grpSpPr>
        <p:sp>
          <p:nvSpPr>
            <p:cNvPr name="Freeform 3" id="3"/>
            <p:cNvSpPr/>
            <p:nvPr/>
          </p:nvSpPr>
          <p:spPr>
            <a:xfrm flipH="false" flipV="false" rot="0">
              <a:off x="0" y="0"/>
              <a:ext cx="5522595" cy="2368550"/>
            </a:xfrm>
            <a:custGeom>
              <a:avLst/>
              <a:gdLst/>
              <a:ahLst/>
              <a:cxnLst/>
              <a:rect r="r" b="b" t="t" l="l"/>
              <a:pathLst>
                <a:path h="2368550" w="5522595">
                  <a:moveTo>
                    <a:pt x="0" y="0"/>
                  </a:moveTo>
                  <a:lnTo>
                    <a:pt x="4141978" y="0"/>
                  </a:lnTo>
                  <a:lnTo>
                    <a:pt x="5522595" y="1184275"/>
                  </a:lnTo>
                  <a:lnTo>
                    <a:pt x="4141978" y="2368550"/>
                  </a:lnTo>
                  <a:lnTo>
                    <a:pt x="0" y="2368550"/>
                  </a:lnTo>
                  <a:lnTo>
                    <a:pt x="1380617" y="1184275"/>
                  </a:lnTo>
                  <a:lnTo>
                    <a:pt x="0" y="0"/>
                  </a:lnTo>
                  <a:close/>
                </a:path>
              </a:pathLst>
            </a:custGeom>
            <a:solidFill>
              <a:srgbClr val="4F81BD"/>
            </a:solidFill>
          </p:spPr>
        </p:sp>
      </p:grpSp>
      <p:grpSp>
        <p:nvGrpSpPr>
          <p:cNvPr name="Group 4" id="4"/>
          <p:cNvGrpSpPr/>
          <p:nvPr/>
        </p:nvGrpSpPr>
        <p:grpSpPr>
          <a:xfrm rot="0">
            <a:off x="4308729" y="4372237"/>
            <a:ext cx="2847576" cy="1942951"/>
            <a:chOff x="0" y="0"/>
            <a:chExt cx="3796768" cy="2590601"/>
          </a:xfrm>
        </p:grpSpPr>
        <p:sp>
          <p:nvSpPr>
            <p:cNvPr name="Freeform 5" id="5"/>
            <p:cNvSpPr/>
            <p:nvPr/>
          </p:nvSpPr>
          <p:spPr>
            <a:xfrm flipH="false" flipV="false" rot="0">
              <a:off x="0" y="0"/>
              <a:ext cx="3796768" cy="2590601"/>
            </a:xfrm>
            <a:custGeom>
              <a:avLst/>
              <a:gdLst/>
              <a:ahLst/>
              <a:cxnLst/>
              <a:rect r="r" b="b" t="t" l="l"/>
              <a:pathLst>
                <a:path h="2590601" w="3796768">
                  <a:moveTo>
                    <a:pt x="0" y="0"/>
                  </a:moveTo>
                  <a:lnTo>
                    <a:pt x="3796768" y="0"/>
                  </a:lnTo>
                  <a:lnTo>
                    <a:pt x="3796768" y="2590601"/>
                  </a:lnTo>
                  <a:lnTo>
                    <a:pt x="0" y="2590601"/>
                  </a:lnTo>
                  <a:close/>
                </a:path>
              </a:pathLst>
            </a:custGeom>
            <a:solidFill>
              <a:srgbClr val="000000">
                <a:alpha val="0"/>
              </a:srgbClr>
            </a:solidFill>
          </p:spPr>
        </p:sp>
        <p:sp>
          <p:nvSpPr>
            <p:cNvPr name="TextBox 6" id="6"/>
            <p:cNvSpPr txBox="true"/>
            <p:nvPr/>
          </p:nvSpPr>
          <p:spPr>
            <a:xfrm>
              <a:off x="0" y="-57150"/>
              <a:ext cx="3796768" cy="2647751"/>
            </a:xfrm>
            <a:prstGeom prst="rect">
              <a:avLst/>
            </a:prstGeom>
          </p:spPr>
          <p:txBody>
            <a:bodyPr anchor="ctr" rtlCol="false" tIns="0" lIns="0" bIns="0" rIns="0"/>
            <a:lstStyle/>
            <a:p>
              <a:pPr algn="ctr">
                <a:lnSpc>
                  <a:spcPts val="3359"/>
                </a:lnSpc>
              </a:pPr>
              <a:r>
                <a:rPr lang="en-US" sz="2399">
                  <a:solidFill>
                    <a:srgbClr val="FFFFFF"/>
                  </a:solidFill>
                  <a:latin typeface="Arial"/>
                  <a:ea typeface="Arial"/>
                  <a:cs typeface="Arial"/>
                  <a:sym typeface="Arial"/>
                </a:rPr>
                <a:t>Phân tích và khám phá dữ liệu</a:t>
              </a:r>
            </a:p>
          </p:txBody>
        </p:sp>
      </p:grpSp>
      <p:grpSp>
        <p:nvGrpSpPr>
          <p:cNvPr name="Group 7" id="7"/>
          <p:cNvGrpSpPr/>
          <p:nvPr/>
        </p:nvGrpSpPr>
        <p:grpSpPr>
          <a:xfrm rot="0">
            <a:off x="6947118" y="4538776"/>
            <a:ext cx="3552825" cy="1776412"/>
            <a:chOff x="0" y="0"/>
            <a:chExt cx="4737100" cy="2368549"/>
          </a:xfrm>
        </p:grpSpPr>
        <p:sp>
          <p:nvSpPr>
            <p:cNvPr name="Freeform 8" id="8"/>
            <p:cNvSpPr/>
            <p:nvPr/>
          </p:nvSpPr>
          <p:spPr>
            <a:xfrm flipH="false" flipV="false" rot="0">
              <a:off x="0" y="0"/>
              <a:ext cx="4737100" cy="2368550"/>
            </a:xfrm>
            <a:custGeom>
              <a:avLst/>
              <a:gdLst/>
              <a:ahLst/>
              <a:cxnLst/>
              <a:rect r="r" b="b" t="t" l="l"/>
              <a:pathLst>
                <a:path h="2368550" w="4737100">
                  <a:moveTo>
                    <a:pt x="0" y="0"/>
                  </a:moveTo>
                  <a:lnTo>
                    <a:pt x="3552825" y="0"/>
                  </a:lnTo>
                  <a:lnTo>
                    <a:pt x="4737100" y="1184275"/>
                  </a:lnTo>
                  <a:lnTo>
                    <a:pt x="3552825" y="2368550"/>
                  </a:lnTo>
                  <a:lnTo>
                    <a:pt x="0" y="2368550"/>
                  </a:lnTo>
                  <a:lnTo>
                    <a:pt x="1184275" y="1184275"/>
                  </a:lnTo>
                  <a:lnTo>
                    <a:pt x="0" y="0"/>
                  </a:lnTo>
                  <a:close/>
                </a:path>
              </a:pathLst>
            </a:custGeom>
            <a:solidFill>
              <a:srgbClr val="4F81BD"/>
            </a:solidFill>
          </p:spPr>
        </p:sp>
      </p:grpSp>
      <p:grpSp>
        <p:nvGrpSpPr>
          <p:cNvPr name="Group 9" id="9"/>
          <p:cNvGrpSpPr/>
          <p:nvPr/>
        </p:nvGrpSpPr>
        <p:grpSpPr>
          <a:xfrm rot="0">
            <a:off x="7724298" y="4372237"/>
            <a:ext cx="2442567" cy="1942951"/>
            <a:chOff x="0" y="0"/>
            <a:chExt cx="3256756" cy="2590601"/>
          </a:xfrm>
        </p:grpSpPr>
        <p:sp>
          <p:nvSpPr>
            <p:cNvPr name="Freeform 10" id="10"/>
            <p:cNvSpPr/>
            <p:nvPr/>
          </p:nvSpPr>
          <p:spPr>
            <a:xfrm flipH="false" flipV="false" rot="0">
              <a:off x="0" y="0"/>
              <a:ext cx="3256756" cy="2590601"/>
            </a:xfrm>
            <a:custGeom>
              <a:avLst/>
              <a:gdLst/>
              <a:ahLst/>
              <a:cxnLst/>
              <a:rect r="r" b="b" t="t" l="l"/>
              <a:pathLst>
                <a:path h="2590601" w="3256756">
                  <a:moveTo>
                    <a:pt x="0" y="0"/>
                  </a:moveTo>
                  <a:lnTo>
                    <a:pt x="3256756" y="0"/>
                  </a:lnTo>
                  <a:lnTo>
                    <a:pt x="3256756" y="2590601"/>
                  </a:lnTo>
                  <a:lnTo>
                    <a:pt x="0" y="2590601"/>
                  </a:lnTo>
                  <a:close/>
                </a:path>
              </a:pathLst>
            </a:custGeom>
            <a:solidFill>
              <a:srgbClr val="000000">
                <a:alpha val="0"/>
              </a:srgbClr>
            </a:solidFill>
          </p:spPr>
        </p:sp>
        <p:sp>
          <p:nvSpPr>
            <p:cNvPr name="TextBox 11" id="11"/>
            <p:cNvSpPr txBox="true"/>
            <p:nvPr/>
          </p:nvSpPr>
          <p:spPr>
            <a:xfrm>
              <a:off x="0" y="-57150"/>
              <a:ext cx="3256756" cy="2647751"/>
            </a:xfrm>
            <a:prstGeom prst="rect">
              <a:avLst/>
            </a:prstGeom>
          </p:spPr>
          <p:txBody>
            <a:bodyPr anchor="ctr" rtlCol="false" tIns="0" lIns="0" bIns="0" rIns="0"/>
            <a:lstStyle/>
            <a:p>
              <a:pPr algn="ctr">
                <a:lnSpc>
                  <a:spcPts val="3359"/>
                </a:lnSpc>
              </a:pPr>
              <a:r>
                <a:rPr lang="en-US" sz="2399">
                  <a:solidFill>
                    <a:srgbClr val="FFFFFF"/>
                  </a:solidFill>
                  <a:latin typeface="Arial"/>
                  <a:ea typeface="Arial"/>
                  <a:cs typeface="Arial"/>
                  <a:sym typeface="Arial"/>
                </a:rPr>
                <a:t>Xử lí dữ liệu và</a:t>
              </a:r>
            </a:p>
            <a:p>
              <a:pPr algn="ctr">
                <a:lnSpc>
                  <a:spcPts val="3359"/>
                </a:lnSpc>
              </a:pPr>
              <a:r>
                <a:rPr lang="en-US" sz="2399">
                  <a:solidFill>
                    <a:srgbClr val="FFFFFF"/>
                  </a:solidFill>
                  <a:latin typeface="Arial"/>
                  <a:ea typeface="Arial"/>
                  <a:cs typeface="Arial"/>
                  <a:sym typeface="Arial"/>
                </a:rPr>
                <a:t>chọn đặc trưng</a:t>
              </a:r>
            </a:p>
          </p:txBody>
        </p:sp>
      </p:grpSp>
      <p:grpSp>
        <p:nvGrpSpPr>
          <p:cNvPr name="Group 12" id="12"/>
          <p:cNvGrpSpPr/>
          <p:nvPr/>
        </p:nvGrpSpPr>
        <p:grpSpPr>
          <a:xfrm rot="0">
            <a:off x="9971189" y="4538776"/>
            <a:ext cx="3729807" cy="1776412"/>
            <a:chOff x="0" y="0"/>
            <a:chExt cx="4973076" cy="2368549"/>
          </a:xfrm>
        </p:grpSpPr>
        <p:sp>
          <p:nvSpPr>
            <p:cNvPr name="Freeform 13" id="13"/>
            <p:cNvSpPr/>
            <p:nvPr/>
          </p:nvSpPr>
          <p:spPr>
            <a:xfrm flipH="false" flipV="false" rot="0">
              <a:off x="0" y="0"/>
              <a:ext cx="4973066" cy="2368550"/>
            </a:xfrm>
            <a:custGeom>
              <a:avLst/>
              <a:gdLst/>
              <a:ahLst/>
              <a:cxnLst/>
              <a:rect r="r" b="b" t="t" l="l"/>
              <a:pathLst>
                <a:path h="2368550" w="4973066">
                  <a:moveTo>
                    <a:pt x="0" y="0"/>
                  </a:moveTo>
                  <a:lnTo>
                    <a:pt x="3788791" y="0"/>
                  </a:lnTo>
                  <a:lnTo>
                    <a:pt x="4973066" y="1184275"/>
                  </a:lnTo>
                  <a:lnTo>
                    <a:pt x="3788791" y="2368550"/>
                  </a:lnTo>
                  <a:lnTo>
                    <a:pt x="0" y="2368550"/>
                  </a:lnTo>
                  <a:lnTo>
                    <a:pt x="1184275" y="1184275"/>
                  </a:lnTo>
                  <a:lnTo>
                    <a:pt x="0" y="0"/>
                  </a:lnTo>
                  <a:close/>
                </a:path>
              </a:pathLst>
            </a:custGeom>
            <a:solidFill>
              <a:srgbClr val="4F81BD"/>
            </a:solidFill>
          </p:spPr>
        </p:sp>
      </p:grpSp>
      <p:grpSp>
        <p:nvGrpSpPr>
          <p:cNvPr name="Group 14" id="14"/>
          <p:cNvGrpSpPr/>
          <p:nvPr/>
        </p:nvGrpSpPr>
        <p:grpSpPr>
          <a:xfrm rot="0">
            <a:off x="10748370" y="4372237"/>
            <a:ext cx="2619549" cy="1942951"/>
            <a:chOff x="0" y="0"/>
            <a:chExt cx="3492732" cy="2590601"/>
          </a:xfrm>
        </p:grpSpPr>
        <p:sp>
          <p:nvSpPr>
            <p:cNvPr name="Freeform 15" id="15"/>
            <p:cNvSpPr/>
            <p:nvPr/>
          </p:nvSpPr>
          <p:spPr>
            <a:xfrm flipH="false" flipV="false" rot="0">
              <a:off x="0" y="0"/>
              <a:ext cx="3492732" cy="2590601"/>
            </a:xfrm>
            <a:custGeom>
              <a:avLst/>
              <a:gdLst/>
              <a:ahLst/>
              <a:cxnLst/>
              <a:rect r="r" b="b" t="t" l="l"/>
              <a:pathLst>
                <a:path h="2590601" w="3492732">
                  <a:moveTo>
                    <a:pt x="0" y="0"/>
                  </a:moveTo>
                  <a:lnTo>
                    <a:pt x="3492732" y="0"/>
                  </a:lnTo>
                  <a:lnTo>
                    <a:pt x="3492732" y="2590601"/>
                  </a:lnTo>
                  <a:lnTo>
                    <a:pt x="0" y="2590601"/>
                  </a:lnTo>
                  <a:close/>
                </a:path>
              </a:pathLst>
            </a:custGeom>
            <a:solidFill>
              <a:srgbClr val="000000">
                <a:alpha val="0"/>
              </a:srgbClr>
            </a:solidFill>
          </p:spPr>
        </p:sp>
        <p:sp>
          <p:nvSpPr>
            <p:cNvPr name="TextBox 16" id="16"/>
            <p:cNvSpPr txBox="true"/>
            <p:nvPr/>
          </p:nvSpPr>
          <p:spPr>
            <a:xfrm>
              <a:off x="0" y="-57150"/>
              <a:ext cx="3492732" cy="2647751"/>
            </a:xfrm>
            <a:prstGeom prst="rect">
              <a:avLst/>
            </a:prstGeom>
          </p:spPr>
          <p:txBody>
            <a:bodyPr anchor="ctr" rtlCol="false" tIns="0" lIns="0" bIns="0" rIns="0"/>
            <a:lstStyle/>
            <a:p>
              <a:pPr algn="ctr">
                <a:lnSpc>
                  <a:spcPts val="3359"/>
                </a:lnSpc>
              </a:pPr>
              <a:r>
                <a:rPr lang="en-US" sz="2399">
                  <a:solidFill>
                    <a:srgbClr val="FFFFFF"/>
                  </a:solidFill>
                  <a:latin typeface="Arial"/>
                  <a:ea typeface="Arial"/>
                  <a:cs typeface="Arial"/>
                  <a:sym typeface="Arial"/>
                </a:rPr>
                <a:t>Sử dụng mô hình</a:t>
              </a:r>
            </a:p>
          </p:txBody>
        </p:sp>
      </p:grpSp>
      <p:grpSp>
        <p:nvGrpSpPr>
          <p:cNvPr name="Group 17" id="17"/>
          <p:cNvGrpSpPr/>
          <p:nvPr/>
        </p:nvGrpSpPr>
        <p:grpSpPr>
          <a:xfrm rot="0">
            <a:off x="13258800" y="4538776"/>
            <a:ext cx="3552825" cy="1776412"/>
            <a:chOff x="0" y="0"/>
            <a:chExt cx="4737100" cy="2368549"/>
          </a:xfrm>
        </p:grpSpPr>
        <p:sp>
          <p:nvSpPr>
            <p:cNvPr name="Freeform 18" id="18"/>
            <p:cNvSpPr/>
            <p:nvPr/>
          </p:nvSpPr>
          <p:spPr>
            <a:xfrm flipH="false" flipV="false" rot="0">
              <a:off x="0" y="0"/>
              <a:ext cx="4737100" cy="2368550"/>
            </a:xfrm>
            <a:custGeom>
              <a:avLst/>
              <a:gdLst/>
              <a:ahLst/>
              <a:cxnLst/>
              <a:rect r="r" b="b" t="t" l="l"/>
              <a:pathLst>
                <a:path h="2368550" w="4737100">
                  <a:moveTo>
                    <a:pt x="0" y="0"/>
                  </a:moveTo>
                  <a:lnTo>
                    <a:pt x="3552825" y="0"/>
                  </a:lnTo>
                  <a:lnTo>
                    <a:pt x="4737100" y="1184275"/>
                  </a:lnTo>
                  <a:lnTo>
                    <a:pt x="3552825" y="2368550"/>
                  </a:lnTo>
                  <a:lnTo>
                    <a:pt x="0" y="2368550"/>
                  </a:lnTo>
                  <a:lnTo>
                    <a:pt x="1184275" y="1184275"/>
                  </a:lnTo>
                  <a:lnTo>
                    <a:pt x="0" y="0"/>
                  </a:lnTo>
                  <a:close/>
                </a:path>
              </a:pathLst>
            </a:custGeom>
            <a:solidFill>
              <a:srgbClr val="4F81BD"/>
            </a:solidFill>
          </p:spPr>
        </p:sp>
      </p:grpSp>
      <p:grpSp>
        <p:nvGrpSpPr>
          <p:cNvPr name="Group 19" id="19"/>
          <p:cNvGrpSpPr/>
          <p:nvPr/>
        </p:nvGrpSpPr>
        <p:grpSpPr>
          <a:xfrm rot="0">
            <a:off x="14035980" y="4372237"/>
            <a:ext cx="2442567" cy="1942951"/>
            <a:chOff x="0" y="0"/>
            <a:chExt cx="3256756" cy="2590601"/>
          </a:xfrm>
        </p:grpSpPr>
        <p:sp>
          <p:nvSpPr>
            <p:cNvPr name="Freeform 20" id="20"/>
            <p:cNvSpPr/>
            <p:nvPr/>
          </p:nvSpPr>
          <p:spPr>
            <a:xfrm flipH="false" flipV="false" rot="0">
              <a:off x="0" y="0"/>
              <a:ext cx="3256756" cy="2590601"/>
            </a:xfrm>
            <a:custGeom>
              <a:avLst/>
              <a:gdLst/>
              <a:ahLst/>
              <a:cxnLst/>
              <a:rect r="r" b="b" t="t" l="l"/>
              <a:pathLst>
                <a:path h="2590601" w="3256756">
                  <a:moveTo>
                    <a:pt x="0" y="0"/>
                  </a:moveTo>
                  <a:lnTo>
                    <a:pt x="3256756" y="0"/>
                  </a:lnTo>
                  <a:lnTo>
                    <a:pt x="3256756" y="2590601"/>
                  </a:lnTo>
                  <a:lnTo>
                    <a:pt x="0" y="2590601"/>
                  </a:lnTo>
                  <a:close/>
                </a:path>
              </a:pathLst>
            </a:custGeom>
            <a:solidFill>
              <a:srgbClr val="000000">
                <a:alpha val="0"/>
              </a:srgbClr>
            </a:solidFill>
          </p:spPr>
        </p:sp>
        <p:sp>
          <p:nvSpPr>
            <p:cNvPr name="TextBox 21" id="21"/>
            <p:cNvSpPr txBox="true"/>
            <p:nvPr/>
          </p:nvSpPr>
          <p:spPr>
            <a:xfrm>
              <a:off x="0" y="-57150"/>
              <a:ext cx="3256756" cy="2647751"/>
            </a:xfrm>
            <a:prstGeom prst="rect">
              <a:avLst/>
            </a:prstGeom>
          </p:spPr>
          <p:txBody>
            <a:bodyPr anchor="ctr" rtlCol="false" tIns="0" lIns="0" bIns="0" rIns="0"/>
            <a:lstStyle/>
            <a:p>
              <a:pPr algn="ctr">
                <a:lnSpc>
                  <a:spcPts val="3359"/>
                </a:lnSpc>
              </a:pPr>
              <a:r>
                <a:rPr lang="en-US" sz="2399">
                  <a:solidFill>
                    <a:srgbClr val="FFFFFF"/>
                  </a:solidFill>
                  <a:latin typeface="Arial"/>
                  <a:ea typeface="Arial"/>
                  <a:cs typeface="Arial"/>
                  <a:sym typeface="Arial"/>
                </a:rPr>
                <a:t>Đánh giá mô hình</a:t>
              </a:r>
            </a:p>
          </p:txBody>
        </p:sp>
      </p:grpSp>
      <p:grpSp>
        <p:nvGrpSpPr>
          <p:cNvPr name="Group 22" id="22"/>
          <p:cNvGrpSpPr/>
          <p:nvPr/>
        </p:nvGrpSpPr>
        <p:grpSpPr>
          <a:xfrm rot="0">
            <a:off x="406762" y="4538776"/>
            <a:ext cx="3552825" cy="1776412"/>
            <a:chOff x="0" y="0"/>
            <a:chExt cx="4737100" cy="2368549"/>
          </a:xfrm>
        </p:grpSpPr>
        <p:sp>
          <p:nvSpPr>
            <p:cNvPr name="Freeform 23" id="23"/>
            <p:cNvSpPr/>
            <p:nvPr/>
          </p:nvSpPr>
          <p:spPr>
            <a:xfrm flipH="false" flipV="false" rot="0">
              <a:off x="0" y="0"/>
              <a:ext cx="4737100" cy="2368550"/>
            </a:xfrm>
            <a:custGeom>
              <a:avLst/>
              <a:gdLst/>
              <a:ahLst/>
              <a:cxnLst/>
              <a:rect r="r" b="b" t="t" l="l"/>
              <a:pathLst>
                <a:path h="2368550" w="4737100">
                  <a:moveTo>
                    <a:pt x="0" y="0"/>
                  </a:moveTo>
                  <a:lnTo>
                    <a:pt x="3552825" y="0"/>
                  </a:lnTo>
                  <a:lnTo>
                    <a:pt x="4737100" y="1184275"/>
                  </a:lnTo>
                  <a:lnTo>
                    <a:pt x="3552825" y="2368550"/>
                  </a:lnTo>
                  <a:lnTo>
                    <a:pt x="0" y="2368550"/>
                  </a:lnTo>
                  <a:lnTo>
                    <a:pt x="1184275" y="1184275"/>
                  </a:lnTo>
                  <a:lnTo>
                    <a:pt x="0" y="0"/>
                  </a:lnTo>
                  <a:close/>
                </a:path>
              </a:pathLst>
            </a:custGeom>
            <a:solidFill>
              <a:srgbClr val="4F81BD"/>
            </a:solidFill>
          </p:spPr>
        </p:sp>
      </p:grpSp>
      <p:grpSp>
        <p:nvGrpSpPr>
          <p:cNvPr name="Group 24" id="24"/>
          <p:cNvGrpSpPr/>
          <p:nvPr/>
        </p:nvGrpSpPr>
        <p:grpSpPr>
          <a:xfrm rot="0">
            <a:off x="1183942" y="4372237"/>
            <a:ext cx="2442567" cy="1942951"/>
            <a:chOff x="0" y="0"/>
            <a:chExt cx="3256756" cy="2590601"/>
          </a:xfrm>
        </p:grpSpPr>
        <p:sp>
          <p:nvSpPr>
            <p:cNvPr name="Freeform 25" id="25"/>
            <p:cNvSpPr/>
            <p:nvPr/>
          </p:nvSpPr>
          <p:spPr>
            <a:xfrm flipH="false" flipV="false" rot="0">
              <a:off x="0" y="0"/>
              <a:ext cx="3256756" cy="2590601"/>
            </a:xfrm>
            <a:custGeom>
              <a:avLst/>
              <a:gdLst/>
              <a:ahLst/>
              <a:cxnLst/>
              <a:rect r="r" b="b" t="t" l="l"/>
              <a:pathLst>
                <a:path h="2590601" w="3256756">
                  <a:moveTo>
                    <a:pt x="0" y="0"/>
                  </a:moveTo>
                  <a:lnTo>
                    <a:pt x="3256756" y="0"/>
                  </a:lnTo>
                  <a:lnTo>
                    <a:pt x="3256756" y="2590601"/>
                  </a:lnTo>
                  <a:lnTo>
                    <a:pt x="0" y="2590601"/>
                  </a:lnTo>
                  <a:close/>
                </a:path>
              </a:pathLst>
            </a:custGeom>
            <a:solidFill>
              <a:srgbClr val="000000">
                <a:alpha val="0"/>
              </a:srgbClr>
            </a:solidFill>
          </p:spPr>
        </p:sp>
        <p:sp>
          <p:nvSpPr>
            <p:cNvPr name="TextBox 26" id="26"/>
            <p:cNvSpPr txBox="true"/>
            <p:nvPr/>
          </p:nvSpPr>
          <p:spPr>
            <a:xfrm>
              <a:off x="0" y="-57150"/>
              <a:ext cx="3256756" cy="2647751"/>
            </a:xfrm>
            <a:prstGeom prst="rect">
              <a:avLst/>
            </a:prstGeom>
          </p:spPr>
          <p:txBody>
            <a:bodyPr anchor="ctr" rtlCol="false" tIns="0" lIns="0" bIns="0" rIns="0"/>
            <a:lstStyle/>
            <a:p>
              <a:pPr algn="ctr">
                <a:lnSpc>
                  <a:spcPts val="3359"/>
                </a:lnSpc>
              </a:pPr>
              <a:r>
                <a:rPr lang="en-US" sz="2399">
                  <a:solidFill>
                    <a:srgbClr val="FFFFFF"/>
                  </a:solidFill>
                  <a:latin typeface="Arial"/>
                  <a:ea typeface="Arial"/>
                  <a:cs typeface="Arial"/>
                  <a:sym typeface="Arial"/>
                </a:rPr>
                <a:t>Data input</a:t>
              </a:r>
            </a:p>
          </p:txBody>
        </p:sp>
      </p:grpSp>
      <p:sp>
        <p:nvSpPr>
          <p:cNvPr name="Freeform 27" id="27"/>
          <p:cNvSpPr/>
          <p:nvPr/>
        </p:nvSpPr>
        <p:spPr>
          <a:xfrm flipH="false" flipV="false" rot="0">
            <a:off x="-53026" y="-22205"/>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l="0" t="-24886" r="0" b="-24886"/>
            </a:stretch>
          </a:blipFill>
        </p:spPr>
      </p:sp>
      <p:sp>
        <p:nvSpPr>
          <p:cNvPr name="TextBox 28" id="28"/>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026" y="-22205"/>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l="0" t="-24886" r="0" b="-24886"/>
            </a:stretch>
          </a:blipFill>
        </p:spPr>
      </p:sp>
      <p:grpSp>
        <p:nvGrpSpPr>
          <p:cNvPr name="Group 3" id="3"/>
          <p:cNvGrpSpPr/>
          <p:nvPr/>
        </p:nvGrpSpPr>
        <p:grpSpPr>
          <a:xfrm rot="0">
            <a:off x="7804031" y="1058910"/>
            <a:ext cx="10206841" cy="1304162"/>
            <a:chOff x="0" y="0"/>
            <a:chExt cx="3180633" cy="406400"/>
          </a:xfrm>
        </p:grpSpPr>
        <p:sp>
          <p:nvSpPr>
            <p:cNvPr name="Freeform 4" id="4"/>
            <p:cNvSpPr/>
            <p:nvPr/>
          </p:nvSpPr>
          <p:spPr>
            <a:xfrm flipH="false" flipV="false" rot="0">
              <a:off x="0" y="0"/>
              <a:ext cx="3180633" cy="406400"/>
            </a:xfrm>
            <a:custGeom>
              <a:avLst/>
              <a:gdLst/>
              <a:ahLst/>
              <a:cxnLst/>
              <a:rect r="r" b="b" t="t" l="l"/>
              <a:pathLst>
                <a:path h="406400" w="3180633">
                  <a:moveTo>
                    <a:pt x="2977433" y="0"/>
                  </a:moveTo>
                  <a:cubicBezTo>
                    <a:pt x="3089657" y="0"/>
                    <a:pt x="3180633" y="90976"/>
                    <a:pt x="3180633" y="203200"/>
                  </a:cubicBezTo>
                  <a:cubicBezTo>
                    <a:pt x="3180633" y="315424"/>
                    <a:pt x="3089657" y="406400"/>
                    <a:pt x="2977433"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5" id="5"/>
            <p:cNvSpPr txBox="true"/>
            <p:nvPr/>
          </p:nvSpPr>
          <p:spPr>
            <a:xfrm>
              <a:off x="0" y="-114300"/>
              <a:ext cx="3180633" cy="520700"/>
            </a:xfrm>
            <a:prstGeom prst="rect">
              <a:avLst/>
            </a:prstGeom>
          </p:spPr>
          <p:txBody>
            <a:bodyPr anchor="ctr" rtlCol="false" tIns="50800" lIns="50800" bIns="50800" rIns="50800"/>
            <a:lstStyle/>
            <a:p>
              <a:pPr algn="ctr">
                <a:lnSpc>
                  <a:spcPts val="6719"/>
                </a:lnSpc>
              </a:pPr>
              <a:r>
                <a:rPr lang="en-US" sz="4798">
                  <a:solidFill>
                    <a:srgbClr val="FFFFFF"/>
                  </a:solidFill>
                  <a:latin typeface="Arial"/>
                  <a:ea typeface="Arial"/>
                  <a:cs typeface="Arial"/>
                  <a:sym typeface="Arial"/>
                </a:rPr>
                <a:t>Phân tích và khám phá dữ liệu</a:t>
              </a:r>
            </a:p>
          </p:txBody>
        </p:sp>
      </p:grpSp>
      <p:sp>
        <p:nvSpPr>
          <p:cNvPr name="Freeform 6" id="6"/>
          <p:cNvSpPr/>
          <p:nvPr/>
        </p:nvSpPr>
        <p:spPr>
          <a:xfrm flipH="false" flipV="false" rot="0">
            <a:off x="6681053" y="2955341"/>
            <a:ext cx="11042026" cy="6302959"/>
          </a:xfrm>
          <a:custGeom>
            <a:avLst/>
            <a:gdLst/>
            <a:ahLst/>
            <a:cxnLst/>
            <a:rect r="r" b="b" t="t" l="l"/>
            <a:pathLst>
              <a:path h="6302959" w="11042026">
                <a:moveTo>
                  <a:pt x="0" y="0"/>
                </a:moveTo>
                <a:lnTo>
                  <a:pt x="11042026" y="0"/>
                </a:lnTo>
                <a:lnTo>
                  <a:pt x="11042026" y="6302959"/>
                </a:lnTo>
                <a:lnTo>
                  <a:pt x="0" y="6302959"/>
                </a:lnTo>
                <a:lnTo>
                  <a:pt x="0" y="0"/>
                </a:lnTo>
                <a:close/>
              </a:path>
            </a:pathLst>
          </a:custGeom>
          <a:blipFill>
            <a:blip r:embed="rId4"/>
            <a:stretch>
              <a:fillRect l="0" t="0" r="0" b="0"/>
            </a:stretch>
          </a:blipFill>
        </p:spPr>
      </p:sp>
      <p:sp>
        <p:nvSpPr>
          <p:cNvPr name="TextBox 7" id="7"/>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
        <p:nvSpPr>
          <p:cNvPr name="TextBox 8" id="8"/>
          <p:cNvSpPr txBox="true"/>
          <p:nvPr/>
        </p:nvSpPr>
        <p:spPr>
          <a:xfrm rot="0">
            <a:off x="593783" y="3469153"/>
            <a:ext cx="5628104" cy="4514848"/>
          </a:xfrm>
          <a:prstGeom prst="rect">
            <a:avLst/>
          </a:prstGeom>
        </p:spPr>
        <p:txBody>
          <a:bodyPr anchor="t" rtlCol="false" tIns="0" lIns="0" bIns="0" rIns="0">
            <a:spAutoFit/>
          </a:bodyPr>
          <a:lstStyle/>
          <a:p>
            <a:pPr algn="just">
              <a:lnSpc>
                <a:spcPts val="7200"/>
              </a:lnSpc>
            </a:pPr>
            <a:r>
              <a:rPr lang="en-US" sz="4000">
                <a:solidFill>
                  <a:srgbClr val="000000"/>
                </a:solidFill>
                <a:latin typeface="Arimo"/>
                <a:ea typeface="Arimo"/>
                <a:cs typeface="Arimo"/>
                <a:sym typeface="Arimo"/>
              </a:rPr>
              <a:t>     Dữ liệu bị lệch trái</a:t>
            </a:r>
          </a:p>
          <a:p>
            <a:pPr algn="just">
              <a:lnSpc>
                <a:spcPts val="7200"/>
              </a:lnSpc>
            </a:pPr>
            <a:r>
              <a:rPr lang="en-US" sz="4000">
                <a:solidFill>
                  <a:srgbClr val="000000"/>
                </a:solidFill>
                <a:latin typeface="Arimo"/>
                <a:ea typeface="Arimo"/>
                <a:cs typeface="Arimo"/>
                <a:sym typeface="Arimo"/>
              </a:rPr>
              <a:t>Đa số nhà có giá từ 100.000 - 200.000 đô</a:t>
            </a:r>
          </a:p>
          <a:p>
            <a:pPr algn="l">
              <a:lnSpc>
                <a:spcPts val="7200"/>
              </a:lnSpc>
              <a:spcBef>
                <a:spcPct val="0"/>
              </a:spcBef>
            </a:pPr>
            <a:r>
              <a:rPr lang="en-US" sz="4000">
                <a:solidFill>
                  <a:srgbClr val="000000"/>
                </a:solidFill>
                <a:latin typeface="Arimo"/>
                <a:ea typeface="Arimo"/>
                <a:cs typeface="Arimo"/>
                <a:sym typeface="Arimo"/>
              </a:rPr>
              <a:t>Giá nhà trãi dài từ 30.000 - hơn 700.000 đô</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48370" y="4372237"/>
            <a:ext cx="2619549" cy="1942951"/>
            <a:chOff x="0" y="0"/>
            <a:chExt cx="3492732" cy="2590601"/>
          </a:xfrm>
        </p:grpSpPr>
        <p:sp>
          <p:nvSpPr>
            <p:cNvPr name="Freeform 3" id="3"/>
            <p:cNvSpPr/>
            <p:nvPr/>
          </p:nvSpPr>
          <p:spPr>
            <a:xfrm flipH="false" flipV="false" rot="0">
              <a:off x="0" y="0"/>
              <a:ext cx="3492732" cy="2590601"/>
            </a:xfrm>
            <a:custGeom>
              <a:avLst/>
              <a:gdLst/>
              <a:ahLst/>
              <a:cxnLst/>
              <a:rect r="r" b="b" t="t" l="l"/>
              <a:pathLst>
                <a:path h="2590601" w="3492732">
                  <a:moveTo>
                    <a:pt x="0" y="0"/>
                  </a:moveTo>
                  <a:lnTo>
                    <a:pt x="3492732" y="0"/>
                  </a:lnTo>
                  <a:lnTo>
                    <a:pt x="3492732" y="2590601"/>
                  </a:lnTo>
                  <a:lnTo>
                    <a:pt x="0" y="2590601"/>
                  </a:lnTo>
                  <a:close/>
                </a:path>
              </a:pathLst>
            </a:custGeom>
            <a:solidFill>
              <a:srgbClr val="000000">
                <a:alpha val="0"/>
              </a:srgbClr>
            </a:solidFill>
          </p:spPr>
        </p:sp>
        <p:sp>
          <p:nvSpPr>
            <p:cNvPr name="TextBox 4" id="4"/>
            <p:cNvSpPr txBox="true"/>
            <p:nvPr/>
          </p:nvSpPr>
          <p:spPr>
            <a:xfrm>
              <a:off x="0" y="-57150"/>
              <a:ext cx="3492732" cy="2647751"/>
            </a:xfrm>
            <a:prstGeom prst="rect">
              <a:avLst/>
            </a:prstGeom>
          </p:spPr>
          <p:txBody>
            <a:bodyPr anchor="ctr" rtlCol="false" tIns="0" lIns="0" bIns="0" rIns="0"/>
            <a:lstStyle/>
            <a:p>
              <a:pPr algn="ctr">
                <a:lnSpc>
                  <a:spcPts val="3359"/>
                </a:lnSpc>
              </a:pPr>
              <a:r>
                <a:rPr lang="en-US" sz="2399">
                  <a:solidFill>
                    <a:srgbClr val="FFFFFF"/>
                  </a:solidFill>
                  <a:latin typeface="Arial"/>
                  <a:ea typeface="Arial"/>
                  <a:cs typeface="Arial"/>
                  <a:sym typeface="Arial"/>
                </a:rPr>
                <a:t>Sử dụng mô hình</a:t>
              </a:r>
            </a:p>
            <a:p>
              <a:pPr algn="ctr">
                <a:lnSpc>
                  <a:spcPts val="3359"/>
                </a:lnSpc>
              </a:pPr>
              <a:r>
                <a:rPr lang="en-US" sz="2399">
                  <a:solidFill>
                    <a:srgbClr val="FFFFFF"/>
                  </a:solidFill>
                  <a:latin typeface="Arial"/>
                  <a:ea typeface="Arial"/>
                  <a:cs typeface="Arial"/>
                  <a:sym typeface="Arial"/>
                </a:rPr>
                <a:t>(KNN, SVM, RF)</a:t>
              </a:r>
            </a:p>
          </p:txBody>
        </p:sp>
      </p:grpSp>
      <p:sp>
        <p:nvSpPr>
          <p:cNvPr name="Freeform 5" id="5"/>
          <p:cNvSpPr/>
          <p:nvPr/>
        </p:nvSpPr>
        <p:spPr>
          <a:xfrm flipH="false" flipV="false" rot="0">
            <a:off x="-53026" y="-22205"/>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l="0" t="-24886" r="0" b="-24886"/>
            </a:stretch>
          </a:blipFill>
        </p:spPr>
      </p:sp>
      <p:grpSp>
        <p:nvGrpSpPr>
          <p:cNvPr name="Group 6" id="6"/>
          <p:cNvGrpSpPr/>
          <p:nvPr/>
        </p:nvGrpSpPr>
        <p:grpSpPr>
          <a:xfrm rot="0">
            <a:off x="9304176" y="1303348"/>
            <a:ext cx="8485469" cy="1325553"/>
            <a:chOff x="0" y="0"/>
            <a:chExt cx="2601552" cy="406400"/>
          </a:xfrm>
        </p:grpSpPr>
        <p:sp>
          <p:nvSpPr>
            <p:cNvPr name="Freeform 7" id="7"/>
            <p:cNvSpPr/>
            <p:nvPr/>
          </p:nvSpPr>
          <p:spPr>
            <a:xfrm flipH="false" flipV="false" rot="0">
              <a:off x="0" y="0"/>
              <a:ext cx="2601552" cy="406400"/>
            </a:xfrm>
            <a:custGeom>
              <a:avLst/>
              <a:gdLst/>
              <a:ahLst/>
              <a:cxnLst/>
              <a:rect r="r" b="b" t="t" l="l"/>
              <a:pathLst>
                <a:path h="406400" w="2601552">
                  <a:moveTo>
                    <a:pt x="2398352" y="0"/>
                  </a:moveTo>
                  <a:cubicBezTo>
                    <a:pt x="2510576" y="0"/>
                    <a:pt x="2601552" y="90976"/>
                    <a:pt x="2601552" y="203200"/>
                  </a:cubicBezTo>
                  <a:cubicBezTo>
                    <a:pt x="2601552" y="315424"/>
                    <a:pt x="2510576" y="406400"/>
                    <a:pt x="2398352"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8" id="8"/>
            <p:cNvSpPr txBox="true"/>
            <p:nvPr/>
          </p:nvSpPr>
          <p:spPr>
            <a:xfrm>
              <a:off x="0" y="-114300"/>
              <a:ext cx="2601552" cy="520700"/>
            </a:xfrm>
            <a:prstGeom prst="rect">
              <a:avLst/>
            </a:prstGeom>
          </p:spPr>
          <p:txBody>
            <a:bodyPr anchor="ctr" rtlCol="false" tIns="50800" lIns="50800" bIns="50800" rIns="50800"/>
            <a:lstStyle/>
            <a:p>
              <a:pPr algn="ctr">
                <a:lnSpc>
                  <a:spcPts val="6719"/>
                </a:lnSpc>
              </a:pPr>
              <a:r>
                <a:rPr lang="en-US" sz="4798">
                  <a:solidFill>
                    <a:srgbClr val="FFFFFF"/>
                  </a:solidFill>
                  <a:latin typeface="Arial"/>
                  <a:ea typeface="Arial"/>
                  <a:cs typeface="Arial"/>
                  <a:sym typeface="Arial"/>
                </a:rPr>
                <a:t>Phân tích và khám phá dữ liệu</a:t>
              </a:r>
            </a:p>
          </p:txBody>
        </p:sp>
      </p:grpSp>
      <p:sp>
        <p:nvSpPr>
          <p:cNvPr name="Freeform 9" id="9"/>
          <p:cNvSpPr/>
          <p:nvPr/>
        </p:nvSpPr>
        <p:spPr>
          <a:xfrm flipH="false" flipV="false" rot="0">
            <a:off x="5374702" y="2594887"/>
            <a:ext cx="12922941" cy="7692113"/>
          </a:xfrm>
          <a:custGeom>
            <a:avLst/>
            <a:gdLst/>
            <a:ahLst/>
            <a:cxnLst/>
            <a:rect r="r" b="b" t="t" l="l"/>
            <a:pathLst>
              <a:path h="7692113" w="12922941">
                <a:moveTo>
                  <a:pt x="0" y="0"/>
                </a:moveTo>
                <a:lnTo>
                  <a:pt x="12922941" y="0"/>
                </a:lnTo>
                <a:lnTo>
                  <a:pt x="12922941" y="7692113"/>
                </a:lnTo>
                <a:lnTo>
                  <a:pt x="0" y="7692113"/>
                </a:lnTo>
                <a:lnTo>
                  <a:pt x="0" y="0"/>
                </a:lnTo>
                <a:close/>
              </a:path>
            </a:pathLst>
          </a:custGeom>
          <a:blipFill>
            <a:blip r:embed="rId4"/>
            <a:stretch>
              <a:fillRect l="0" t="-85" r="0" b="-85"/>
            </a:stretch>
          </a:blipFill>
        </p:spPr>
      </p:sp>
      <p:sp>
        <p:nvSpPr>
          <p:cNvPr name="TextBox 10" id="10"/>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
        <p:nvSpPr>
          <p:cNvPr name="TextBox 11" id="11"/>
          <p:cNvSpPr txBox="true"/>
          <p:nvPr/>
        </p:nvSpPr>
        <p:spPr>
          <a:xfrm rot="0">
            <a:off x="163830" y="2528212"/>
            <a:ext cx="5470354" cy="8094341"/>
          </a:xfrm>
          <a:prstGeom prst="rect">
            <a:avLst/>
          </a:prstGeom>
        </p:spPr>
        <p:txBody>
          <a:bodyPr anchor="t" rtlCol="false" tIns="0" lIns="0" bIns="0" rIns="0">
            <a:spAutoFit/>
          </a:bodyPr>
          <a:lstStyle/>
          <a:p>
            <a:pPr algn="l">
              <a:lnSpc>
                <a:spcPts val="3778"/>
              </a:lnSpc>
            </a:pPr>
            <a:r>
              <a:rPr lang="en-US" sz="2698">
                <a:solidFill>
                  <a:srgbClr val="000000"/>
                </a:solidFill>
                <a:latin typeface="Arial"/>
                <a:ea typeface="Arial"/>
                <a:cs typeface="Arial"/>
                <a:sym typeface="Arial"/>
              </a:rPr>
              <a:t>Có nhiều giá trị thiếu</a:t>
            </a:r>
          </a:p>
          <a:p>
            <a:pPr algn="l">
              <a:lnSpc>
                <a:spcPts val="3778"/>
              </a:lnSpc>
            </a:pPr>
            <a:r>
              <a:rPr lang="en-US" sz="2698">
                <a:solidFill>
                  <a:srgbClr val="000000"/>
                </a:solidFill>
                <a:latin typeface="Arial"/>
                <a:ea typeface="Arial"/>
                <a:cs typeface="Arial"/>
                <a:sym typeface="Arial"/>
              </a:rPr>
              <a:t>- Nhóm thiếu hoàn toàn (&gt;90%):</a:t>
            </a:r>
          </a:p>
          <a:p>
            <a:pPr algn="l">
              <a:lnSpc>
                <a:spcPts val="3778"/>
              </a:lnSpc>
            </a:pPr>
            <a:r>
              <a:rPr lang="en-US" sz="2698">
                <a:solidFill>
                  <a:srgbClr val="000000"/>
                </a:solidFill>
                <a:latin typeface="Arial"/>
                <a:ea typeface="Arial"/>
                <a:cs typeface="Arial"/>
                <a:sym typeface="Arial"/>
              </a:rPr>
              <a:t>  - PoolQC, MiscFeature, Alley</a:t>
            </a:r>
          </a:p>
          <a:p>
            <a:pPr algn="l">
              <a:lnSpc>
                <a:spcPts val="3778"/>
              </a:lnSpc>
            </a:pPr>
            <a:r>
              <a:rPr lang="en-US" sz="2698">
                <a:solidFill>
                  <a:srgbClr val="000000"/>
                </a:solidFill>
                <a:latin typeface="Arial"/>
                <a:ea typeface="Arial"/>
                <a:cs typeface="Arial"/>
                <a:sym typeface="Arial"/>
              </a:rPr>
              <a:t>  - → Thực tế: Không có hồ bơi, không có tính năng đặc biệt, không có ngõ hẻm</a:t>
            </a:r>
          </a:p>
          <a:p>
            <a:pPr algn="l">
              <a:lnSpc>
                <a:spcPts val="3778"/>
              </a:lnSpc>
            </a:pPr>
          </a:p>
          <a:p>
            <a:pPr algn="l">
              <a:lnSpc>
                <a:spcPts val="3778"/>
              </a:lnSpc>
            </a:pPr>
            <a:r>
              <a:rPr lang="en-US" sz="2698">
                <a:solidFill>
                  <a:srgbClr val="000000"/>
                </a:solidFill>
                <a:latin typeface="Arial"/>
                <a:ea typeface="Arial"/>
                <a:cs typeface="Arial"/>
                <a:sym typeface="Arial"/>
              </a:rPr>
              <a:t>- Nhóm thiếu nhiều (50-90%):</a:t>
            </a:r>
          </a:p>
          <a:p>
            <a:pPr algn="l">
              <a:lnSpc>
                <a:spcPts val="3778"/>
              </a:lnSpc>
            </a:pPr>
            <a:r>
              <a:rPr lang="en-US" sz="2698">
                <a:solidFill>
                  <a:srgbClr val="000000"/>
                </a:solidFill>
                <a:latin typeface="Arial"/>
                <a:ea typeface="Arial"/>
                <a:cs typeface="Arial"/>
                <a:sym typeface="Arial"/>
              </a:rPr>
              <a:t>  - Fence, FireplaceQu</a:t>
            </a:r>
          </a:p>
          <a:p>
            <a:pPr algn="l">
              <a:lnSpc>
                <a:spcPts val="3778"/>
              </a:lnSpc>
            </a:pPr>
            <a:r>
              <a:rPr lang="en-US" sz="2698">
                <a:solidFill>
                  <a:srgbClr val="000000"/>
                </a:solidFill>
                <a:latin typeface="Arial"/>
                <a:ea typeface="Arial"/>
                <a:cs typeface="Arial"/>
                <a:sym typeface="Arial"/>
              </a:rPr>
              <a:t>  - → Thực tế: Không có hàng rào, không có lò sưởi</a:t>
            </a:r>
          </a:p>
          <a:p>
            <a:pPr algn="l">
              <a:lnSpc>
                <a:spcPts val="3778"/>
              </a:lnSpc>
            </a:pPr>
          </a:p>
          <a:p>
            <a:pPr algn="l">
              <a:lnSpc>
                <a:spcPts val="3778"/>
              </a:lnSpc>
            </a:pPr>
            <a:r>
              <a:rPr lang="en-US" sz="2698">
                <a:solidFill>
                  <a:srgbClr val="000000"/>
                </a:solidFill>
                <a:latin typeface="Arial"/>
                <a:ea typeface="Arial"/>
                <a:cs typeface="Arial"/>
                <a:sym typeface="Arial"/>
              </a:rPr>
              <a:t>- Nhóm thiếu trung bình (10-30%):</a:t>
            </a:r>
          </a:p>
          <a:p>
            <a:pPr algn="l">
              <a:lnSpc>
                <a:spcPts val="3778"/>
              </a:lnSpc>
            </a:pPr>
            <a:r>
              <a:rPr lang="en-US" sz="2698">
                <a:solidFill>
                  <a:srgbClr val="000000"/>
                </a:solidFill>
                <a:latin typeface="Arial"/>
                <a:ea typeface="Arial"/>
                <a:cs typeface="Arial"/>
                <a:sym typeface="Arial"/>
              </a:rPr>
              <a:t>  - LotFrontage, Garage-related features </a:t>
            </a:r>
          </a:p>
          <a:p>
            <a:pPr algn="l">
              <a:lnSpc>
                <a:spcPts val="3778"/>
              </a:lnSpc>
            </a:pPr>
            <a:r>
              <a:rPr lang="en-US" sz="2698">
                <a:solidFill>
                  <a:srgbClr val="000000"/>
                </a:solidFill>
                <a:latin typeface="Arial"/>
                <a:ea typeface="Arial"/>
                <a:cs typeface="Arial"/>
                <a:sym typeface="Arial"/>
              </a:rPr>
              <a:t>  - Basement-related features</a:t>
            </a:r>
          </a:p>
          <a:p>
            <a:pPr algn="l">
              <a:lnSpc>
                <a:spcPts val="377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48370" y="4372237"/>
            <a:ext cx="2619549" cy="1942951"/>
            <a:chOff x="0" y="0"/>
            <a:chExt cx="3492732" cy="2590601"/>
          </a:xfrm>
        </p:grpSpPr>
        <p:sp>
          <p:nvSpPr>
            <p:cNvPr name="Freeform 3" id="3"/>
            <p:cNvSpPr/>
            <p:nvPr/>
          </p:nvSpPr>
          <p:spPr>
            <a:xfrm flipH="false" flipV="false" rot="0">
              <a:off x="0" y="0"/>
              <a:ext cx="3492732" cy="2590601"/>
            </a:xfrm>
            <a:custGeom>
              <a:avLst/>
              <a:gdLst/>
              <a:ahLst/>
              <a:cxnLst/>
              <a:rect r="r" b="b" t="t" l="l"/>
              <a:pathLst>
                <a:path h="2590601" w="3492732">
                  <a:moveTo>
                    <a:pt x="0" y="0"/>
                  </a:moveTo>
                  <a:lnTo>
                    <a:pt x="3492732" y="0"/>
                  </a:lnTo>
                  <a:lnTo>
                    <a:pt x="3492732" y="2590601"/>
                  </a:lnTo>
                  <a:lnTo>
                    <a:pt x="0" y="2590601"/>
                  </a:lnTo>
                  <a:close/>
                </a:path>
              </a:pathLst>
            </a:custGeom>
            <a:solidFill>
              <a:srgbClr val="000000">
                <a:alpha val="0"/>
              </a:srgbClr>
            </a:solidFill>
          </p:spPr>
        </p:sp>
        <p:sp>
          <p:nvSpPr>
            <p:cNvPr name="TextBox 4" id="4"/>
            <p:cNvSpPr txBox="true"/>
            <p:nvPr/>
          </p:nvSpPr>
          <p:spPr>
            <a:xfrm>
              <a:off x="0" y="-57150"/>
              <a:ext cx="3492732" cy="2647751"/>
            </a:xfrm>
            <a:prstGeom prst="rect">
              <a:avLst/>
            </a:prstGeom>
          </p:spPr>
          <p:txBody>
            <a:bodyPr anchor="ctr" rtlCol="false" tIns="0" lIns="0" bIns="0" rIns="0"/>
            <a:lstStyle/>
            <a:p>
              <a:pPr algn="ctr">
                <a:lnSpc>
                  <a:spcPts val="3359"/>
                </a:lnSpc>
              </a:pPr>
              <a:r>
                <a:rPr lang="en-US" sz="2399">
                  <a:solidFill>
                    <a:srgbClr val="FFFFFF"/>
                  </a:solidFill>
                  <a:latin typeface="Arial"/>
                  <a:ea typeface="Arial"/>
                  <a:cs typeface="Arial"/>
                  <a:sym typeface="Arial"/>
                </a:rPr>
                <a:t>Sử dụng mô hình</a:t>
              </a:r>
            </a:p>
            <a:p>
              <a:pPr algn="ctr">
                <a:lnSpc>
                  <a:spcPts val="3359"/>
                </a:lnSpc>
              </a:pPr>
              <a:r>
                <a:rPr lang="en-US" sz="2399">
                  <a:solidFill>
                    <a:srgbClr val="FFFFFF"/>
                  </a:solidFill>
                  <a:latin typeface="Arial"/>
                  <a:ea typeface="Arial"/>
                  <a:cs typeface="Arial"/>
                  <a:sym typeface="Arial"/>
                </a:rPr>
                <a:t>(KNN, SVM, RF)</a:t>
              </a:r>
            </a:p>
          </p:txBody>
        </p:sp>
      </p:grpSp>
      <p:sp>
        <p:nvSpPr>
          <p:cNvPr name="Freeform 5" id="5"/>
          <p:cNvSpPr/>
          <p:nvPr/>
        </p:nvSpPr>
        <p:spPr>
          <a:xfrm flipH="false" flipV="false" rot="0">
            <a:off x="-53026" y="-22205"/>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l="0" t="-24886" r="0" b="-24886"/>
            </a:stretch>
          </a:blipFill>
        </p:spPr>
      </p:sp>
      <p:sp>
        <p:nvSpPr>
          <p:cNvPr name="Freeform 6" id="6"/>
          <p:cNvSpPr/>
          <p:nvPr/>
        </p:nvSpPr>
        <p:spPr>
          <a:xfrm flipH="false" flipV="false" rot="0">
            <a:off x="8064639" y="855949"/>
            <a:ext cx="10223361" cy="9431051"/>
          </a:xfrm>
          <a:custGeom>
            <a:avLst/>
            <a:gdLst/>
            <a:ahLst/>
            <a:cxnLst/>
            <a:rect r="r" b="b" t="t" l="l"/>
            <a:pathLst>
              <a:path h="9431051" w="10223361">
                <a:moveTo>
                  <a:pt x="0" y="0"/>
                </a:moveTo>
                <a:lnTo>
                  <a:pt x="10223361" y="0"/>
                </a:lnTo>
                <a:lnTo>
                  <a:pt x="10223361" y="9431051"/>
                </a:lnTo>
                <a:lnTo>
                  <a:pt x="0" y="9431051"/>
                </a:lnTo>
                <a:lnTo>
                  <a:pt x="0" y="0"/>
                </a:lnTo>
                <a:close/>
              </a:path>
            </a:pathLst>
          </a:custGeom>
          <a:blipFill>
            <a:blip r:embed="rId4"/>
            <a:stretch>
              <a:fillRect l="0" t="0" r="0" b="0"/>
            </a:stretch>
          </a:blipFill>
        </p:spPr>
      </p:sp>
      <p:sp>
        <p:nvSpPr>
          <p:cNvPr name="TextBox 7" id="7"/>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
        <p:nvSpPr>
          <p:cNvPr name="TextBox 8" id="8"/>
          <p:cNvSpPr txBox="true"/>
          <p:nvPr/>
        </p:nvSpPr>
        <p:spPr>
          <a:xfrm rot="0">
            <a:off x="696860" y="2486026"/>
            <a:ext cx="6854402" cy="992808"/>
          </a:xfrm>
          <a:prstGeom prst="rect">
            <a:avLst/>
          </a:prstGeom>
        </p:spPr>
        <p:txBody>
          <a:bodyPr anchor="t" rtlCol="false" tIns="0" lIns="0" bIns="0" rIns="0">
            <a:spAutoFit/>
          </a:bodyPr>
          <a:lstStyle/>
          <a:p>
            <a:pPr algn="l">
              <a:lnSpc>
                <a:spcPts val="7871"/>
              </a:lnSpc>
              <a:spcBef>
                <a:spcPct val="0"/>
              </a:spcBef>
            </a:pPr>
            <a:r>
              <a:rPr lang="en-US" b="true" sz="5621">
                <a:solidFill>
                  <a:srgbClr val="000000"/>
                </a:solidFill>
                <a:latin typeface="Arial Bold"/>
                <a:ea typeface="Arial Bold"/>
                <a:cs typeface="Arial Bold"/>
                <a:sym typeface="Arial Bold"/>
              </a:rPr>
              <a:t>Biểu đồ tương quan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48370" y="4372237"/>
            <a:ext cx="2619549" cy="1942951"/>
            <a:chOff x="0" y="0"/>
            <a:chExt cx="3492732" cy="2590601"/>
          </a:xfrm>
        </p:grpSpPr>
        <p:sp>
          <p:nvSpPr>
            <p:cNvPr name="Freeform 3" id="3"/>
            <p:cNvSpPr/>
            <p:nvPr/>
          </p:nvSpPr>
          <p:spPr>
            <a:xfrm flipH="false" flipV="false" rot="0">
              <a:off x="0" y="0"/>
              <a:ext cx="3492732" cy="2590601"/>
            </a:xfrm>
            <a:custGeom>
              <a:avLst/>
              <a:gdLst/>
              <a:ahLst/>
              <a:cxnLst/>
              <a:rect r="r" b="b" t="t" l="l"/>
              <a:pathLst>
                <a:path h="2590601" w="3492732">
                  <a:moveTo>
                    <a:pt x="0" y="0"/>
                  </a:moveTo>
                  <a:lnTo>
                    <a:pt x="3492732" y="0"/>
                  </a:lnTo>
                  <a:lnTo>
                    <a:pt x="3492732" y="2590601"/>
                  </a:lnTo>
                  <a:lnTo>
                    <a:pt x="0" y="2590601"/>
                  </a:lnTo>
                  <a:close/>
                </a:path>
              </a:pathLst>
            </a:custGeom>
            <a:solidFill>
              <a:srgbClr val="000000">
                <a:alpha val="0"/>
              </a:srgbClr>
            </a:solidFill>
          </p:spPr>
        </p:sp>
        <p:sp>
          <p:nvSpPr>
            <p:cNvPr name="TextBox 4" id="4"/>
            <p:cNvSpPr txBox="true"/>
            <p:nvPr/>
          </p:nvSpPr>
          <p:spPr>
            <a:xfrm>
              <a:off x="0" y="-57150"/>
              <a:ext cx="3492732" cy="2647751"/>
            </a:xfrm>
            <a:prstGeom prst="rect">
              <a:avLst/>
            </a:prstGeom>
          </p:spPr>
          <p:txBody>
            <a:bodyPr anchor="ctr" rtlCol="false" tIns="0" lIns="0" bIns="0" rIns="0"/>
            <a:lstStyle/>
            <a:p>
              <a:pPr algn="ctr">
                <a:lnSpc>
                  <a:spcPts val="3359"/>
                </a:lnSpc>
              </a:pPr>
              <a:r>
                <a:rPr lang="en-US" sz="2399">
                  <a:solidFill>
                    <a:srgbClr val="FFFFFF"/>
                  </a:solidFill>
                  <a:latin typeface="Arial"/>
                  <a:ea typeface="Arial"/>
                  <a:cs typeface="Arial"/>
                  <a:sym typeface="Arial"/>
                </a:rPr>
                <a:t>Sử dụng mô hình</a:t>
              </a:r>
            </a:p>
            <a:p>
              <a:pPr algn="ctr">
                <a:lnSpc>
                  <a:spcPts val="3359"/>
                </a:lnSpc>
              </a:pPr>
              <a:r>
                <a:rPr lang="en-US" sz="2399">
                  <a:solidFill>
                    <a:srgbClr val="FFFFFF"/>
                  </a:solidFill>
                  <a:latin typeface="Arial"/>
                  <a:ea typeface="Arial"/>
                  <a:cs typeface="Arial"/>
                  <a:sym typeface="Arial"/>
                </a:rPr>
                <a:t>(KNN, SVM, RF)</a:t>
              </a:r>
            </a:p>
          </p:txBody>
        </p:sp>
      </p:grpSp>
      <p:sp>
        <p:nvSpPr>
          <p:cNvPr name="Freeform 5" id="5"/>
          <p:cNvSpPr/>
          <p:nvPr/>
        </p:nvSpPr>
        <p:spPr>
          <a:xfrm flipH="false" flipV="false" rot="0">
            <a:off x="0" y="34020"/>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l="0" t="-24886" r="0" b="-24886"/>
            </a:stretch>
          </a:blipFill>
        </p:spPr>
      </p:sp>
      <p:sp>
        <p:nvSpPr>
          <p:cNvPr name="Freeform 6" id="6"/>
          <p:cNvSpPr/>
          <p:nvPr/>
        </p:nvSpPr>
        <p:spPr>
          <a:xfrm flipH="false" flipV="false" rot="0">
            <a:off x="7533884" y="856183"/>
            <a:ext cx="10792837" cy="9740535"/>
          </a:xfrm>
          <a:custGeom>
            <a:avLst/>
            <a:gdLst/>
            <a:ahLst/>
            <a:cxnLst/>
            <a:rect r="r" b="b" t="t" l="l"/>
            <a:pathLst>
              <a:path h="9740535" w="10792837">
                <a:moveTo>
                  <a:pt x="0" y="0"/>
                </a:moveTo>
                <a:lnTo>
                  <a:pt x="10792837" y="0"/>
                </a:lnTo>
                <a:lnTo>
                  <a:pt x="10792837" y="9740535"/>
                </a:lnTo>
                <a:lnTo>
                  <a:pt x="0" y="9740535"/>
                </a:lnTo>
                <a:lnTo>
                  <a:pt x="0" y="0"/>
                </a:lnTo>
                <a:close/>
              </a:path>
            </a:pathLst>
          </a:custGeom>
          <a:blipFill>
            <a:blip r:embed="rId4"/>
            <a:stretch>
              <a:fillRect l="0" t="0" r="0" b="0"/>
            </a:stretch>
          </a:blipFill>
        </p:spPr>
      </p:sp>
      <p:sp>
        <p:nvSpPr>
          <p:cNvPr name="TextBox 7" id="7"/>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
        <p:nvSpPr>
          <p:cNvPr name="TextBox 8" id="8"/>
          <p:cNvSpPr txBox="true"/>
          <p:nvPr/>
        </p:nvSpPr>
        <p:spPr>
          <a:xfrm rot="0">
            <a:off x="0" y="2807450"/>
            <a:ext cx="7533884" cy="6939275"/>
          </a:xfrm>
          <a:prstGeom prst="rect">
            <a:avLst/>
          </a:prstGeom>
        </p:spPr>
        <p:txBody>
          <a:bodyPr anchor="t" rtlCol="false" tIns="0" lIns="0" bIns="0" rIns="0">
            <a:spAutoFit/>
          </a:bodyPr>
          <a:lstStyle/>
          <a:p>
            <a:pPr algn="l">
              <a:lnSpc>
                <a:spcPts val="3918"/>
              </a:lnSpc>
              <a:spcBef>
                <a:spcPct val="0"/>
              </a:spcBef>
            </a:pPr>
            <a:r>
              <a:rPr lang="en-US" sz="2798">
                <a:solidFill>
                  <a:srgbClr val="000000"/>
                </a:solidFill>
                <a:latin typeface="Arial"/>
                <a:ea typeface="Arial"/>
                <a:cs typeface="Arial"/>
                <a:sym typeface="Arial"/>
              </a:rPr>
              <a:t>Các biến có tương quan MẠNH với SalePrice </a:t>
            </a:r>
          </a:p>
          <a:p>
            <a:pPr algn="l">
              <a:lnSpc>
                <a:spcPts val="3918"/>
              </a:lnSpc>
              <a:spcBef>
                <a:spcPct val="0"/>
              </a:spcBef>
            </a:pPr>
            <a:r>
              <a:rPr lang="en-US" sz="2798">
                <a:solidFill>
                  <a:srgbClr val="000000"/>
                </a:solidFill>
                <a:latin typeface="Arial"/>
                <a:ea typeface="Arial"/>
                <a:cs typeface="Arial"/>
                <a:sym typeface="Arial"/>
              </a:rPr>
              <a:t>(|r| &gt; 0.6):</a:t>
            </a:r>
          </a:p>
          <a:p>
            <a:pPr algn="l">
              <a:lnSpc>
                <a:spcPts val="3919"/>
              </a:lnSpc>
              <a:spcBef>
                <a:spcPct val="0"/>
              </a:spcBef>
            </a:pPr>
            <a:r>
              <a:rPr lang="en-US" sz="2798">
                <a:solidFill>
                  <a:srgbClr val="000000"/>
                </a:solidFill>
                <a:latin typeface="Arial"/>
                <a:ea typeface="Arial"/>
                <a:cs typeface="Arial"/>
                <a:sym typeface="Arial"/>
              </a:rPr>
              <a:t>     </a:t>
            </a:r>
            <a:r>
              <a:rPr lang="en-US" sz="2798">
                <a:solidFill>
                  <a:srgbClr val="000000"/>
                </a:solidFill>
                <a:latin typeface="Arial"/>
                <a:ea typeface="Arial"/>
                <a:cs typeface="Arial"/>
                <a:sym typeface="Arial"/>
              </a:rPr>
              <a:t>- `OverallQual` (0.79): - Chất lượng tổng thể là yếu tố quan trọng nhất</a:t>
            </a:r>
          </a:p>
          <a:p>
            <a:pPr algn="l">
              <a:lnSpc>
                <a:spcPts val="3919"/>
              </a:lnSpc>
              <a:spcBef>
                <a:spcPct val="0"/>
              </a:spcBef>
            </a:pPr>
            <a:r>
              <a:rPr lang="en-US" sz="2798">
                <a:solidFill>
                  <a:srgbClr val="000000"/>
                </a:solidFill>
                <a:latin typeface="Arial"/>
                <a:ea typeface="Arial"/>
                <a:cs typeface="Arial"/>
                <a:sym typeface="Arial"/>
              </a:rPr>
              <a:t>     -  `GrLivArea` (0.71):  - Diện tích sinh hoạt ảnh hưởng lớn đến giá</a:t>
            </a:r>
          </a:p>
          <a:p>
            <a:pPr algn="l">
              <a:lnSpc>
                <a:spcPts val="3919"/>
              </a:lnSpc>
              <a:spcBef>
                <a:spcPct val="0"/>
              </a:spcBef>
            </a:pPr>
            <a:r>
              <a:rPr lang="en-US" sz="2798">
                <a:solidFill>
                  <a:srgbClr val="000000"/>
                </a:solidFill>
                <a:latin typeface="Arial"/>
                <a:ea typeface="Arial"/>
                <a:cs typeface="Arial"/>
                <a:sym typeface="Arial"/>
              </a:rPr>
              <a:t>     - `GarageCars` (0.64):  - Số chỗ đỗ garage thể hiện đẳng cấp bất động sản</a:t>
            </a:r>
          </a:p>
          <a:p>
            <a:pPr algn="l">
              <a:lnSpc>
                <a:spcPts val="3919"/>
              </a:lnSpc>
              <a:spcBef>
                <a:spcPct val="0"/>
              </a:spcBef>
            </a:pPr>
            <a:r>
              <a:rPr lang="en-US" sz="2798">
                <a:solidFill>
                  <a:srgbClr val="000000"/>
                </a:solidFill>
                <a:latin typeface="Arial"/>
                <a:ea typeface="Arial"/>
                <a:cs typeface="Arial"/>
                <a:sym typeface="Arial"/>
              </a:rPr>
              <a:t>     - `GarageArea` (0.62):  - Diện tích garage tỷ lệ thuận với giá nhà</a:t>
            </a:r>
          </a:p>
          <a:p>
            <a:pPr algn="l">
              <a:lnSpc>
                <a:spcPts val="3919"/>
              </a:lnSpc>
              <a:spcBef>
                <a:spcPct val="0"/>
              </a:spcBef>
            </a:pPr>
            <a:r>
              <a:rPr lang="en-US" sz="2798">
                <a:solidFill>
                  <a:srgbClr val="000000"/>
                </a:solidFill>
                <a:latin typeface="Arial"/>
                <a:ea typeface="Arial"/>
                <a:cs typeface="Arial"/>
                <a:sym typeface="Arial"/>
              </a:rPr>
              <a:t>     - `TotalBsmtSF` (0.61):  - Diện tích tầng hầm phản ánh quy mô</a:t>
            </a:r>
          </a:p>
          <a:p>
            <a:pPr algn="l">
              <a:lnSpc>
                <a:spcPts val="3919"/>
              </a:lnSpc>
              <a:spcBef>
                <a:spcPct val="0"/>
              </a:spcBef>
            </a:pPr>
            <a:r>
              <a:rPr lang="en-US" sz="2798">
                <a:solidFill>
                  <a:srgbClr val="000000"/>
                </a:solidFill>
                <a:latin typeface="Arial"/>
                <a:ea typeface="Arial"/>
                <a:cs typeface="Arial"/>
                <a:sym typeface="Arial"/>
              </a:rPr>
              <a:t>     -  `1stFlrSF` (0.61):  - Diện tích tầng 1 có tác động đáng kể</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2205"/>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l="0" t="-24886" r="0" b="-24886"/>
            </a:stretch>
          </a:blipFill>
        </p:spPr>
      </p:sp>
      <p:sp>
        <p:nvSpPr>
          <p:cNvPr name="TextBox 3" id="3"/>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grpSp>
        <p:nvGrpSpPr>
          <p:cNvPr name="Group 4" id="4"/>
          <p:cNvGrpSpPr/>
          <p:nvPr/>
        </p:nvGrpSpPr>
        <p:grpSpPr>
          <a:xfrm rot="0">
            <a:off x="9608577" y="1303348"/>
            <a:ext cx="8348535" cy="1304162"/>
            <a:chOff x="0" y="0"/>
            <a:chExt cx="2601552" cy="406400"/>
          </a:xfrm>
        </p:grpSpPr>
        <p:sp>
          <p:nvSpPr>
            <p:cNvPr name="Freeform 5" id="5"/>
            <p:cNvSpPr/>
            <p:nvPr/>
          </p:nvSpPr>
          <p:spPr>
            <a:xfrm flipH="false" flipV="false" rot="0">
              <a:off x="0" y="0"/>
              <a:ext cx="2601552" cy="406400"/>
            </a:xfrm>
            <a:custGeom>
              <a:avLst/>
              <a:gdLst/>
              <a:ahLst/>
              <a:cxnLst/>
              <a:rect r="r" b="b" t="t" l="l"/>
              <a:pathLst>
                <a:path h="406400" w="2601552">
                  <a:moveTo>
                    <a:pt x="2398352" y="0"/>
                  </a:moveTo>
                  <a:cubicBezTo>
                    <a:pt x="2510576" y="0"/>
                    <a:pt x="2601552" y="90976"/>
                    <a:pt x="2601552" y="203200"/>
                  </a:cubicBezTo>
                  <a:cubicBezTo>
                    <a:pt x="2601552" y="315424"/>
                    <a:pt x="2510576" y="406400"/>
                    <a:pt x="2398352"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6" id="6"/>
            <p:cNvSpPr txBox="true"/>
            <p:nvPr/>
          </p:nvSpPr>
          <p:spPr>
            <a:xfrm>
              <a:off x="0" y="-114300"/>
              <a:ext cx="2601552" cy="520700"/>
            </a:xfrm>
            <a:prstGeom prst="rect">
              <a:avLst/>
            </a:prstGeom>
          </p:spPr>
          <p:txBody>
            <a:bodyPr anchor="ctr" rtlCol="false" tIns="50800" lIns="50800" bIns="50800" rIns="50800"/>
            <a:lstStyle/>
            <a:p>
              <a:pPr algn="ctr">
                <a:lnSpc>
                  <a:spcPts val="6719"/>
                </a:lnSpc>
              </a:pPr>
              <a:r>
                <a:rPr lang="en-US" sz="4798">
                  <a:solidFill>
                    <a:srgbClr val="FFFFFF"/>
                  </a:solidFill>
                  <a:latin typeface="Arial"/>
                  <a:ea typeface="Arial"/>
                  <a:cs typeface="Arial"/>
                  <a:sym typeface="Arial"/>
                </a:rPr>
                <a:t>Tiền xử lý dữ liệu</a:t>
              </a:r>
            </a:p>
          </p:txBody>
        </p:sp>
      </p:grpSp>
      <p:sp>
        <p:nvSpPr>
          <p:cNvPr name="TextBox 7" id="7"/>
          <p:cNvSpPr txBox="true"/>
          <p:nvPr/>
        </p:nvSpPr>
        <p:spPr>
          <a:xfrm rot="0">
            <a:off x="163830" y="2807018"/>
            <a:ext cx="18124170" cy="5756910"/>
          </a:xfrm>
          <a:prstGeom prst="rect">
            <a:avLst/>
          </a:prstGeom>
        </p:spPr>
        <p:txBody>
          <a:bodyPr anchor="t" rtlCol="false" tIns="0" lIns="0" bIns="0" rIns="0">
            <a:spAutoFit/>
          </a:bodyPr>
          <a:lstStyle/>
          <a:p>
            <a:pPr algn="l">
              <a:lnSpc>
                <a:spcPts val="5760"/>
              </a:lnSpc>
            </a:pPr>
            <a:r>
              <a:rPr lang="en-US" sz="3200">
                <a:solidFill>
                  <a:srgbClr val="000000"/>
                </a:solidFill>
                <a:latin typeface="Arimo"/>
                <a:ea typeface="Arimo"/>
                <a:cs typeface="Arimo"/>
                <a:sym typeface="Arimo"/>
              </a:rPr>
              <a:t>     Điền các giá trị NA bằng None ở các cột : 'PoolQC', 'MiscFeature', 'Alley', 'Fence', 'FireplaceQu', 'GarageType', 'GarageFinish', 'GarageQual', 'GarageCond','BsmtQual', 'BsmtCond', 'BsmtExposure', 'BsmtFinType1', 'BsmtFinType2'.</a:t>
            </a:r>
          </a:p>
          <a:p>
            <a:pPr algn="l">
              <a:lnSpc>
                <a:spcPts val="5760"/>
              </a:lnSpc>
            </a:pPr>
            <a:r>
              <a:rPr lang="en-US" sz="3200">
                <a:solidFill>
                  <a:srgbClr val="000000"/>
                </a:solidFill>
                <a:latin typeface="Arimo"/>
                <a:ea typeface="Arimo"/>
                <a:cs typeface="Arimo"/>
                <a:sym typeface="Arimo"/>
              </a:rPr>
              <a:t>    Điền các giá trị NA bằng 0 ở các cột : 'GarageYrBlt', 'GarageArea', 'GarageCars','BsmtFinSF1', 'BsmtFinSF2', 'BsmtUnfSF', 'TotalBsmtSF', 'BsmtFullBath', 'BsmtHalfBath'.</a:t>
            </a:r>
          </a:p>
          <a:p>
            <a:pPr algn="l">
              <a:lnSpc>
                <a:spcPts val="5760"/>
              </a:lnSpc>
            </a:pPr>
            <a:r>
              <a:rPr lang="en-US" sz="3200">
                <a:solidFill>
                  <a:srgbClr val="000000"/>
                </a:solidFill>
                <a:latin typeface="Arimo"/>
                <a:ea typeface="Arimo"/>
                <a:cs typeface="Arimo"/>
                <a:sym typeface="Arimo"/>
              </a:rPr>
              <a:t>     Điền theo nhóm (LotFrontage theo Neighborhood) : `LotFrontage` ; điền theo trung vị trong khu vực.</a:t>
            </a:r>
          </a:p>
          <a:p>
            <a:pPr algn="l">
              <a:lnSpc>
                <a:spcPts val="5760"/>
              </a:lnSpc>
              <a:spcBef>
                <a:spcPct val="0"/>
              </a:spcBef>
            </a:pPr>
            <a:r>
              <a:rPr lang="en-US" sz="3200">
                <a:solidFill>
                  <a:srgbClr val="000000"/>
                </a:solidFill>
                <a:latin typeface="Arimo"/>
                <a:ea typeface="Arimo"/>
                <a:cs typeface="Arimo"/>
                <a:sym typeface="Arimo"/>
              </a:rPr>
              <a:t>     Các cột phân loại còn lại dùng mode.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l="0" t="-24886" r="0" b="-24886"/>
            </a:stretch>
          </a:blipFill>
        </p:spPr>
      </p:sp>
      <p:grpSp>
        <p:nvGrpSpPr>
          <p:cNvPr name="Group 3" id="3"/>
          <p:cNvGrpSpPr/>
          <p:nvPr/>
        </p:nvGrpSpPr>
        <p:grpSpPr>
          <a:xfrm rot="0">
            <a:off x="9526480" y="794526"/>
            <a:ext cx="8348535" cy="1304162"/>
            <a:chOff x="0" y="0"/>
            <a:chExt cx="2601552" cy="406400"/>
          </a:xfrm>
        </p:grpSpPr>
        <p:sp>
          <p:nvSpPr>
            <p:cNvPr name="Freeform 4" id="4"/>
            <p:cNvSpPr/>
            <p:nvPr/>
          </p:nvSpPr>
          <p:spPr>
            <a:xfrm flipH="false" flipV="false" rot="0">
              <a:off x="0" y="0"/>
              <a:ext cx="2601552" cy="406400"/>
            </a:xfrm>
            <a:custGeom>
              <a:avLst/>
              <a:gdLst/>
              <a:ahLst/>
              <a:cxnLst/>
              <a:rect r="r" b="b" t="t" l="l"/>
              <a:pathLst>
                <a:path h="406400" w="2601552">
                  <a:moveTo>
                    <a:pt x="2398352" y="0"/>
                  </a:moveTo>
                  <a:cubicBezTo>
                    <a:pt x="2510576" y="0"/>
                    <a:pt x="2601552" y="90976"/>
                    <a:pt x="2601552" y="203200"/>
                  </a:cubicBezTo>
                  <a:cubicBezTo>
                    <a:pt x="2601552" y="315424"/>
                    <a:pt x="2510576" y="406400"/>
                    <a:pt x="2398352"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5" id="5"/>
            <p:cNvSpPr txBox="true"/>
            <p:nvPr/>
          </p:nvSpPr>
          <p:spPr>
            <a:xfrm>
              <a:off x="0" y="-114300"/>
              <a:ext cx="2601552" cy="520700"/>
            </a:xfrm>
            <a:prstGeom prst="rect">
              <a:avLst/>
            </a:prstGeom>
          </p:spPr>
          <p:txBody>
            <a:bodyPr anchor="ctr" rtlCol="false" tIns="50800" lIns="50800" bIns="50800" rIns="50800"/>
            <a:lstStyle/>
            <a:p>
              <a:pPr algn="ctr">
                <a:lnSpc>
                  <a:spcPts val="6719"/>
                </a:lnSpc>
              </a:pPr>
              <a:r>
                <a:rPr lang="en-US" sz="4798">
                  <a:solidFill>
                    <a:srgbClr val="FFFFFF"/>
                  </a:solidFill>
                  <a:latin typeface="Arial"/>
                  <a:ea typeface="Arial"/>
                  <a:cs typeface="Arial"/>
                  <a:sym typeface="Arial"/>
                </a:rPr>
                <a:t>Tiền xử lý dữ liệu</a:t>
              </a:r>
            </a:p>
          </p:txBody>
        </p:sp>
      </p:grpSp>
      <p:graphicFrame>
        <p:nvGraphicFramePr>
          <p:cNvPr name="Table 6" id="6"/>
          <p:cNvGraphicFramePr>
            <a:graphicFrameLocks noGrp="true"/>
          </p:cNvGraphicFramePr>
          <p:nvPr/>
        </p:nvGraphicFramePr>
        <p:xfrm>
          <a:off x="359959" y="2343150"/>
          <a:ext cx="17928041" cy="7943850"/>
        </p:xfrm>
        <a:graphic>
          <a:graphicData uri="http://schemas.openxmlformats.org/drawingml/2006/table">
            <a:tbl>
              <a:tblPr/>
              <a:tblGrid>
                <a:gridCol w="2966000"/>
                <a:gridCol w="4970301"/>
                <a:gridCol w="9991739"/>
              </a:tblGrid>
              <a:tr h="794385">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Tên cột mới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Cách tạo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Ý nghĩa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385">
                <a:tc>
                  <a:txBody>
                    <a:bodyPr anchor="t" rtlCol="false"/>
                    <a:lstStyle/>
                    <a:p>
                      <a:pPr algn="ctr">
                        <a:lnSpc>
                          <a:spcPts val="2520"/>
                        </a:lnSpc>
                        <a:defRPr/>
                      </a:pPr>
                      <a:r>
                        <a:rPr lang="en-US" sz="1800">
                          <a:solidFill>
                            <a:srgbClr val="000000"/>
                          </a:solidFill>
                          <a:latin typeface="Arimo"/>
                          <a:ea typeface="Arimo"/>
                          <a:cs typeface="Arimo"/>
                          <a:sym typeface="Arimo"/>
                        </a:rPr>
                        <a:t>TotalSF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1stFlrSF + 2ndFlrSF + TotalBsmtSF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Tổng diện tích sử dụng thực tế - thể hiện quy mô tổng thể của ngôi nhà</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385">
                <a:tc>
                  <a:txBody>
                    <a:bodyPr anchor="t" rtlCol="false"/>
                    <a:lstStyle/>
                    <a:p>
                      <a:pPr algn="ctr">
                        <a:lnSpc>
                          <a:spcPts val="2520"/>
                        </a:lnSpc>
                        <a:defRPr/>
                      </a:pPr>
                      <a:r>
                        <a:rPr lang="en-US" sz="1800">
                          <a:solidFill>
                            <a:srgbClr val="000000"/>
                          </a:solidFill>
                          <a:latin typeface="Arimo"/>
                          <a:ea typeface="Arimo"/>
                          <a:cs typeface="Arimo"/>
                          <a:sym typeface="Arimo"/>
                        </a:rPr>
                        <a:t>HouseAge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YrSold - YearBuilt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Tuổi thực tế của ngôi nhà - ảnh hưởng đến khấu hao và giá trị</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385">
                <a:tc>
                  <a:txBody>
                    <a:bodyPr anchor="t" rtlCol="false"/>
                    <a:lstStyle/>
                    <a:p>
                      <a:pPr algn="ctr">
                        <a:lnSpc>
                          <a:spcPts val="2520"/>
                        </a:lnSpc>
                        <a:defRPr/>
                      </a:pPr>
                      <a:r>
                        <a:rPr lang="en-US" sz="1800">
                          <a:solidFill>
                            <a:srgbClr val="000000"/>
                          </a:solidFill>
                          <a:latin typeface="Arimo"/>
                          <a:ea typeface="Arimo"/>
                          <a:cs typeface="Arimo"/>
                          <a:sym typeface="Arimo"/>
                        </a:rPr>
                        <a:t>RemodAge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YrSold - YearRemodAdd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Thời gian từ lần cải tạo gần nhất - thể hiện mức độ bảo trì</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385">
                <a:tc>
                  <a:txBody>
                    <a:bodyPr anchor="t" rtlCol="false"/>
                    <a:lstStyle/>
                    <a:p>
                      <a:pPr algn="ctr">
                        <a:lnSpc>
                          <a:spcPts val="2520"/>
                        </a:lnSpc>
                        <a:defRPr/>
                      </a:pPr>
                      <a:r>
                        <a:rPr lang="en-US" sz="1800">
                          <a:solidFill>
                            <a:srgbClr val="000000"/>
                          </a:solidFill>
                          <a:latin typeface="Arimo"/>
                          <a:ea typeface="Arimo"/>
                          <a:cs typeface="Arimo"/>
                          <a:sym typeface="Arimo"/>
                        </a:rPr>
                        <a:t>TotalRooms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TotRmsAbvGrd + FullBath + HalfBath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Tổng số không gian sống bao gồm cả phòng tắm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385">
                <a:tc>
                  <a:txBody>
                    <a:bodyPr anchor="t" rtlCol="false"/>
                    <a:lstStyle/>
                    <a:p>
                      <a:pPr algn="ctr">
                        <a:lnSpc>
                          <a:spcPts val="2520"/>
                        </a:lnSpc>
                        <a:defRPr/>
                      </a:pPr>
                      <a:r>
                        <a:rPr lang="en-US" sz="1800">
                          <a:solidFill>
                            <a:srgbClr val="000000"/>
                          </a:solidFill>
                          <a:latin typeface="Arimo"/>
                          <a:ea typeface="Arimo"/>
                          <a:cs typeface="Arimo"/>
                          <a:sym typeface="Arimo"/>
                        </a:rPr>
                        <a:t>Qual_Area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OverallQual × GrLivArea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Tương tác chất lượng-diện tích - nhà vừa rộng vừa chất lượng cao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385">
                <a:tc>
                  <a:txBody>
                    <a:bodyPr anchor="t" rtlCol="false"/>
                    <a:lstStyle/>
                    <a:p>
                      <a:pPr algn="ctr">
                        <a:lnSpc>
                          <a:spcPts val="2520"/>
                        </a:lnSpc>
                        <a:defRPr/>
                      </a:pPr>
                      <a:r>
                        <a:rPr lang="en-US" sz="1800">
                          <a:solidFill>
                            <a:srgbClr val="000000"/>
                          </a:solidFill>
                          <a:latin typeface="Arimo"/>
                          <a:ea typeface="Arimo"/>
                          <a:cs typeface="Arimo"/>
                          <a:sym typeface="Arimo"/>
                        </a:rPr>
                        <a:t>LotRatio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LotArea / (GrLivArea + 1)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Tỷ lệ diện tích đất/sàn - đánh giá hiệu quả sử dụng đất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385">
                <a:tc>
                  <a:txBody>
                    <a:bodyPr anchor="t" rtlCol="false"/>
                    <a:lstStyle/>
                    <a:p>
                      <a:pPr algn="ctr">
                        <a:lnSpc>
                          <a:spcPts val="2520"/>
                        </a:lnSpc>
                        <a:defRPr/>
                      </a:pPr>
                      <a:r>
                        <a:rPr lang="en-US" sz="1800">
                          <a:solidFill>
                            <a:srgbClr val="000000"/>
                          </a:solidFill>
                          <a:latin typeface="Arimo"/>
                          <a:ea typeface="Arimo"/>
                          <a:cs typeface="Arimo"/>
                          <a:sym typeface="Arimo"/>
                        </a:rPr>
                        <a:t>HasGarage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(GarageArea &gt; 0).astype(int)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Có garage hay không - tiện nghi quan trọng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385">
                <a:tc>
                  <a:txBody>
                    <a:bodyPr anchor="t" rtlCol="false"/>
                    <a:lstStyle/>
                    <a:p>
                      <a:pPr algn="ctr">
                        <a:lnSpc>
                          <a:spcPts val="2520"/>
                        </a:lnSpc>
                        <a:defRPr/>
                      </a:pPr>
                      <a:r>
                        <a:rPr lang="en-US" sz="1800">
                          <a:solidFill>
                            <a:srgbClr val="000000"/>
                          </a:solidFill>
                          <a:latin typeface="Arimo"/>
                          <a:ea typeface="Arimo"/>
                          <a:cs typeface="Arimo"/>
                          <a:sym typeface="Arimo"/>
                        </a:rPr>
                        <a:t>HasBsmt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(TotalBsmtSF &gt; 0).astype(int)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Có tầng hầm hay không - không gian phụ trợ</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4385">
                <a:tc>
                  <a:txBody>
                    <a:bodyPr anchor="t" rtlCol="false"/>
                    <a:lstStyle/>
                    <a:p>
                      <a:pPr algn="ctr">
                        <a:lnSpc>
                          <a:spcPts val="2520"/>
                        </a:lnSpc>
                        <a:defRPr/>
                      </a:pPr>
                      <a:r>
                        <a:rPr lang="en-US" sz="1800">
                          <a:solidFill>
                            <a:srgbClr val="000000"/>
                          </a:solidFill>
                          <a:latin typeface="Arimo"/>
                          <a:ea typeface="Arimo"/>
                          <a:cs typeface="Arimo"/>
                          <a:sym typeface="Arimo"/>
                        </a:rPr>
                        <a:t>HasPool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(PoolArea &gt; 0).astype(int)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Có hồ bơi hay không - tiện nghi cao cấp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 y="0"/>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l="0" t="-24886" r="0" b="-24886"/>
            </a:stretch>
          </a:blipFill>
        </p:spPr>
      </p:sp>
      <p:sp>
        <p:nvSpPr>
          <p:cNvPr name="TextBox 3" id="3"/>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grpSp>
        <p:nvGrpSpPr>
          <p:cNvPr name="Group 4" id="4"/>
          <p:cNvGrpSpPr/>
          <p:nvPr/>
        </p:nvGrpSpPr>
        <p:grpSpPr>
          <a:xfrm rot="0">
            <a:off x="9526480" y="794526"/>
            <a:ext cx="8348535" cy="1304162"/>
            <a:chOff x="0" y="0"/>
            <a:chExt cx="2601552" cy="406400"/>
          </a:xfrm>
        </p:grpSpPr>
        <p:sp>
          <p:nvSpPr>
            <p:cNvPr name="Freeform 5" id="5"/>
            <p:cNvSpPr/>
            <p:nvPr/>
          </p:nvSpPr>
          <p:spPr>
            <a:xfrm flipH="false" flipV="false" rot="0">
              <a:off x="0" y="0"/>
              <a:ext cx="2601552" cy="406400"/>
            </a:xfrm>
            <a:custGeom>
              <a:avLst/>
              <a:gdLst/>
              <a:ahLst/>
              <a:cxnLst/>
              <a:rect r="r" b="b" t="t" l="l"/>
              <a:pathLst>
                <a:path h="406400" w="2601552">
                  <a:moveTo>
                    <a:pt x="2398352" y="0"/>
                  </a:moveTo>
                  <a:cubicBezTo>
                    <a:pt x="2510576" y="0"/>
                    <a:pt x="2601552" y="90976"/>
                    <a:pt x="2601552" y="203200"/>
                  </a:cubicBezTo>
                  <a:cubicBezTo>
                    <a:pt x="2601552" y="315424"/>
                    <a:pt x="2510576" y="406400"/>
                    <a:pt x="2398352" y="406400"/>
                  </a:cubicBezTo>
                  <a:lnTo>
                    <a:pt x="203200" y="406400"/>
                  </a:lnTo>
                  <a:cubicBezTo>
                    <a:pt x="90976" y="406400"/>
                    <a:pt x="0" y="315424"/>
                    <a:pt x="0" y="203200"/>
                  </a:cubicBezTo>
                  <a:cubicBezTo>
                    <a:pt x="0" y="90976"/>
                    <a:pt x="90976" y="0"/>
                    <a:pt x="203200" y="0"/>
                  </a:cubicBezTo>
                  <a:close/>
                </a:path>
              </a:pathLst>
            </a:custGeom>
            <a:solidFill>
              <a:srgbClr val="2865AB"/>
            </a:solidFill>
          </p:spPr>
        </p:sp>
        <p:sp>
          <p:nvSpPr>
            <p:cNvPr name="TextBox 6" id="6"/>
            <p:cNvSpPr txBox="true"/>
            <p:nvPr/>
          </p:nvSpPr>
          <p:spPr>
            <a:xfrm>
              <a:off x="0" y="-114300"/>
              <a:ext cx="2601552" cy="520700"/>
            </a:xfrm>
            <a:prstGeom prst="rect">
              <a:avLst/>
            </a:prstGeom>
          </p:spPr>
          <p:txBody>
            <a:bodyPr anchor="ctr" rtlCol="false" tIns="50800" lIns="50800" bIns="50800" rIns="50800"/>
            <a:lstStyle/>
            <a:p>
              <a:pPr algn="ctr">
                <a:lnSpc>
                  <a:spcPts val="6719"/>
                </a:lnSpc>
              </a:pPr>
              <a:r>
                <a:rPr lang="en-US" sz="4798">
                  <a:solidFill>
                    <a:srgbClr val="FFFFFF"/>
                  </a:solidFill>
                  <a:latin typeface="Arial"/>
                  <a:ea typeface="Arial"/>
                  <a:cs typeface="Arial"/>
                  <a:sym typeface="Arial"/>
                </a:rPr>
                <a:t>Chuẩn hóa</a:t>
              </a:r>
            </a:p>
          </p:txBody>
        </p:sp>
      </p:grpSp>
      <p:sp>
        <p:nvSpPr>
          <p:cNvPr name="TextBox 7" id="7"/>
          <p:cNvSpPr txBox="true"/>
          <p:nvPr/>
        </p:nvSpPr>
        <p:spPr>
          <a:xfrm rot="0">
            <a:off x="1203094" y="2756535"/>
            <a:ext cx="11895891" cy="6501765"/>
          </a:xfrm>
          <a:prstGeom prst="rect">
            <a:avLst/>
          </a:prstGeom>
        </p:spPr>
        <p:txBody>
          <a:bodyPr anchor="t" rtlCol="false" tIns="0" lIns="0" bIns="0" rIns="0">
            <a:spAutoFit/>
          </a:bodyPr>
          <a:lstStyle/>
          <a:p>
            <a:pPr algn="l">
              <a:lnSpc>
                <a:spcPts val="8640"/>
              </a:lnSpc>
              <a:spcBef>
                <a:spcPct val="0"/>
              </a:spcBef>
            </a:pPr>
            <a:r>
              <a:rPr lang="en-US" sz="4800">
                <a:solidFill>
                  <a:srgbClr val="000000"/>
                </a:solidFill>
                <a:latin typeface="Arimo"/>
                <a:ea typeface="Arimo"/>
                <a:cs typeface="Arimo"/>
                <a:sym typeface="Arimo"/>
              </a:rPr>
              <a:t>Mã hóa ordinal cho các biến chất lượng</a:t>
            </a:r>
          </a:p>
          <a:p>
            <a:pPr algn="l">
              <a:lnSpc>
                <a:spcPts val="8640"/>
              </a:lnSpc>
              <a:spcBef>
                <a:spcPct val="0"/>
              </a:spcBef>
            </a:pPr>
            <a:r>
              <a:rPr lang="en-US" sz="4800">
                <a:solidFill>
                  <a:srgbClr val="000000"/>
                </a:solidFill>
                <a:latin typeface="Arimo"/>
                <a:ea typeface="Arimo"/>
                <a:cs typeface="Arimo"/>
                <a:sym typeface="Arimo"/>
              </a:rPr>
              <a:t>One-hot encoding cho biến phân loại còn lại</a:t>
            </a:r>
          </a:p>
          <a:p>
            <a:pPr algn="l">
              <a:lnSpc>
                <a:spcPts val="8640"/>
              </a:lnSpc>
              <a:spcBef>
                <a:spcPct val="0"/>
              </a:spcBef>
            </a:pPr>
            <a:r>
              <a:rPr lang="en-US" sz="4800">
                <a:solidFill>
                  <a:srgbClr val="000000"/>
                </a:solidFill>
                <a:latin typeface="Arimo"/>
                <a:ea typeface="Arimo"/>
                <a:cs typeface="Arimo"/>
                <a:sym typeface="Arimo"/>
              </a:rPr>
              <a:t>Log-transform các biến skewed numeric</a:t>
            </a:r>
          </a:p>
          <a:p>
            <a:pPr algn="l">
              <a:lnSpc>
                <a:spcPts val="8640"/>
              </a:lnSpc>
              <a:spcBef>
                <a:spcPct val="0"/>
              </a:spcBef>
            </a:pPr>
            <a:r>
              <a:rPr lang="en-US" sz="4800">
                <a:solidFill>
                  <a:srgbClr val="000000"/>
                </a:solidFill>
                <a:latin typeface="Arimo"/>
                <a:ea typeface="Arimo"/>
                <a:cs typeface="Arimo"/>
                <a:sym typeface="Arimo"/>
              </a:rPr>
              <a:t>Chuẩn hóa các biến số</a:t>
            </a:r>
          </a:p>
          <a:p>
            <a:pPr algn="l">
              <a:lnSpc>
                <a:spcPts val="8640"/>
              </a:lnSpc>
              <a:spcBef>
                <a:spcPct val="0"/>
              </a:spcBef>
            </a:pPr>
            <a:r>
              <a:rPr lang="en-US" sz="4800">
                <a:solidFill>
                  <a:srgbClr val="000000"/>
                </a:solidFill>
                <a:latin typeface="Arimo"/>
                <a:ea typeface="Arimo"/>
                <a:cs typeface="Arimo"/>
                <a:sym typeface="Arimo"/>
              </a:rPr>
              <a:t>Log-transform cho target</a:t>
            </a:r>
          </a:p>
          <a:p>
            <a:pPr algn="l">
              <a:lnSpc>
                <a:spcPts val="864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026" y="-22205"/>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l="0" t="-24886" r="0" b="-24886"/>
            </a:stretch>
          </a:blipFill>
        </p:spPr>
      </p:sp>
      <p:sp>
        <p:nvSpPr>
          <p:cNvPr name="TextBox 3" id="3"/>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66800" y="3082560"/>
            <a:ext cx="9874545" cy="659921"/>
          </a:xfrm>
          <a:prstGeom prst="rect">
            <a:avLst/>
          </a:prstGeom>
        </p:spPr>
        <p:txBody>
          <a:bodyPr anchor="t" rtlCol="false" tIns="0" lIns="0" bIns="0" rIns="0">
            <a:spAutoFit/>
          </a:bodyPr>
          <a:lstStyle/>
          <a:p>
            <a:pPr algn="l">
              <a:lnSpc>
                <a:spcPts val="4759"/>
              </a:lnSpc>
            </a:pPr>
            <a:r>
              <a:rPr lang="en-US" sz="3399">
                <a:solidFill>
                  <a:srgbClr val="000000"/>
                </a:solidFill>
                <a:latin typeface="Arial"/>
                <a:ea typeface="Arial"/>
                <a:cs typeface="Arial"/>
                <a:sym typeface="Arial"/>
              </a:rPr>
              <a:t>Các mô hình được sử dụng:</a:t>
            </a:r>
          </a:p>
        </p:txBody>
      </p:sp>
      <p:grpSp>
        <p:nvGrpSpPr>
          <p:cNvPr name="Group 3" id="3"/>
          <p:cNvGrpSpPr/>
          <p:nvPr/>
        </p:nvGrpSpPr>
        <p:grpSpPr>
          <a:xfrm rot="0">
            <a:off x="9629632" y="1157884"/>
            <a:ext cx="8193983" cy="1024891"/>
            <a:chOff x="0" y="0"/>
            <a:chExt cx="10925311" cy="1366521"/>
          </a:xfrm>
        </p:grpSpPr>
        <p:sp>
          <p:nvSpPr>
            <p:cNvPr name="Freeform 4" id="4"/>
            <p:cNvSpPr/>
            <p:nvPr/>
          </p:nvSpPr>
          <p:spPr>
            <a:xfrm flipH="false" flipV="false" rot="0">
              <a:off x="0" y="0"/>
              <a:ext cx="10925428" cy="1366520"/>
            </a:xfrm>
            <a:custGeom>
              <a:avLst/>
              <a:gdLst/>
              <a:ahLst/>
              <a:cxnLst/>
              <a:rect r="r" b="b" t="t" l="l"/>
              <a:pathLst>
                <a:path h="1366520" w="10925428">
                  <a:moveTo>
                    <a:pt x="9877171" y="0"/>
                  </a:moveTo>
                  <a:cubicBezTo>
                    <a:pt x="10456037" y="0"/>
                    <a:pt x="10925428" y="305943"/>
                    <a:pt x="10925428" y="683260"/>
                  </a:cubicBezTo>
                  <a:cubicBezTo>
                    <a:pt x="10925428" y="1060577"/>
                    <a:pt x="10456164" y="1366520"/>
                    <a:pt x="9877171" y="1366520"/>
                  </a:cubicBezTo>
                  <a:lnTo>
                    <a:pt x="1048258" y="1366520"/>
                  </a:lnTo>
                  <a:cubicBezTo>
                    <a:pt x="469265" y="1366520"/>
                    <a:pt x="0" y="1060577"/>
                    <a:pt x="0" y="683260"/>
                  </a:cubicBezTo>
                  <a:cubicBezTo>
                    <a:pt x="0" y="305943"/>
                    <a:pt x="469265" y="0"/>
                    <a:pt x="1048258" y="0"/>
                  </a:cubicBezTo>
                  <a:close/>
                </a:path>
              </a:pathLst>
            </a:custGeom>
            <a:solidFill>
              <a:srgbClr val="4F81BD"/>
            </a:solidFill>
          </p:spPr>
        </p:sp>
      </p:grpSp>
      <p:grpSp>
        <p:nvGrpSpPr>
          <p:cNvPr name="Group 5" id="5"/>
          <p:cNvGrpSpPr/>
          <p:nvPr/>
        </p:nvGrpSpPr>
        <p:grpSpPr>
          <a:xfrm rot="0">
            <a:off x="9601200" y="952500"/>
            <a:ext cx="8193983" cy="1241079"/>
            <a:chOff x="0" y="0"/>
            <a:chExt cx="10925311" cy="1654772"/>
          </a:xfrm>
        </p:grpSpPr>
        <p:sp>
          <p:nvSpPr>
            <p:cNvPr name="Freeform 6" id="6"/>
            <p:cNvSpPr/>
            <p:nvPr/>
          </p:nvSpPr>
          <p:spPr>
            <a:xfrm flipH="false" flipV="false" rot="0">
              <a:off x="0" y="0"/>
              <a:ext cx="10925311" cy="1654772"/>
            </a:xfrm>
            <a:custGeom>
              <a:avLst/>
              <a:gdLst/>
              <a:ahLst/>
              <a:cxnLst/>
              <a:rect r="r" b="b" t="t" l="l"/>
              <a:pathLst>
                <a:path h="1654772" w="10925311">
                  <a:moveTo>
                    <a:pt x="0" y="0"/>
                  </a:moveTo>
                  <a:lnTo>
                    <a:pt x="10925311" y="0"/>
                  </a:lnTo>
                  <a:lnTo>
                    <a:pt x="10925311" y="1654772"/>
                  </a:lnTo>
                  <a:lnTo>
                    <a:pt x="0" y="1654772"/>
                  </a:lnTo>
                  <a:close/>
                </a:path>
              </a:pathLst>
            </a:custGeom>
            <a:solidFill>
              <a:srgbClr val="000000">
                <a:alpha val="0"/>
              </a:srgbClr>
            </a:solidFill>
          </p:spPr>
        </p:sp>
        <p:sp>
          <p:nvSpPr>
            <p:cNvPr name="TextBox 7" id="7"/>
            <p:cNvSpPr txBox="true"/>
            <p:nvPr/>
          </p:nvSpPr>
          <p:spPr>
            <a:xfrm>
              <a:off x="0" y="-114300"/>
              <a:ext cx="10925311" cy="1769072"/>
            </a:xfrm>
            <a:prstGeom prst="rect">
              <a:avLst/>
            </a:prstGeom>
          </p:spPr>
          <p:txBody>
            <a:bodyPr anchor="ctr" rtlCol="false" tIns="0" lIns="0" bIns="0" rIns="0"/>
            <a:lstStyle/>
            <a:p>
              <a:pPr algn="ctr">
                <a:lnSpc>
                  <a:spcPts val="6719"/>
                </a:lnSpc>
              </a:pPr>
              <a:r>
                <a:rPr lang="en-US" sz="4798">
                  <a:solidFill>
                    <a:srgbClr val="FFFFFF"/>
                  </a:solidFill>
                  <a:latin typeface="Arial"/>
                  <a:ea typeface="Arial"/>
                  <a:cs typeface="Arial"/>
                  <a:sym typeface="Arial"/>
                </a:rPr>
                <a:t>Huấn luyện mô hình</a:t>
              </a:r>
            </a:p>
          </p:txBody>
        </p:sp>
      </p:grpSp>
      <p:grpSp>
        <p:nvGrpSpPr>
          <p:cNvPr name="Group 8" id="8"/>
          <p:cNvGrpSpPr>
            <a:grpSpLocks noChangeAspect="true"/>
          </p:cNvGrpSpPr>
          <p:nvPr/>
        </p:nvGrpSpPr>
        <p:grpSpPr>
          <a:xfrm rot="0">
            <a:off x="762000" y="3998355"/>
            <a:ext cx="5135331" cy="3423554"/>
            <a:chOff x="0" y="0"/>
            <a:chExt cx="6847108" cy="4564739"/>
          </a:xfrm>
        </p:grpSpPr>
        <p:sp>
          <p:nvSpPr>
            <p:cNvPr name="Freeform 9" id="9"/>
            <p:cNvSpPr/>
            <p:nvPr/>
          </p:nvSpPr>
          <p:spPr>
            <a:xfrm flipH="false" flipV="false" rot="0">
              <a:off x="0" y="0"/>
              <a:ext cx="6847078" cy="4564761"/>
            </a:xfrm>
            <a:custGeom>
              <a:avLst/>
              <a:gdLst/>
              <a:ahLst/>
              <a:cxnLst/>
              <a:rect r="r" b="b" t="t" l="l"/>
              <a:pathLst>
                <a:path h="4564761" w="6847078">
                  <a:moveTo>
                    <a:pt x="0" y="0"/>
                  </a:moveTo>
                  <a:lnTo>
                    <a:pt x="6847078" y="0"/>
                  </a:lnTo>
                  <a:lnTo>
                    <a:pt x="6847078" y="4564761"/>
                  </a:lnTo>
                  <a:lnTo>
                    <a:pt x="0" y="4564761"/>
                  </a:lnTo>
                  <a:lnTo>
                    <a:pt x="0" y="0"/>
                  </a:lnTo>
                  <a:close/>
                </a:path>
              </a:pathLst>
            </a:custGeom>
            <a:blipFill>
              <a:blip r:embed="rId2"/>
              <a:stretch>
                <a:fillRect l="0" t="0" r="0" b="0"/>
              </a:stretch>
            </a:blipFill>
          </p:spPr>
        </p:sp>
      </p:grpSp>
      <p:grpSp>
        <p:nvGrpSpPr>
          <p:cNvPr name="Group 10" id="10"/>
          <p:cNvGrpSpPr>
            <a:grpSpLocks noChangeAspect="true"/>
          </p:cNvGrpSpPr>
          <p:nvPr/>
        </p:nvGrpSpPr>
        <p:grpSpPr>
          <a:xfrm rot="0">
            <a:off x="6705600" y="3881332"/>
            <a:ext cx="4876800" cy="3657600"/>
            <a:chOff x="0" y="0"/>
            <a:chExt cx="6502400" cy="4876800"/>
          </a:xfrm>
        </p:grpSpPr>
        <p:sp>
          <p:nvSpPr>
            <p:cNvPr name="Freeform 11" id="11" descr="Random Forest là gì? Ứng dụng của thuật toán trong Machine Learning"/>
            <p:cNvSpPr/>
            <p:nvPr/>
          </p:nvSpPr>
          <p:spPr>
            <a:xfrm flipH="false" flipV="false" rot="0">
              <a:off x="0" y="0"/>
              <a:ext cx="6502400" cy="4876800"/>
            </a:xfrm>
            <a:custGeom>
              <a:avLst/>
              <a:gdLst/>
              <a:ahLst/>
              <a:cxnLst/>
              <a:rect r="r" b="b" t="t" l="l"/>
              <a:pathLst>
                <a:path h="4876800" w="6502400">
                  <a:moveTo>
                    <a:pt x="0" y="0"/>
                  </a:moveTo>
                  <a:lnTo>
                    <a:pt x="6502400" y="0"/>
                  </a:lnTo>
                  <a:lnTo>
                    <a:pt x="6502400" y="4876800"/>
                  </a:lnTo>
                  <a:lnTo>
                    <a:pt x="0" y="4876800"/>
                  </a:lnTo>
                  <a:lnTo>
                    <a:pt x="0" y="0"/>
                  </a:lnTo>
                  <a:close/>
                </a:path>
              </a:pathLst>
            </a:custGeom>
            <a:blipFill>
              <a:blip r:embed="rId3"/>
              <a:stretch>
                <a:fillRect l="0" t="0" r="0" b="0"/>
              </a:stretch>
            </a:blipFill>
          </p:spPr>
        </p:sp>
      </p:grpSp>
      <p:grpSp>
        <p:nvGrpSpPr>
          <p:cNvPr name="Group 12" id="12"/>
          <p:cNvGrpSpPr>
            <a:grpSpLocks noChangeAspect="true"/>
          </p:cNvGrpSpPr>
          <p:nvPr/>
        </p:nvGrpSpPr>
        <p:grpSpPr>
          <a:xfrm rot="0">
            <a:off x="12801600" y="3686184"/>
            <a:ext cx="4219575" cy="3429000"/>
            <a:chOff x="0" y="0"/>
            <a:chExt cx="5626100" cy="4572000"/>
          </a:xfrm>
        </p:grpSpPr>
        <p:sp>
          <p:nvSpPr>
            <p:cNvPr name="Freeform 13" id="13"/>
            <p:cNvSpPr/>
            <p:nvPr/>
          </p:nvSpPr>
          <p:spPr>
            <a:xfrm flipH="false" flipV="false" rot="0">
              <a:off x="0" y="0"/>
              <a:ext cx="5626100" cy="4572000"/>
            </a:xfrm>
            <a:custGeom>
              <a:avLst/>
              <a:gdLst/>
              <a:ahLst/>
              <a:cxnLst/>
              <a:rect r="r" b="b" t="t" l="l"/>
              <a:pathLst>
                <a:path h="4572000" w="5626100">
                  <a:moveTo>
                    <a:pt x="0" y="0"/>
                  </a:moveTo>
                  <a:lnTo>
                    <a:pt x="5626100" y="0"/>
                  </a:lnTo>
                  <a:lnTo>
                    <a:pt x="5626100" y="4572000"/>
                  </a:lnTo>
                  <a:lnTo>
                    <a:pt x="0" y="4572000"/>
                  </a:lnTo>
                  <a:lnTo>
                    <a:pt x="0" y="0"/>
                  </a:lnTo>
                  <a:close/>
                </a:path>
              </a:pathLst>
            </a:custGeom>
            <a:blipFill>
              <a:blip r:embed="rId4"/>
              <a:stretch>
                <a:fillRect l="0" t="0" r="0" b="0"/>
              </a:stretch>
            </a:blipFill>
          </p:spPr>
        </p:sp>
      </p:grpSp>
      <p:grpSp>
        <p:nvGrpSpPr>
          <p:cNvPr name="Group 14" id="14"/>
          <p:cNvGrpSpPr/>
          <p:nvPr/>
        </p:nvGrpSpPr>
        <p:grpSpPr>
          <a:xfrm rot="0">
            <a:off x="7072286" y="7160249"/>
            <a:ext cx="4188920" cy="1035067"/>
            <a:chOff x="0" y="0"/>
            <a:chExt cx="5585227" cy="1380089"/>
          </a:xfrm>
        </p:grpSpPr>
        <p:sp>
          <p:nvSpPr>
            <p:cNvPr name="Freeform 15" id="15"/>
            <p:cNvSpPr/>
            <p:nvPr/>
          </p:nvSpPr>
          <p:spPr>
            <a:xfrm flipH="false" flipV="false" rot="0">
              <a:off x="0" y="0"/>
              <a:ext cx="5585227" cy="1380089"/>
            </a:xfrm>
            <a:custGeom>
              <a:avLst/>
              <a:gdLst/>
              <a:ahLst/>
              <a:cxnLst/>
              <a:rect r="r" b="b" t="t" l="l"/>
              <a:pathLst>
                <a:path h="1380089" w="5585227">
                  <a:moveTo>
                    <a:pt x="0" y="0"/>
                  </a:moveTo>
                  <a:lnTo>
                    <a:pt x="5585227" y="0"/>
                  </a:lnTo>
                  <a:lnTo>
                    <a:pt x="5585227" y="1380089"/>
                  </a:lnTo>
                  <a:lnTo>
                    <a:pt x="0" y="1380089"/>
                  </a:lnTo>
                  <a:close/>
                </a:path>
              </a:pathLst>
            </a:custGeom>
            <a:solidFill>
              <a:srgbClr val="000000">
                <a:alpha val="0"/>
              </a:srgbClr>
            </a:solidFill>
          </p:spPr>
        </p:sp>
        <p:sp>
          <p:nvSpPr>
            <p:cNvPr name="TextBox 16" id="16"/>
            <p:cNvSpPr txBox="true"/>
            <p:nvPr/>
          </p:nvSpPr>
          <p:spPr>
            <a:xfrm>
              <a:off x="0" y="-352425"/>
              <a:ext cx="5585227" cy="1732514"/>
            </a:xfrm>
            <a:prstGeom prst="rect">
              <a:avLst/>
            </a:prstGeom>
          </p:spPr>
          <p:txBody>
            <a:bodyPr anchor="ctr" rtlCol="false" tIns="0" lIns="0" bIns="0" rIns="0"/>
            <a:lstStyle/>
            <a:p>
              <a:pPr algn="ctr">
                <a:lnSpc>
                  <a:spcPts val="6719"/>
                </a:lnSpc>
              </a:pPr>
              <a:r>
                <a:rPr lang="en-US" sz="2700">
                  <a:solidFill>
                    <a:srgbClr val="000000"/>
                  </a:solidFill>
                  <a:latin typeface="Arial"/>
                  <a:ea typeface="Arial"/>
                  <a:cs typeface="Arial"/>
                  <a:sym typeface="Arial"/>
                </a:rPr>
                <a:t>Random Forest</a:t>
              </a:r>
            </a:p>
          </p:txBody>
        </p:sp>
      </p:grpSp>
      <p:grpSp>
        <p:nvGrpSpPr>
          <p:cNvPr name="Group 17" id="17"/>
          <p:cNvGrpSpPr/>
          <p:nvPr/>
        </p:nvGrpSpPr>
        <p:grpSpPr>
          <a:xfrm rot="0">
            <a:off x="1009985" y="7160249"/>
            <a:ext cx="5047943" cy="1035067"/>
            <a:chOff x="0" y="0"/>
            <a:chExt cx="6730591" cy="1380089"/>
          </a:xfrm>
        </p:grpSpPr>
        <p:sp>
          <p:nvSpPr>
            <p:cNvPr name="Freeform 18" id="18"/>
            <p:cNvSpPr/>
            <p:nvPr/>
          </p:nvSpPr>
          <p:spPr>
            <a:xfrm flipH="false" flipV="false" rot="0">
              <a:off x="0" y="0"/>
              <a:ext cx="6730591" cy="1380089"/>
            </a:xfrm>
            <a:custGeom>
              <a:avLst/>
              <a:gdLst/>
              <a:ahLst/>
              <a:cxnLst/>
              <a:rect r="r" b="b" t="t" l="l"/>
              <a:pathLst>
                <a:path h="1380089" w="6730591">
                  <a:moveTo>
                    <a:pt x="0" y="0"/>
                  </a:moveTo>
                  <a:lnTo>
                    <a:pt x="6730591" y="0"/>
                  </a:lnTo>
                  <a:lnTo>
                    <a:pt x="6730591" y="1380089"/>
                  </a:lnTo>
                  <a:lnTo>
                    <a:pt x="0" y="1380089"/>
                  </a:lnTo>
                  <a:close/>
                </a:path>
              </a:pathLst>
            </a:custGeom>
            <a:solidFill>
              <a:srgbClr val="000000">
                <a:alpha val="0"/>
              </a:srgbClr>
            </a:solidFill>
          </p:spPr>
        </p:sp>
        <p:sp>
          <p:nvSpPr>
            <p:cNvPr name="TextBox 19" id="19"/>
            <p:cNvSpPr txBox="true"/>
            <p:nvPr/>
          </p:nvSpPr>
          <p:spPr>
            <a:xfrm>
              <a:off x="0" y="-352425"/>
              <a:ext cx="6730591" cy="1732514"/>
            </a:xfrm>
            <a:prstGeom prst="rect">
              <a:avLst/>
            </a:prstGeom>
          </p:spPr>
          <p:txBody>
            <a:bodyPr anchor="ctr" rtlCol="false" tIns="0" lIns="0" bIns="0" rIns="0"/>
            <a:lstStyle/>
            <a:p>
              <a:pPr algn="ctr">
                <a:lnSpc>
                  <a:spcPts val="6719"/>
                </a:lnSpc>
              </a:pPr>
              <a:r>
                <a:rPr lang="en-US" sz="2700">
                  <a:solidFill>
                    <a:srgbClr val="000000"/>
                  </a:solidFill>
                  <a:latin typeface="Arial"/>
                  <a:ea typeface="Arial"/>
                  <a:cs typeface="Arial"/>
                  <a:sym typeface="Arial"/>
                </a:rPr>
                <a:t>Support Vector Machine(SVM)</a:t>
              </a:r>
            </a:p>
          </p:txBody>
        </p:sp>
      </p:grpSp>
      <p:grpSp>
        <p:nvGrpSpPr>
          <p:cNvPr name="Group 20" id="20"/>
          <p:cNvGrpSpPr/>
          <p:nvPr/>
        </p:nvGrpSpPr>
        <p:grpSpPr>
          <a:xfrm rot="0">
            <a:off x="12449624" y="7104380"/>
            <a:ext cx="5047943" cy="1035067"/>
            <a:chOff x="0" y="0"/>
            <a:chExt cx="6730591" cy="1380089"/>
          </a:xfrm>
        </p:grpSpPr>
        <p:sp>
          <p:nvSpPr>
            <p:cNvPr name="Freeform 21" id="21"/>
            <p:cNvSpPr/>
            <p:nvPr/>
          </p:nvSpPr>
          <p:spPr>
            <a:xfrm flipH="false" flipV="false" rot="0">
              <a:off x="0" y="0"/>
              <a:ext cx="6730591" cy="1380089"/>
            </a:xfrm>
            <a:custGeom>
              <a:avLst/>
              <a:gdLst/>
              <a:ahLst/>
              <a:cxnLst/>
              <a:rect r="r" b="b" t="t" l="l"/>
              <a:pathLst>
                <a:path h="1380089" w="6730591">
                  <a:moveTo>
                    <a:pt x="0" y="0"/>
                  </a:moveTo>
                  <a:lnTo>
                    <a:pt x="6730591" y="0"/>
                  </a:lnTo>
                  <a:lnTo>
                    <a:pt x="6730591" y="1380089"/>
                  </a:lnTo>
                  <a:lnTo>
                    <a:pt x="0" y="1380089"/>
                  </a:lnTo>
                  <a:close/>
                </a:path>
              </a:pathLst>
            </a:custGeom>
            <a:solidFill>
              <a:srgbClr val="000000">
                <a:alpha val="0"/>
              </a:srgbClr>
            </a:solidFill>
          </p:spPr>
        </p:sp>
        <p:sp>
          <p:nvSpPr>
            <p:cNvPr name="TextBox 22" id="22"/>
            <p:cNvSpPr txBox="true"/>
            <p:nvPr/>
          </p:nvSpPr>
          <p:spPr>
            <a:xfrm>
              <a:off x="0" y="-352425"/>
              <a:ext cx="6730591" cy="1732514"/>
            </a:xfrm>
            <a:prstGeom prst="rect">
              <a:avLst/>
            </a:prstGeom>
          </p:spPr>
          <p:txBody>
            <a:bodyPr anchor="ctr" rtlCol="false" tIns="0" lIns="0" bIns="0" rIns="0"/>
            <a:lstStyle/>
            <a:p>
              <a:pPr algn="ctr">
                <a:lnSpc>
                  <a:spcPts val="6719"/>
                </a:lnSpc>
              </a:pPr>
              <a:r>
                <a:rPr lang="en-US" sz="2700">
                  <a:solidFill>
                    <a:srgbClr val="000000"/>
                  </a:solidFill>
                  <a:latin typeface="Arial"/>
                  <a:ea typeface="Arial"/>
                  <a:cs typeface="Arial"/>
                  <a:sym typeface="Arial"/>
                </a:rPr>
                <a:t>K-Nearest Neighbors(KNN)</a:t>
              </a:r>
            </a:p>
          </p:txBody>
        </p:sp>
      </p:grpSp>
      <p:sp>
        <p:nvSpPr>
          <p:cNvPr name="Freeform 23" id="23"/>
          <p:cNvSpPr/>
          <p:nvPr/>
        </p:nvSpPr>
        <p:spPr>
          <a:xfrm flipH="false" flipV="false" rot="0">
            <a:off x="0" y="34020"/>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5">
              <a:extLst>
                <a:ext uri="{96DAC541-7B7A-43D3-8B79-37D633B846F1}">
                  <asvg:svgBlip xmlns:asvg="http://schemas.microsoft.com/office/drawing/2016/SVG/main" r:embed="rId6"/>
                </a:ext>
              </a:extLst>
            </a:blip>
            <a:stretch>
              <a:fillRect l="0" t="-24886" r="0" b="-24886"/>
            </a:stretch>
          </a:blipFill>
        </p:spPr>
      </p:sp>
      <p:sp>
        <p:nvSpPr>
          <p:cNvPr name="TextBox 24" id="24"/>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66800" y="3006360"/>
            <a:ext cx="9874545" cy="5011266"/>
          </a:xfrm>
          <a:prstGeom prst="rect">
            <a:avLst/>
          </a:prstGeom>
        </p:spPr>
        <p:txBody>
          <a:bodyPr anchor="t" rtlCol="false" tIns="0" lIns="0" bIns="0" rIns="0">
            <a:spAutoFit/>
          </a:bodyPr>
          <a:lstStyle/>
          <a:p>
            <a:pPr algn="l">
              <a:lnSpc>
                <a:spcPts val="4759"/>
              </a:lnSpc>
            </a:pPr>
            <a:r>
              <a:rPr lang="en-US" sz="2700">
                <a:solidFill>
                  <a:srgbClr val="000000"/>
                </a:solidFill>
                <a:latin typeface="Arial"/>
                <a:ea typeface="Arial"/>
                <a:cs typeface="Arial"/>
                <a:sym typeface="Arial"/>
              </a:rPr>
              <a:t>Đánh gia bằng K-Fold Cross-Validation: </a:t>
            </a:r>
          </a:p>
          <a:p>
            <a:pPr algn="l" marL="325755" indent="-162877" lvl="1">
              <a:lnSpc>
                <a:spcPts val="4759"/>
              </a:lnSpc>
              <a:buFont typeface="Arial"/>
              <a:buChar char="•"/>
            </a:pPr>
            <a:r>
              <a:rPr lang="en-US" sz="2700">
                <a:solidFill>
                  <a:srgbClr val="000000"/>
                </a:solidFill>
                <a:latin typeface="Arial"/>
                <a:ea typeface="Arial"/>
                <a:cs typeface="Arial"/>
                <a:sym typeface="Arial"/>
              </a:rPr>
              <a:t>Là một kỹ thuật tiêu chuẩn dùng để đánh giá hiệu suất và độ ổn định của một mô hình máy học.</a:t>
            </a:r>
          </a:p>
          <a:p>
            <a:pPr algn="l" marL="337820" indent="-168910" lvl="1">
              <a:lnSpc>
                <a:spcPts val="4759"/>
              </a:lnSpc>
              <a:buFont typeface="Arial"/>
              <a:buChar char="•"/>
            </a:pPr>
            <a:r>
              <a:rPr lang="en-US" sz="2799">
                <a:solidFill>
                  <a:srgbClr val="000000"/>
                </a:solidFill>
                <a:latin typeface="Arial"/>
                <a:ea typeface="Arial"/>
                <a:cs typeface="Arial"/>
                <a:sym typeface="Arial"/>
              </a:rPr>
              <a:t>Mục đích chính của nó là để có được một ước tính đáng tin cậy về khả năng tổng quát hóa của mô hình trên dữ liệu mới, chưa từng thấy, đồng thời giúp phát hiện các vấn đề như quá khớp (overfitting).</a:t>
            </a:r>
          </a:p>
          <a:p>
            <a:pPr algn="l" marL="337820" indent="-168910" lvl="1">
              <a:lnSpc>
                <a:spcPts val="4759"/>
              </a:lnSpc>
            </a:pPr>
          </a:p>
        </p:txBody>
      </p:sp>
      <p:grpSp>
        <p:nvGrpSpPr>
          <p:cNvPr name="Group 3" id="3"/>
          <p:cNvGrpSpPr/>
          <p:nvPr/>
        </p:nvGrpSpPr>
        <p:grpSpPr>
          <a:xfrm rot="0">
            <a:off x="9629632" y="1157884"/>
            <a:ext cx="8193983" cy="1024891"/>
            <a:chOff x="0" y="0"/>
            <a:chExt cx="10925311" cy="1366521"/>
          </a:xfrm>
        </p:grpSpPr>
        <p:sp>
          <p:nvSpPr>
            <p:cNvPr name="Freeform 4" id="4"/>
            <p:cNvSpPr/>
            <p:nvPr/>
          </p:nvSpPr>
          <p:spPr>
            <a:xfrm flipH="false" flipV="false" rot="0">
              <a:off x="0" y="0"/>
              <a:ext cx="10925428" cy="1366520"/>
            </a:xfrm>
            <a:custGeom>
              <a:avLst/>
              <a:gdLst/>
              <a:ahLst/>
              <a:cxnLst/>
              <a:rect r="r" b="b" t="t" l="l"/>
              <a:pathLst>
                <a:path h="1366520" w="10925428">
                  <a:moveTo>
                    <a:pt x="9877171" y="0"/>
                  </a:moveTo>
                  <a:cubicBezTo>
                    <a:pt x="10456037" y="0"/>
                    <a:pt x="10925428" y="305943"/>
                    <a:pt x="10925428" y="683260"/>
                  </a:cubicBezTo>
                  <a:cubicBezTo>
                    <a:pt x="10925428" y="1060577"/>
                    <a:pt x="10456164" y="1366520"/>
                    <a:pt x="9877171" y="1366520"/>
                  </a:cubicBezTo>
                  <a:lnTo>
                    <a:pt x="1048258" y="1366520"/>
                  </a:lnTo>
                  <a:cubicBezTo>
                    <a:pt x="469265" y="1366520"/>
                    <a:pt x="0" y="1060577"/>
                    <a:pt x="0" y="683260"/>
                  </a:cubicBezTo>
                  <a:cubicBezTo>
                    <a:pt x="0" y="305943"/>
                    <a:pt x="469265" y="0"/>
                    <a:pt x="1048258" y="0"/>
                  </a:cubicBezTo>
                  <a:close/>
                </a:path>
              </a:pathLst>
            </a:custGeom>
            <a:solidFill>
              <a:srgbClr val="4F81BD"/>
            </a:solidFill>
          </p:spPr>
        </p:sp>
      </p:grpSp>
      <p:grpSp>
        <p:nvGrpSpPr>
          <p:cNvPr name="Group 5" id="5"/>
          <p:cNvGrpSpPr/>
          <p:nvPr/>
        </p:nvGrpSpPr>
        <p:grpSpPr>
          <a:xfrm rot="0">
            <a:off x="9601200" y="952500"/>
            <a:ext cx="8193983" cy="1241079"/>
            <a:chOff x="0" y="0"/>
            <a:chExt cx="10925311" cy="1654772"/>
          </a:xfrm>
        </p:grpSpPr>
        <p:sp>
          <p:nvSpPr>
            <p:cNvPr name="Freeform 6" id="6"/>
            <p:cNvSpPr/>
            <p:nvPr/>
          </p:nvSpPr>
          <p:spPr>
            <a:xfrm flipH="false" flipV="false" rot="0">
              <a:off x="0" y="0"/>
              <a:ext cx="10925311" cy="1654772"/>
            </a:xfrm>
            <a:custGeom>
              <a:avLst/>
              <a:gdLst/>
              <a:ahLst/>
              <a:cxnLst/>
              <a:rect r="r" b="b" t="t" l="l"/>
              <a:pathLst>
                <a:path h="1654772" w="10925311">
                  <a:moveTo>
                    <a:pt x="0" y="0"/>
                  </a:moveTo>
                  <a:lnTo>
                    <a:pt x="10925311" y="0"/>
                  </a:lnTo>
                  <a:lnTo>
                    <a:pt x="10925311" y="1654772"/>
                  </a:lnTo>
                  <a:lnTo>
                    <a:pt x="0" y="1654772"/>
                  </a:lnTo>
                  <a:close/>
                </a:path>
              </a:pathLst>
            </a:custGeom>
            <a:solidFill>
              <a:srgbClr val="000000">
                <a:alpha val="0"/>
              </a:srgbClr>
            </a:solidFill>
          </p:spPr>
        </p:sp>
        <p:sp>
          <p:nvSpPr>
            <p:cNvPr name="TextBox 7" id="7"/>
            <p:cNvSpPr txBox="true"/>
            <p:nvPr/>
          </p:nvSpPr>
          <p:spPr>
            <a:xfrm>
              <a:off x="0" y="-114300"/>
              <a:ext cx="10925311" cy="1769072"/>
            </a:xfrm>
            <a:prstGeom prst="rect">
              <a:avLst/>
            </a:prstGeom>
          </p:spPr>
          <p:txBody>
            <a:bodyPr anchor="ctr" rtlCol="false" tIns="0" lIns="0" bIns="0" rIns="0"/>
            <a:lstStyle/>
            <a:p>
              <a:pPr algn="ctr">
                <a:lnSpc>
                  <a:spcPts val="6719"/>
                </a:lnSpc>
              </a:pPr>
              <a:r>
                <a:rPr lang="en-US" sz="4798">
                  <a:solidFill>
                    <a:srgbClr val="FFFFFF"/>
                  </a:solidFill>
                  <a:latin typeface="Arial"/>
                  <a:ea typeface="Arial"/>
                  <a:cs typeface="Arial"/>
                  <a:sym typeface="Arial"/>
                </a:rPr>
                <a:t>Đánh giá mô hình</a:t>
              </a:r>
            </a:p>
          </p:txBody>
        </p:sp>
      </p:grpSp>
      <p:grpSp>
        <p:nvGrpSpPr>
          <p:cNvPr name="Group 8" id="8"/>
          <p:cNvGrpSpPr>
            <a:grpSpLocks noChangeAspect="true"/>
          </p:cNvGrpSpPr>
          <p:nvPr/>
        </p:nvGrpSpPr>
        <p:grpSpPr>
          <a:xfrm rot="0">
            <a:off x="11096768" y="4000500"/>
            <a:ext cx="6698415" cy="2743200"/>
            <a:chOff x="0" y="0"/>
            <a:chExt cx="8931220" cy="3657600"/>
          </a:xfrm>
        </p:grpSpPr>
        <p:sp>
          <p:nvSpPr>
            <p:cNvPr name="Freeform 9" id="9"/>
            <p:cNvSpPr/>
            <p:nvPr/>
          </p:nvSpPr>
          <p:spPr>
            <a:xfrm flipH="false" flipV="false" rot="0">
              <a:off x="0" y="0"/>
              <a:ext cx="8931275" cy="3657600"/>
            </a:xfrm>
            <a:custGeom>
              <a:avLst/>
              <a:gdLst/>
              <a:ahLst/>
              <a:cxnLst/>
              <a:rect r="r" b="b" t="t" l="l"/>
              <a:pathLst>
                <a:path h="3657600" w="8931275">
                  <a:moveTo>
                    <a:pt x="0" y="0"/>
                  </a:moveTo>
                  <a:lnTo>
                    <a:pt x="8931275" y="0"/>
                  </a:lnTo>
                  <a:lnTo>
                    <a:pt x="8931275" y="3657600"/>
                  </a:lnTo>
                  <a:lnTo>
                    <a:pt x="0" y="3657600"/>
                  </a:lnTo>
                  <a:lnTo>
                    <a:pt x="0" y="0"/>
                  </a:lnTo>
                  <a:close/>
                </a:path>
              </a:pathLst>
            </a:custGeom>
            <a:blipFill>
              <a:blip r:embed="rId2"/>
              <a:stretch>
                <a:fillRect l="-29633" t="0" r="-29633" b="0"/>
              </a:stretch>
            </a:blipFill>
          </p:spPr>
        </p:sp>
      </p:grpSp>
      <p:sp>
        <p:nvSpPr>
          <p:cNvPr name="Freeform 10" id="10"/>
          <p:cNvSpPr/>
          <p:nvPr/>
        </p:nvSpPr>
        <p:spPr>
          <a:xfrm flipH="false" flipV="false" rot="0">
            <a:off x="-53026" y="-22205"/>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3">
              <a:extLst>
                <a:ext uri="{96DAC541-7B7A-43D3-8B79-37D633B846F1}">
                  <asvg:svgBlip xmlns:asvg="http://schemas.microsoft.com/office/drawing/2016/SVG/main" r:embed="rId4"/>
                </a:ext>
              </a:extLst>
            </a:blip>
            <a:stretch>
              <a:fillRect l="0" t="-24886" r="0" b="-24886"/>
            </a:stretch>
          </a:blipFill>
        </p:spPr>
      </p:sp>
      <p:sp>
        <p:nvSpPr>
          <p:cNvPr name="TextBox 11" id="11"/>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77016" y="2466975"/>
            <a:ext cx="9874545" cy="7473478"/>
          </a:xfrm>
          <a:prstGeom prst="rect">
            <a:avLst/>
          </a:prstGeom>
        </p:spPr>
        <p:txBody>
          <a:bodyPr anchor="t" rtlCol="false" tIns="0" lIns="0" bIns="0" rIns="0">
            <a:spAutoFit/>
          </a:bodyPr>
          <a:lstStyle/>
          <a:p>
            <a:pPr algn="l">
              <a:lnSpc>
                <a:spcPts val="4759"/>
              </a:lnSpc>
            </a:pPr>
            <a:r>
              <a:rPr lang="en-US" sz="2700">
                <a:solidFill>
                  <a:srgbClr val="000000"/>
                </a:solidFill>
                <a:latin typeface="Arial"/>
                <a:ea typeface="Arial"/>
                <a:cs typeface="Arial"/>
                <a:sym typeface="Arial"/>
              </a:rPr>
              <a:t>Đánh gia bằng Train-Test Split Evalution: </a:t>
            </a:r>
          </a:p>
          <a:p>
            <a:pPr algn="l" marL="337820" indent="-168910" lvl="1">
              <a:lnSpc>
                <a:spcPts val="4759"/>
              </a:lnSpc>
              <a:buFont typeface="Arial"/>
              <a:buChar char="•"/>
            </a:pPr>
            <a:r>
              <a:rPr lang="en-US" sz="2799">
                <a:solidFill>
                  <a:srgbClr val="000000"/>
                </a:solidFill>
                <a:latin typeface="Calibri (MS)"/>
                <a:ea typeface="Calibri (MS)"/>
                <a:cs typeface="Calibri (MS)"/>
                <a:sym typeface="Calibri (MS)"/>
              </a:rPr>
              <a:t>Là một kỹ thuật đánh giá mô hình đơn giản và phổ biến nhất trong máy học.</a:t>
            </a:r>
          </a:p>
          <a:p>
            <a:pPr algn="l" marL="337820" indent="-168910" lvl="1">
              <a:lnSpc>
                <a:spcPts val="4759"/>
              </a:lnSpc>
              <a:buFont typeface="Arial"/>
              <a:buChar char="•"/>
            </a:pPr>
            <a:r>
              <a:rPr lang="en-US" sz="2799">
                <a:solidFill>
                  <a:srgbClr val="000000"/>
                </a:solidFill>
                <a:latin typeface="Arial"/>
                <a:ea typeface="Arial"/>
                <a:cs typeface="Arial"/>
                <a:sym typeface="Arial"/>
              </a:rPr>
              <a:t>Nó chia tập dữ liệu ban đầu của bạn thành hai phần riêng biệt: Training Set (Thường chiếm phần lớn dữ liệu, ví dụ: 70% - 80%) và Testing Set (Là phần dữ liệu còn lại, ví dụ: 20% - 30%)</a:t>
            </a:r>
          </a:p>
          <a:p>
            <a:pPr algn="l" marL="337820" indent="-168910" lvl="1">
              <a:lnSpc>
                <a:spcPts val="4759"/>
              </a:lnSpc>
              <a:buFont typeface="Arial"/>
              <a:buChar char="•"/>
            </a:pPr>
            <a:r>
              <a:rPr lang="en-US" sz="2799">
                <a:solidFill>
                  <a:srgbClr val="000000"/>
                </a:solidFill>
                <a:latin typeface="Arial"/>
                <a:ea typeface="Arial"/>
                <a:cs typeface="Arial"/>
                <a:sym typeface="Arial"/>
              </a:rPr>
              <a:t>Mục đích chính là để đánh giá hiệu suất tổng quát hóa của mô hình, thông qua đánh giá hiệu suất của mô hình trên 1 tập validation riêng biệt sau khi huấn luyện phần còn lại trước đó.</a:t>
            </a:r>
          </a:p>
          <a:p>
            <a:pPr algn="l" marL="337820" indent="-168910" lvl="1">
              <a:lnSpc>
                <a:spcPts val="4759"/>
              </a:lnSpc>
            </a:pPr>
          </a:p>
        </p:txBody>
      </p:sp>
      <p:grpSp>
        <p:nvGrpSpPr>
          <p:cNvPr name="Group 3" id="3"/>
          <p:cNvGrpSpPr/>
          <p:nvPr/>
        </p:nvGrpSpPr>
        <p:grpSpPr>
          <a:xfrm rot="0">
            <a:off x="9629632" y="1157884"/>
            <a:ext cx="8193983" cy="1024891"/>
            <a:chOff x="0" y="0"/>
            <a:chExt cx="10925311" cy="1366521"/>
          </a:xfrm>
        </p:grpSpPr>
        <p:sp>
          <p:nvSpPr>
            <p:cNvPr name="Freeform 4" id="4"/>
            <p:cNvSpPr/>
            <p:nvPr/>
          </p:nvSpPr>
          <p:spPr>
            <a:xfrm flipH="false" flipV="false" rot="0">
              <a:off x="0" y="0"/>
              <a:ext cx="10925428" cy="1366520"/>
            </a:xfrm>
            <a:custGeom>
              <a:avLst/>
              <a:gdLst/>
              <a:ahLst/>
              <a:cxnLst/>
              <a:rect r="r" b="b" t="t" l="l"/>
              <a:pathLst>
                <a:path h="1366520" w="10925428">
                  <a:moveTo>
                    <a:pt x="9877171" y="0"/>
                  </a:moveTo>
                  <a:cubicBezTo>
                    <a:pt x="10456037" y="0"/>
                    <a:pt x="10925428" y="305943"/>
                    <a:pt x="10925428" y="683260"/>
                  </a:cubicBezTo>
                  <a:cubicBezTo>
                    <a:pt x="10925428" y="1060577"/>
                    <a:pt x="10456164" y="1366520"/>
                    <a:pt x="9877171" y="1366520"/>
                  </a:cubicBezTo>
                  <a:lnTo>
                    <a:pt x="1048258" y="1366520"/>
                  </a:lnTo>
                  <a:cubicBezTo>
                    <a:pt x="469265" y="1366520"/>
                    <a:pt x="0" y="1060577"/>
                    <a:pt x="0" y="683260"/>
                  </a:cubicBezTo>
                  <a:cubicBezTo>
                    <a:pt x="0" y="305943"/>
                    <a:pt x="469265" y="0"/>
                    <a:pt x="1048258" y="0"/>
                  </a:cubicBezTo>
                  <a:close/>
                </a:path>
              </a:pathLst>
            </a:custGeom>
            <a:solidFill>
              <a:srgbClr val="4F81BD"/>
            </a:solidFill>
          </p:spPr>
        </p:sp>
      </p:grpSp>
      <p:grpSp>
        <p:nvGrpSpPr>
          <p:cNvPr name="Group 5" id="5"/>
          <p:cNvGrpSpPr/>
          <p:nvPr/>
        </p:nvGrpSpPr>
        <p:grpSpPr>
          <a:xfrm rot="0">
            <a:off x="9601200" y="952500"/>
            <a:ext cx="8193983" cy="1241079"/>
            <a:chOff x="0" y="0"/>
            <a:chExt cx="10925311" cy="1654772"/>
          </a:xfrm>
        </p:grpSpPr>
        <p:sp>
          <p:nvSpPr>
            <p:cNvPr name="Freeform 6" id="6"/>
            <p:cNvSpPr/>
            <p:nvPr/>
          </p:nvSpPr>
          <p:spPr>
            <a:xfrm flipH="false" flipV="false" rot="0">
              <a:off x="0" y="0"/>
              <a:ext cx="10925311" cy="1654772"/>
            </a:xfrm>
            <a:custGeom>
              <a:avLst/>
              <a:gdLst/>
              <a:ahLst/>
              <a:cxnLst/>
              <a:rect r="r" b="b" t="t" l="l"/>
              <a:pathLst>
                <a:path h="1654772" w="10925311">
                  <a:moveTo>
                    <a:pt x="0" y="0"/>
                  </a:moveTo>
                  <a:lnTo>
                    <a:pt x="10925311" y="0"/>
                  </a:lnTo>
                  <a:lnTo>
                    <a:pt x="10925311" y="1654772"/>
                  </a:lnTo>
                  <a:lnTo>
                    <a:pt x="0" y="1654772"/>
                  </a:lnTo>
                  <a:close/>
                </a:path>
              </a:pathLst>
            </a:custGeom>
            <a:solidFill>
              <a:srgbClr val="000000">
                <a:alpha val="0"/>
              </a:srgbClr>
            </a:solidFill>
          </p:spPr>
        </p:sp>
        <p:sp>
          <p:nvSpPr>
            <p:cNvPr name="TextBox 7" id="7"/>
            <p:cNvSpPr txBox="true"/>
            <p:nvPr/>
          </p:nvSpPr>
          <p:spPr>
            <a:xfrm>
              <a:off x="0" y="-114300"/>
              <a:ext cx="10925311" cy="1769072"/>
            </a:xfrm>
            <a:prstGeom prst="rect">
              <a:avLst/>
            </a:prstGeom>
          </p:spPr>
          <p:txBody>
            <a:bodyPr anchor="ctr" rtlCol="false" tIns="0" lIns="0" bIns="0" rIns="0"/>
            <a:lstStyle/>
            <a:p>
              <a:pPr algn="ctr">
                <a:lnSpc>
                  <a:spcPts val="6719"/>
                </a:lnSpc>
              </a:pPr>
              <a:r>
                <a:rPr lang="en-US" sz="4798">
                  <a:solidFill>
                    <a:srgbClr val="FFFFFF"/>
                  </a:solidFill>
                  <a:latin typeface="Arial"/>
                  <a:ea typeface="Arial"/>
                  <a:cs typeface="Arial"/>
                  <a:sym typeface="Arial"/>
                </a:rPr>
                <a:t>Đánh giá mô hình</a:t>
              </a:r>
            </a:p>
          </p:txBody>
        </p:sp>
      </p:grpSp>
      <p:grpSp>
        <p:nvGrpSpPr>
          <p:cNvPr name="Group 8" id="8"/>
          <p:cNvGrpSpPr>
            <a:grpSpLocks noChangeAspect="true"/>
          </p:cNvGrpSpPr>
          <p:nvPr/>
        </p:nvGrpSpPr>
        <p:grpSpPr>
          <a:xfrm rot="0">
            <a:off x="11127683" y="3365083"/>
            <a:ext cx="6667500" cy="5000625"/>
            <a:chOff x="0" y="0"/>
            <a:chExt cx="8890000" cy="6667500"/>
          </a:xfrm>
        </p:grpSpPr>
        <p:sp>
          <p:nvSpPr>
            <p:cNvPr name="Freeform 9" id="9"/>
            <p:cNvSpPr/>
            <p:nvPr/>
          </p:nvSpPr>
          <p:spPr>
            <a:xfrm flipH="false" flipV="false" rot="0">
              <a:off x="0" y="0"/>
              <a:ext cx="8890000" cy="6667500"/>
            </a:xfrm>
            <a:custGeom>
              <a:avLst/>
              <a:gdLst/>
              <a:ahLst/>
              <a:cxnLst/>
              <a:rect r="r" b="b" t="t" l="l"/>
              <a:pathLst>
                <a:path h="6667500" w="8890000">
                  <a:moveTo>
                    <a:pt x="0" y="0"/>
                  </a:moveTo>
                  <a:lnTo>
                    <a:pt x="8890000" y="0"/>
                  </a:lnTo>
                  <a:lnTo>
                    <a:pt x="8890000" y="6667500"/>
                  </a:lnTo>
                  <a:lnTo>
                    <a:pt x="0" y="6667500"/>
                  </a:lnTo>
                  <a:lnTo>
                    <a:pt x="0" y="0"/>
                  </a:lnTo>
                  <a:close/>
                </a:path>
              </a:pathLst>
            </a:custGeom>
            <a:blipFill>
              <a:blip r:embed="rId2"/>
              <a:stretch>
                <a:fillRect l="0" t="0" r="0" b="0"/>
              </a:stretch>
            </a:blipFill>
          </p:spPr>
        </p:sp>
      </p:grpSp>
      <p:sp>
        <p:nvSpPr>
          <p:cNvPr name="Freeform 10" id="10"/>
          <p:cNvSpPr/>
          <p:nvPr/>
        </p:nvSpPr>
        <p:spPr>
          <a:xfrm flipH="false" flipV="false" rot="0">
            <a:off x="-53026" y="-22205"/>
            <a:ext cx="12549825" cy="2651106"/>
          </a:xfrm>
          <a:custGeom>
            <a:avLst/>
            <a:gdLst/>
            <a:ahLst/>
            <a:cxnLst/>
            <a:rect r="r" b="b" t="t" l="l"/>
            <a:pathLst>
              <a:path h="2651106" w="12549825">
                <a:moveTo>
                  <a:pt x="0" y="0"/>
                </a:moveTo>
                <a:lnTo>
                  <a:pt x="12549825" y="0"/>
                </a:lnTo>
                <a:lnTo>
                  <a:pt x="12549825" y="2651106"/>
                </a:lnTo>
                <a:lnTo>
                  <a:pt x="0" y="2651106"/>
                </a:lnTo>
                <a:lnTo>
                  <a:pt x="0" y="0"/>
                </a:lnTo>
                <a:close/>
              </a:path>
            </a:pathLst>
          </a:custGeom>
          <a:blipFill>
            <a:blip r:embed="rId3">
              <a:extLst>
                <a:ext uri="{96DAC541-7B7A-43D3-8B79-37D633B846F1}">
                  <asvg:svgBlip xmlns:asvg="http://schemas.microsoft.com/office/drawing/2016/SVG/main" r:embed="rId4"/>
                </a:ext>
              </a:extLst>
            </a:blip>
            <a:stretch>
              <a:fillRect l="0" t="-24886" r="0" b="-24886"/>
            </a:stretch>
          </a:blipFill>
        </p:spPr>
      </p:sp>
      <p:sp>
        <p:nvSpPr>
          <p:cNvPr name="TextBox 11" id="11"/>
          <p:cNvSpPr txBox="true"/>
          <p:nvPr/>
        </p:nvSpPr>
        <p:spPr>
          <a:xfrm rot="0">
            <a:off x="163830" y="-261255"/>
            <a:ext cx="8980170" cy="1320165"/>
          </a:xfrm>
          <a:prstGeom prst="rect">
            <a:avLst/>
          </a:prstGeom>
        </p:spPr>
        <p:txBody>
          <a:bodyPr anchor="t" rtlCol="false" tIns="0" lIns="0" bIns="0" rIns="0">
            <a:spAutoFit/>
          </a:bodyPr>
          <a:lstStyle/>
          <a:p>
            <a:pPr algn="just">
              <a:lnSpc>
                <a:spcPts val="8640"/>
              </a:lnSpc>
            </a:pPr>
            <a:r>
              <a:rPr lang="en-US" sz="4800">
                <a:solidFill>
                  <a:srgbClr val="FFFFFF"/>
                </a:solidFill>
                <a:latin typeface="Arimo"/>
                <a:ea typeface="Arimo"/>
                <a:cs typeface="Arimo"/>
                <a:sym typeface="Arimo"/>
              </a:rPr>
              <a:t>3. Proposed methods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474" y="-3372"/>
            <a:ext cx="14760074" cy="2271454"/>
          </a:xfrm>
          <a:custGeom>
            <a:avLst/>
            <a:gdLst/>
            <a:ahLst/>
            <a:cxnLst/>
            <a:rect r="r" b="b" t="t" l="l"/>
            <a:pathLst>
              <a:path h="2271454" w="14760074">
                <a:moveTo>
                  <a:pt x="0" y="0"/>
                </a:moveTo>
                <a:lnTo>
                  <a:pt x="14760074" y="0"/>
                </a:lnTo>
                <a:lnTo>
                  <a:pt x="14760074" y="2271454"/>
                </a:lnTo>
                <a:lnTo>
                  <a:pt x="0" y="2271454"/>
                </a:lnTo>
                <a:lnTo>
                  <a:pt x="0" y="0"/>
                </a:lnTo>
                <a:close/>
              </a:path>
            </a:pathLst>
          </a:custGeom>
          <a:blipFill>
            <a:blip r:embed="rId2">
              <a:extLst>
                <a:ext uri="{96DAC541-7B7A-43D3-8B79-37D633B846F1}">
                  <asvg:svgBlip xmlns:asvg="http://schemas.microsoft.com/office/drawing/2016/SVG/main" r:embed="rId3"/>
                </a:ext>
              </a:extLst>
            </a:blip>
            <a:stretch>
              <a:fillRect l="0" t="-52501" r="0" b="-52501"/>
            </a:stretch>
          </a:blipFill>
        </p:spPr>
      </p:sp>
      <p:grpSp>
        <p:nvGrpSpPr>
          <p:cNvPr name="Group 3" id="3"/>
          <p:cNvGrpSpPr/>
          <p:nvPr/>
        </p:nvGrpSpPr>
        <p:grpSpPr>
          <a:xfrm rot="0">
            <a:off x="225236" y="-67595"/>
            <a:ext cx="9154392" cy="1280249"/>
            <a:chOff x="0" y="0"/>
            <a:chExt cx="12205856" cy="1706999"/>
          </a:xfrm>
        </p:grpSpPr>
        <p:sp>
          <p:nvSpPr>
            <p:cNvPr name="Freeform 4" id="4"/>
            <p:cNvSpPr/>
            <p:nvPr/>
          </p:nvSpPr>
          <p:spPr>
            <a:xfrm flipH="false" flipV="false" rot="0">
              <a:off x="0" y="0"/>
              <a:ext cx="12205856" cy="1706999"/>
            </a:xfrm>
            <a:custGeom>
              <a:avLst/>
              <a:gdLst/>
              <a:ahLst/>
              <a:cxnLst/>
              <a:rect r="r" b="b" t="t" l="l"/>
              <a:pathLst>
                <a:path h="1706999" w="12205856">
                  <a:moveTo>
                    <a:pt x="0" y="0"/>
                  </a:moveTo>
                  <a:lnTo>
                    <a:pt x="12205856" y="0"/>
                  </a:lnTo>
                  <a:lnTo>
                    <a:pt x="12205856" y="1706999"/>
                  </a:lnTo>
                  <a:lnTo>
                    <a:pt x="0" y="1706999"/>
                  </a:lnTo>
                  <a:close/>
                </a:path>
              </a:pathLst>
            </a:custGeom>
            <a:solidFill>
              <a:srgbClr val="000000">
                <a:alpha val="0"/>
              </a:srgbClr>
            </a:solidFill>
          </p:spPr>
        </p:sp>
        <p:sp>
          <p:nvSpPr>
            <p:cNvPr name="TextBox 5" id="5"/>
            <p:cNvSpPr txBox="true"/>
            <p:nvPr/>
          </p:nvSpPr>
          <p:spPr>
            <a:xfrm>
              <a:off x="0" y="38100"/>
              <a:ext cx="12205856" cy="1668899"/>
            </a:xfrm>
            <a:prstGeom prst="rect">
              <a:avLst/>
            </a:prstGeom>
          </p:spPr>
          <p:txBody>
            <a:bodyPr anchor="ctr" rtlCol="false" tIns="0" lIns="0" bIns="0" rIns="0"/>
            <a:lstStyle/>
            <a:p>
              <a:pPr algn="l">
                <a:lnSpc>
                  <a:spcPts val="5184"/>
                </a:lnSpc>
              </a:pPr>
              <a:r>
                <a:rPr lang="en-US" sz="4800">
                  <a:solidFill>
                    <a:srgbClr val="FFFFFF"/>
                  </a:solidFill>
                  <a:latin typeface="Arimo"/>
                  <a:ea typeface="Arimo"/>
                  <a:cs typeface="Arimo"/>
                  <a:sym typeface="Arimo"/>
                </a:rPr>
                <a:t>4. Experience and result</a:t>
              </a:r>
            </a:p>
          </p:txBody>
        </p:sp>
      </p:grpSp>
      <p:graphicFrame>
        <p:nvGraphicFramePr>
          <p:cNvPr name="Table 6" id="6"/>
          <p:cNvGraphicFramePr>
            <a:graphicFrameLocks noGrp="true"/>
          </p:cNvGraphicFramePr>
          <p:nvPr/>
        </p:nvGraphicFramePr>
        <p:xfrm>
          <a:off x="1905000" y="2525973"/>
          <a:ext cx="12344400" cy="2794000"/>
        </p:xfrm>
        <a:graphic>
          <a:graphicData uri="http://schemas.openxmlformats.org/drawingml/2006/table">
            <a:tbl>
              <a:tblPr/>
              <a:tblGrid>
                <a:gridCol w="3086100"/>
                <a:gridCol w="3086100"/>
                <a:gridCol w="3086100"/>
                <a:gridCol w="3086100"/>
              </a:tblGrid>
              <a:tr h="698500">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Mô hình</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Accuracy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F1-Score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ROC AUC</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698500">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SVM</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0,8436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0,7879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0,8350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698500">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RandomForest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0,7486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0,6763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0,8167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698500">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KNN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0,8212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0,7500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0,8403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graphicFrame>
        <p:nvGraphicFramePr>
          <p:cNvPr name="Table 7" id="7"/>
          <p:cNvGraphicFramePr>
            <a:graphicFrameLocks noGrp="true"/>
          </p:cNvGraphicFramePr>
          <p:nvPr/>
        </p:nvGraphicFramePr>
        <p:xfrm>
          <a:off x="1905000" y="6400800"/>
          <a:ext cx="12344400" cy="2794000"/>
        </p:xfrm>
        <a:graphic>
          <a:graphicData uri="http://schemas.openxmlformats.org/drawingml/2006/table">
            <a:tbl>
              <a:tblPr/>
              <a:tblGrid>
                <a:gridCol w="3086100"/>
                <a:gridCol w="3086100"/>
                <a:gridCol w="3086100"/>
                <a:gridCol w="3086100"/>
              </a:tblGrid>
              <a:tr h="698500">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Mô hình</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BACC6"/>
                    </a:solidFill>
                  </a:tcPr>
                </a:tc>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Accuracy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BACC6"/>
                    </a:solidFill>
                  </a:tcPr>
                </a:tc>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F1-Score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BACC6"/>
                    </a:solidFill>
                  </a:tcPr>
                </a:tc>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ROC AUC</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BACC6"/>
                    </a:solidFill>
                  </a:tcPr>
                </a:tc>
              </a:tr>
              <a:tr h="698500">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SVM</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E3EA"/>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0,8350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E3EA"/>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0,7742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E3EA"/>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0,8536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E3EA"/>
                    </a:solidFill>
                  </a:tcPr>
                </a:tc>
              </a:tr>
              <a:tr h="698500">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RandomForest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0,8126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0,7489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0,8727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r>
              <a:tr h="698500">
                <a:tc>
                  <a:txBody>
                    <a:bodyPr anchor="t" rtlCol="false"/>
                    <a:lstStyle/>
                    <a:p>
                      <a:pPr algn="ctr">
                        <a:lnSpc>
                          <a:spcPts val="2879"/>
                        </a:lnSpc>
                        <a:defRPr/>
                      </a:pPr>
                      <a:r>
                        <a:rPr lang="en-US" sz="2400" b="true">
                          <a:solidFill>
                            <a:srgbClr val="000000"/>
                          </a:solidFill>
                          <a:latin typeface="Calibri (MS) Bold"/>
                          <a:ea typeface="Calibri (MS) Bold"/>
                          <a:cs typeface="Calibri (MS) Bold"/>
                          <a:sym typeface="Calibri (MS) Bold"/>
                        </a:rPr>
                        <a:t>KNN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E3EA"/>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0,8182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E3EA"/>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0,7484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E3EA"/>
                    </a:solidFill>
                  </a:tcPr>
                </a:tc>
                <a:tc>
                  <a:txBody>
                    <a:bodyPr anchor="t" rtlCol="false"/>
                    <a:lstStyle/>
                    <a:p>
                      <a:pPr algn="ctr">
                        <a:lnSpc>
                          <a:spcPts val="2879"/>
                        </a:lnSpc>
                        <a:defRPr/>
                      </a:pPr>
                      <a:r>
                        <a:rPr lang="en-US" sz="2400">
                          <a:solidFill>
                            <a:srgbClr val="000000"/>
                          </a:solidFill>
                          <a:latin typeface="Calibri (MS)"/>
                          <a:ea typeface="Calibri (MS)"/>
                          <a:cs typeface="Calibri (MS)"/>
                          <a:sym typeface="Calibri (MS)"/>
                        </a:rPr>
                        <a:t>0,8638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E3EA"/>
                    </a:solidFill>
                  </a:tcPr>
                </a:tc>
              </a:tr>
            </a:tbl>
          </a:graphicData>
        </a:graphic>
      </p:graphicFrame>
      <p:sp>
        <p:nvSpPr>
          <p:cNvPr name="TextBox 8" id="8"/>
          <p:cNvSpPr txBox="true"/>
          <p:nvPr/>
        </p:nvSpPr>
        <p:spPr>
          <a:xfrm rot="0">
            <a:off x="2002127" y="1794027"/>
            <a:ext cx="9036182" cy="45083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Kết quả khi dùng Train/Test Split Evaluation:</a:t>
            </a:r>
          </a:p>
        </p:txBody>
      </p:sp>
      <p:sp>
        <p:nvSpPr>
          <p:cNvPr name="TextBox 9" id="9"/>
          <p:cNvSpPr txBox="true"/>
          <p:nvPr/>
        </p:nvSpPr>
        <p:spPr>
          <a:xfrm rot="0">
            <a:off x="1969144" y="5643264"/>
            <a:ext cx="9036182" cy="450830"/>
          </a:xfrm>
          <a:prstGeom prst="rect">
            <a:avLst/>
          </a:prstGeom>
        </p:spPr>
        <p:txBody>
          <a:bodyPr anchor="t" rtlCol="false" tIns="0" lIns="0" bIns="0" rIns="0">
            <a:spAutoFit/>
          </a:bodyPr>
          <a:lstStyle/>
          <a:p>
            <a:pPr algn="l">
              <a:lnSpc>
                <a:spcPts val="3359"/>
              </a:lnSpc>
            </a:pPr>
            <a:r>
              <a:rPr lang="en-US" sz="2799" b="true">
                <a:solidFill>
                  <a:srgbClr val="000000"/>
                </a:solidFill>
                <a:latin typeface="Arial Bold"/>
                <a:ea typeface="Arial Bold"/>
                <a:cs typeface="Arial Bold"/>
                <a:sym typeface="Arial Bold"/>
              </a:rPr>
              <a:t>Kết quả khi dùng K-Fold Cross-Validation: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9694306" y="1055743"/>
            <a:ext cx="4877223" cy="3657917"/>
            <a:chOff x="0" y="0"/>
            <a:chExt cx="6502964" cy="4877223"/>
          </a:xfrm>
        </p:grpSpPr>
        <p:sp>
          <p:nvSpPr>
            <p:cNvPr name="Freeform 3" id="3"/>
            <p:cNvSpPr/>
            <p:nvPr/>
          </p:nvSpPr>
          <p:spPr>
            <a:xfrm flipH="false" flipV="false" rot="0">
              <a:off x="0" y="0"/>
              <a:ext cx="6502908" cy="4877181"/>
            </a:xfrm>
            <a:custGeom>
              <a:avLst/>
              <a:gdLst/>
              <a:ahLst/>
              <a:cxnLst/>
              <a:rect r="r" b="b" t="t" l="l"/>
              <a:pathLst>
                <a:path h="4877181" w="6502908">
                  <a:moveTo>
                    <a:pt x="0" y="0"/>
                  </a:moveTo>
                  <a:lnTo>
                    <a:pt x="6502908" y="0"/>
                  </a:lnTo>
                  <a:lnTo>
                    <a:pt x="6502908" y="4877181"/>
                  </a:lnTo>
                  <a:lnTo>
                    <a:pt x="0" y="4877181"/>
                  </a:lnTo>
                  <a:lnTo>
                    <a:pt x="0" y="0"/>
                  </a:lnTo>
                  <a:close/>
                </a:path>
              </a:pathLst>
            </a:custGeom>
            <a:blipFill>
              <a:blip r:embed="rId2"/>
              <a:stretch>
                <a:fillRect l="0" t="0" r="0" b="0"/>
              </a:stretch>
            </a:blipFill>
          </p:spPr>
        </p:sp>
      </p:grpSp>
      <p:sp>
        <p:nvSpPr>
          <p:cNvPr name="TextBox 4" id="4"/>
          <p:cNvSpPr txBox="true"/>
          <p:nvPr/>
        </p:nvSpPr>
        <p:spPr>
          <a:xfrm rot="0">
            <a:off x="1920238" y="2056625"/>
            <a:ext cx="6582017" cy="2202954"/>
          </a:xfrm>
          <a:prstGeom prst="rect">
            <a:avLst/>
          </a:prstGeom>
        </p:spPr>
        <p:txBody>
          <a:bodyPr anchor="t" rtlCol="false" tIns="0" lIns="0" bIns="0" rIns="0">
            <a:spAutoFit/>
          </a:bodyPr>
          <a:lstStyle/>
          <a:p>
            <a:pPr algn="l">
              <a:lnSpc>
                <a:spcPts val="3359"/>
              </a:lnSpc>
            </a:pPr>
            <a:r>
              <a:rPr lang="en-US" sz="2799" b="true">
                <a:solidFill>
                  <a:srgbClr val="000000"/>
                </a:solidFill>
                <a:latin typeface="Calibri (MS) Bold"/>
                <a:ea typeface="Calibri (MS) Bold"/>
                <a:cs typeface="Calibri (MS) Bold"/>
                <a:sym typeface="Calibri (MS) Bold"/>
              </a:rPr>
              <a:t>Random Forest:</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Min simple split: 2, 3, 4, 5, 7, 10</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Min simple leaf: 1, 2, 3, 4, 5</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n_estimators: 25, 50, 100, 150, 200</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n_jobs: -1</a:t>
            </a:r>
          </a:p>
        </p:txBody>
      </p:sp>
      <p:sp>
        <p:nvSpPr>
          <p:cNvPr name="TextBox 5" id="5"/>
          <p:cNvSpPr txBox="true"/>
          <p:nvPr/>
        </p:nvSpPr>
        <p:spPr>
          <a:xfrm rot="0">
            <a:off x="1947947" y="4714882"/>
            <a:ext cx="6582017" cy="2202954"/>
          </a:xfrm>
          <a:prstGeom prst="rect">
            <a:avLst/>
          </a:prstGeom>
        </p:spPr>
        <p:txBody>
          <a:bodyPr anchor="t" rtlCol="false" tIns="0" lIns="0" bIns="0" rIns="0">
            <a:spAutoFit/>
          </a:bodyPr>
          <a:lstStyle/>
          <a:p>
            <a:pPr algn="l">
              <a:lnSpc>
                <a:spcPts val="3359"/>
              </a:lnSpc>
            </a:pPr>
            <a:r>
              <a:rPr lang="en-US" sz="2799" b="true">
                <a:solidFill>
                  <a:srgbClr val="000000"/>
                </a:solidFill>
                <a:latin typeface="Calibri (MS) Bold"/>
                <a:ea typeface="Calibri (MS) Bold"/>
                <a:cs typeface="Calibri (MS) Bold"/>
                <a:sym typeface="Calibri (MS) Bold"/>
              </a:rPr>
              <a:t>Support Vector Machine:</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Regularization strength: 1</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Kernel: 'rbf’</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Gamma: 'scale’</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Probability: False</a:t>
            </a:r>
          </a:p>
        </p:txBody>
      </p:sp>
      <p:grpSp>
        <p:nvGrpSpPr>
          <p:cNvPr name="Group 6" id="6"/>
          <p:cNvGrpSpPr>
            <a:grpSpLocks noChangeAspect="true"/>
          </p:cNvGrpSpPr>
          <p:nvPr/>
        </p:nvGrpSpPr>
        <p:grpSpPr>
          <a:xfrm rot="0">
            <a:off x="9565251" y="4023013"/>
            <a:ext cx="5135331" cy="3423554"/>
            <a:chOff x="0" y="0"/>
            <a:chExt cx="6847108" cy="4564739"/>
          </a:xfrm>
        </p:grpSpPr>
        <p:sp>
          <p:nvSpPr>
            <p:cNvPr name="Freeform 7" id="7"/>
            <p:cNvSpPr/>
            <p:nvPr/>
          </p:nvSpPr>
          <p:spPr>
            <a:xfrm flipH="false" flipV="false" rot="0">
              <a:off x="0" y="0"/>
              <a:ext cx="6847078" cy="4564761"/>
            </a:xfrm>
            <a:custGeom>
              <a:avLst/>
              <a:gdLst/>
              <a:ahLst/>
              <a:cxnLst/>
              <a:rect r="r" b="b" t="t" l="l"/>
              <a:pathLst>
                <a:path h="4564761" w="6847078">
                  <a:moveTo>
                    <a:pt x="0" y="0"/>
                  </a:moveTo>
                  <a:lnTo>
                    <a:pt x="6847078" y="0"/>
                  </a:lnTo>
                  <a:lnTo>
                    <a:pt x="6847078" y="4564761"/>
                  </a:lnTo>
                  <a:lnTo>
                    <a:pt x="0" y="4564761"/>
                  </a:lnTo>
                  <a:lnTo>
                    <a:pt x="0" y="0"/>
                  </a:lnTo>
                  <a:close/>
                </a:path>
              </a:pathLst>
            </a:custGeom>
            <a:blipFill>
              <a:blip r:embed="rId3"/>
              <a:stretch>
                <a:fillRect l="0" t="0" r="0" b="0"/>
              </a:stretch>
            </a:blipFill>
          </p:spPr>
        </p:sp>
      </p:grpSp>
      <p:sp>
        <p:nvSpPr>
          <p:cNvPr name="TextBox 8" id="8"/>
          <p:cNvSpPr txBox="true"/>
          <p:nvPr/>
        </p:nvSpPr>
        <p:spPr>
          <a:xfrm rot="0">
            <a:off x="1947947" y="7444662"/>
            <a:ext cx="6065521" cy="1772067"/>
          </a:xfrm>
          <a:prstGeom prst="rect">
            <a:avLst/>
          </a:prstGeom>
        </p:spPr>
        <p:txBody>
          <a:bodyPr anchor="t" rtlCol="false" tIns="0" lIns="0" bIns="0" rIns="0">
            <a:spAutoFit/>
          </a:bodyPr>
          <a:lstStyle/>
          <a:p>
            <a:pPr algn="l">
              <a:lnSpc>
                <a:spcPts val="3359"/>
              </a:lnSpc>
            </a:pPr>
            <a:r>
              <a:rPr lang="en-US" sz="2799" b="true">
                <a:solidFill>
                  <a:srgbClr val="000000"/>
                </a:solidFill>
                <a:latin typeface="Calibri (MS) Bold"/>
                <a:ea typeface="Calibri (MS) Bold"/>
                <a:cs typeface="Calibri (MS) Bold"/>
                <a:sym typeface="Calibri (MS) Bold"/>
              </a:rPr>
              <a:t>K-Nearest Neighbors:</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n_neighbors: [3, 5, 7, 9, 11]</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weights: ‘uniform', 'distance’</a:t>
            </a:r>
          </a:p>
          <a:p>
            <a:pPr algn="l" marL="337820" indent="-168910" lvl="1">
              <a:lnSpc>
                <a:spcPts val="3359"/>
              </a:lnSpc>
              <a:buFont typeface="Arial"/>
              <a:buChar char="•"/>
            </a:pPr>
            <a:r>
              <a:rPr lang="en-US" sz="2799">
                <a:solidFill>
                  <a:srgbClr val="000000"/>
                </a:solidFill>
                <a:latin typeface="Calibri (MS)"/>
                <a:ea typeface="Calibri (MS)"/>
                <a:cs typeface="Calibri (MS)"/>
                <a:sym typeface="Calibri (MS)"/>
              </a:rPr>
              <a:t>metric: 'euclidean', 'manhattan'</a:t>
            </a:r>
          </a:p>
        </p:txBody>
      </p:sp>
      <p:grpSp>
        <p:nvGrpSpPr>
          <p:cNvPr name="Group 9" id="9"/>
          <p:cNvGrpSpPr>
            <a:grpSpLocks noChangeAspect="true"/>
          </p:cNvGrpSpPr>
          <p:nvPr/>
        </p:nvGrpSpPr>
        <p:grpSpPr>
          <a:xfrm rot="0">
            <a:off x="10061663" y="7449410"/>
            <a:ext cx="4142506" cy="2705100"/>
            <a:chOff x="0" y="0"/>
            <a:chExt cx="5523341" cy="3606800"/>
          </a:xfrm>
        </p:grpSpPr>
        <p:sp>
          <p:nvSpPr>
            <p:cNvPr name="Freeform 10" id="10"/>
            <p:cNvSpPr/>
            <p:nvPr/>
          </p:nvSpPr>
          <p:spPr>
            <a:xfrm flipH="false" flipV="false" rot="0">
              <a:off x="0" y="0"/>
              <a:ext cx="5523357" cy="3606800"/>
            </a:xfrm>
            <a:custGeom>
              <a:avLst/>
              <a:gdLst/>
              <a:ahLst/>
              <a:cxnLst/>
              <a:rect r="r" b="b" t="t" l="l"/>
              <a:pathLst>
                <a:path h="3606800" w="5523357">
                  <a:moveTo>
                    <a:pt x="0" y="0"/>
                  </a:moveTo>
                  <a:lnTo>
                    <a:pt x="5523357" y="0"/>
                  </a:lnTo>
                  <a:lnTo>
                    <a:pt x="5523357" y="3606800"/>
                  </a:lnTo>
                  <a:lnTo>
                    <a:pt x="0" y="3606800"/>
                  </a:lnTo>
                  <a:lnTo>
                    <a:pt x="0" y="0"/>
                  </a:lnTo>
                  <a:close/>
                </a:path>
              </a:pathLst>
            </a:custGeom>
            <a:blipFill>
              <a:blip r:embed="rId4"/>
              <a:stretch>
                <a:fillRect l="0" t="-12222" r="0" b="-12222"/>
              </a:stretch>
            </a:blipFill>
          </p:spPr>
        </p:sp>
      </p:grpSp>
      <p:sp>
        <p:nvSpPr>
          <p:cNvPr name="Freeform 11" id="11"/>
          <p:cNvSpPr/>
          <p:nvPr/>
        </p:nvSpPr>
        <p:spPr>
          <a:xfrm flipH="false" flipV="false" rot="0">
            <a:off x="-53474" y="-3372"/>
            <a:ext cx="14760074" cy="2271454"/>
          </a:xfrm>
          <a:custGeom>
            <a:avLst/>
            <a:gdLst/>
            <a:ahLst/>
            <a:cxnLst/>
            <a:rect r="r" b="b" t="t" l="l"/>
            <a:pathLst>
              <a:path h="2271454" w="14760074">
                <a:moveTo>
                  <a:pt x="0" y="0"/>
                </a:moveTo>
                <a:lnTo>
                  <a:pt x="14760074" y="0"/>
                </a:lnTo>
                <a:lnTo>
                  <a:pt x="14760074" y="2271454"/>
                </a:lnTo>
                <a:lnTo>
                  <a:pt x="0" y="2271454"/>
                </a:lnTo>
                <a:lnTo>
                  <a:pt x="0" y="0"/>
                </a:lnTo>
                <a:close/>
              </a:path>
            </a:pathLst>
          </a:custGeom>
          <a:blipFill>
            <a:blip r:embed="rId5">
              <a:extLst>
                <a:ext uri="{96DAC541-7B7A-43D3-8B79-37D633B846F1}">
                  <asvg:svgBlip xmlns:asvg="http://schemas.microsoft.com/office/drawing/2016/SVG/main" r:embed="rId6"/>
                </a:ext>
              </a:extLst>
            </a:blip>
            <a:stretch>
              <a:fillRect l="0" t="-52501" r="0" b="-52501"/>
            </a:stretch>
          </a:blipFill>
        </p:spPr>
      </p:sp>
      <p:grpSp>
        <p:nvGrpSpPr>
          <p:cNvPr name="Group 12" id="12"/>
          <p:cNvGrpSpPr/>
          <p:nvPr/>
        </p:nvGrpSpPr>
        <p:grpSpPr>
          <a:xfrm rot="0">
            <a:off x="225236" y="-67595"/>
            <a:ext cx="9154392" cy="1280249"/>
            <a:chOff x="0" y="0"/>
            <a:chExt cx="12205856" cy="1706999"/>
          </a:xfrm>
        </p:grpSpPr>
        <p:sp>
          <p:nvSpPr>
            <p:cNvPr name="Freeform 13" id="13"/>
            <p:cNvSpPr/>
            <p:nvPr/>
          </p:nvSpPr>
          <p:spPr>
            <a:xfrm flipH="false" flipV="false" rot="0">
              <a:off x="0" y="0"/>
              <a:ext cx="12205856" cy="1706999"/>
            </a:xfrm>
            <a:custGeom>
              <a:avLst/>
              <a:gdLst/>
              <a:ahLst/>
              <a:cxnLst/>
              <a:rect r="r" b="b" t="t" l="l"/>
              <a:pathLst>
                <a:path h="1706999" w="12205856">
                  <a:moveTo>
                    <a:pt x="0" y="0"/>
                  </a:moveTo>
                  <a:lnTo>
                    <a:pt x="12205856" y="0"/>
                  </a:lnTo>
                  <a:lnTo>
                    <a:pt x="12205856" y="1706999"/>
                  </a:lnTo>
                  <a:lnTo>
                    <a:pt x="0" y="1706999"/>
                  </a:lnTo>
                  <a:close/>
                </a:path>
              </a:pathLst>
            </a:custGeom>
            <a:solidFill>
              <a:srgbClr val="000000">
                <a:alpha val="0"/>
              </a:srgbClr>
            </a:solidFill>
          </p:spPr>
        </p:sp>
        <p:sp>
          <p:nvSpPr>
            <p:cNvPr name="TextBox 14" id="14"/>
            <p:cNvSpPr txBox="true"/>
            <p:nvPr/>
          </p:nvSpPr>
          <p:spPr>
            <a:xfrm>
              <a:off x="0" y="38100"/>
              <a:ext cx="12205856" cy="1668899"/>
            </a:xfrm>
            <a:prstGeom prst="rect">
              <a:avLst/>
            </a:prstGeom>
          </p:spPr>
          <p:txBody>
            <a:bodyPr anchor="ctr" rtlCol="false" tIns="0" lIns="0" bIns="0" rIns="0"/>
            <a:lstStyle/>
            <a:p>
              <a:pPr algn="l">
                <a:lnSpc>
                  <a:spcPts val="5184"/>
                </a:lnSpc>
              </a:pPr>
              <a:r>
                <a:rPr lang="en-US" sz="4800">
                  <a:solidFill>
                    <a:srgbClr val="FFFFFF"/>
                  </a:solidFill>
                  <a:latin typeface="Arimo"/>
                  <a:ea typeface="Arimo"/>
                  <a:cs typeface="Arimo"/>
                  <a:sym typeface="Arimo"/>
                </a:rPr>
                <a:t>4. Experience and result</a:t>
              </a:r>
            </a:p>
          </p:txBody>
        </p:sp>
      </p:gr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474" y="-3373"/>
            <a:ext cx="11587539" cy="2327473"/>
          </a:xfrm>
          <a:custGeom>
            <a:avLst/>
            <a:gdLst/>
            <a:ahLst/>
            <a:cxnLst/>
            <a:rect r="r" b="b" t="t" l="l"/>
            <a:pathLst>
              <a:path h="2327473" w="11587539">
                <a:moveTo>
                  <a:pt x="0" y="0"/>
                </a:moveTo>
                <a:lnTo>
                  <a:pt x="11587539" y="0"/>
                </a:lnTo>
                <a:lnTo>
                  <a:pt x="11587539" y="2327473"/>
                </a:lnTo>
                <a:lnTo>
                  <a:pt x="0" y="2327473"/>
                </a:lnTo>
                <a:lnTo>
                  <a:pt x="0" y="0"/>
                </a:lnTo>
                <a:close/>
              </a:path>
            </a:pathLst>
          </a:custGeom>
          <a:blipFill>
            <a:blip r:embed="rId2">
              <a:extLst>
                <a:ext uri="{96DAC541-7B7A-43D3-8B79-37D633B846F1}">
                  <asvg:svgBlip xmlns:asvg="http://schemas.microsoft.com/office/drawing/2016/SVG/main" r:embed="rId3"/>
                </a:ext>
              </a:extLst>
            </a:blip>
            <a:stretch>
              <a:fillRect l="0" t="-28544" r="0" b="-28544"/>
            </a:stretch>
          </a:blipFill>
        </p:spPr>
      </p:sp>
      <p:grpSp>
        <p:nvGrpSpPr>
          <p:cNvPr name="Group 3" id="3"/>
          <p:cNvGrpSpPr/>
          <p:nvPr/>
        </p:nvGrpSpPr>
        <p:grpSpPr>
          <a:xfrm rot="0">
            <a:off x="238866" y="25201"/>
            <a:ext cx="15773400" cy="1280249"/>
            <a:chOff x="0" y="0"/>
            <a:chExt cx="21031200" cy="1706999"/>
          </a:xfrm>
        </p:grpSpPr>
        <p:sp>
          <p:nvSpPr>
            <p:cNvPr name="Freeform 4" id="4"/>
            <p:cNvSpPr/>
            <p:nvPr/>
          </p:nvSpPr>
          <p:spPr>
            <a:xfrm flipH="false" flipV="false" rot="0">
              <a:off x="0" y="0"/>
              <a:ext cx="21031200" cy="1706999"/>
            </a:xfrm>
            <a:custGeom>
              <a:avLst/>
              <a:gdLst/>
              <a:ahLst/>
              <a:cxnLst/>
              <a:rect r="r" b="b" t="t" l="l"/>
              <a:pathLst>
                <a:path h="1706999" w="21031200">
                  <a:moveTo>
                    <a:pt x="0" y="0"/>
                  </a:moveTo>
                  <a:lnTo>
                    <a:pt x="21031200" y="0"/>
                  </a:lnTo>
                  <a:lnTo>
                    <a:pt x="21031200" y="1706999"/>
                  </a:lnTo>
                  <a:lnTo>
                    <a:pt x="0" y="1706999"/>
                  </a:lnTo>
                  <a:close/>
                </a:path>
              </a:pathLst>
            </a:custGeom>
            <a:solidFill>
              <a:srgbClr val="000000">
                <a:alpha val="0"/>
              </a:srgbClr>
            </a:solidFill>
          </p:spPr>
        </p:sp>
        <p:sp>
          <p:nvSpPr>
            <p:cNvPr name="TextBox 5" id="5"/>
            <p:cNvSpPr txBox="true"/>
            <p:nvPr/>
          </p:nvSpPr>
          <p:spPr>
            <a:xfrm>
              <a:off x="0" y="38100"/>
              <a:ext cx="21031200" cy="1668899"/>
            </a:xfrm>
            <a:prstGeom prst="rect">
              <a:avLst/>
            </a:prstGeom>
          </p:spPr>
          <p:txBody>
            <a:bodyPr anchor="ctr" rtlCol="false" tIns="0" lIns="0" bIns="0" rIns="0"/>
            <a:lstStyle/>
            <a:p>
              <a:pPr algn="l">
                <a:lnSpc>
                  <a:spcPts val="5184"/>
                </a:lnSpc>
              </a:pPr>
              <a:r>
                <a:rPr lang="en-US" sz="4800">
                  <a:solidFill>
                    <a:srgbClr val="FFFFFF"/>
                  </a:solidFill>
                  <a:latin typeface="Arimo"/>
                  <a:ea typeface="Arimo"/>
                  <a:cs typeface="Arimo"/>
                  <a:sym typeface="Arimo"/>
                </a:rPr>
                <a:t>5. Conclusion</a:t>
              </a:r>
            </a:p>
          </p:txBody>
        </p:sp>
      </p:grpSp>
      <p:sp>
        <p:nvSpPr>
          <p:cNvPr name="TextBox 6" id="6"/>
          <p:cNvSpPr txBox="true"/>
          <p:nvPr/>
        </p:nvSpPr>
        <p:spPr>
          <a:xfrm rot="0">
            <a:off x="1177945" y="1915532"/>
            <a:ext cx="15354300" cy="4780061"/>
          </a:xfrm>
          <a:prstGeom prst="rect">
            <a:avLst/>
          </a:prstGeom>
        </p:spPr>
        <p:txBody>
          <a:bodyPr anchor="t" rtlCol="false" tIns="0" lIns="0" bIns="0" rIns="0">
            <a:spAutoFit/>
          </a:bodyPr>
          <a:lstStyle/>
          <a:p>
            <a:pPr algn="l">
              <a:lnSpc>
                <a:spcPts val="5184"/>
              </a:lnSpc>
            </a:pPr>
            <a:r>
              <a:rPr lang="en-US" sz="2700">
                <a:solidFill>
                  <a:srgbClr val="000000"/>
                </a:solidFill>
                <a:latin typeface="Arimo"/>
                <a:ea typeface="Arimo"/>
                <a:cs typeface="Arimo"/>
                <a:sym typeface="Arimo"/>
              </a:rPr>
              <a:t>Qua quá trình huấn luyện và đánh giá, chúng ta thấy mô hình </a:t>
            </a:r>
            <a:r>
              <a:rPr lang="en-US" sz="2700" b="true">
                <a:solidFill>
                  <a:srgbClr val="000000"/>
                </a:solidFill>
                <a:latin typeface="Arimo Bold"/>
                <a:ea typeface="Arimo Bold"/>
                <a:cs typeface="Arimo Bold"/>
                <a:sym typeface="Arimo Bold"/>
              </a:rPr>
              <a:t>Random Forest </a:t>
            </a:r>
            <a:r>
              <a:rPr lang="en-US" sz="2700">
                <a:solidFill>
                  <a:srgbClr val="000000"/>
                </a:solidFill>
                <a:latin typeface="Arimo"/>
                <a:ea typeface="Arimo"/>
                <a:cs typeface="Arimo"/>
                <a:sym typeface="Arimo"/>
              </a:rPr>
              <a:t>có độ chính xác cao nhất, điểm ROC AUC đạt cao nhất trong tất cả mô hình. Mặc dù trong quá trình huấn luyện có gặp chút sai sót, khi kết quả của SVM luôn cao hơn các mô hình còn lại, nhưng xét về tính phù hợp và ổn định, Random Forest có kết quả nhỉnh hơn đôi chút, trở thành lựa chọn tối ưu cho việc dự đoán</a:t>
            </a:r>
          </a:p>
          <a:p>
            <a:pPr algn="l">
              <a:lnSpc>
                <a:spcPts val="5184"/>
              </a:lnSpc>
            </a:pPr>
          </a:p>
          <a:p>
            <a:pPr algn="l">
              <a:lnSpc>
                <a:spcPts val="5184"/>
              </a:lnSpc>
            </a:pPr>
            <a:r>
              <a:rPr lang="en-US" sz="2700">
                <a:solidFill>
                  <a:srgbClr val="000000"/>
                </a:solidFill>
                <a:latin typeface="Arimo"/>
                <a:ea typeface="Arimo"/>
                <a:cs typeface="Arimo"/>
                <a:sym typeface="Arimo"/>
              </a:rPr>
              <a:t>Qua đây, ta thấy vai trò quan trọng của xử lý và tạo các đặc trưng, chúng có thể “biến” các quy tắc sống còn của thảm họa trở thành yêu tố có quy luật rõ ràng hơn</a:t>
            </a:r>
          </a:p>
        </p:txBody>
      </p:sp>
      <p:grpSp>
        <p:nvGrpSpPr>
          <p:cNvPr name="Group 7" id="7"/>
          <p:cNvGrpSpPr>
            <a:grpSpLocks noChangeAspect="true"/>
          </p:cNvGrpSpPr>
          <p:nvPr/>
        </p:nvGrpSpPr>
        <p:grpSpPr>
          <a:xfrm rot="0">
            <a:off x="1085125" y="7505700"/>
            <a:ext cx="15539940" cy="1676173"/>
            <a:chOff x="0" y="0"/>
            <a:chExt cx="20719920" cy="2234897"/>
          </a:xfrm>
        </p:grpSpPr>
        <p:sp>
          <p:nvSpPr>
            <p:cNvPr name="Freeform 8" id="8"/>
            <p:cNvSpPr/>
            <p:nvPr/>
          </p:nvSpPr>
          <p:spPr>
            <a:xfrm flipH="false" flipV="false" rot="0">
              <a:off x="0" y="0"/>
              <a:ext cx="20719923" cy="2234946"/>
            </a:xfrm>
            <a:custGeom>
              <a:avLst/>
              <a:gdLst/>
              <a:ahLst/>
              <a:cxnLst/>
              <a:rect r="r" b="b" t="t" l="l"/>
              <a:pathLst>
                <a:path h="2234946" w="20719923">
                  <a:moveTo>
                    <a:pt x="0" y="0"/>
                  </a:moveTo>
                  <a:lnTo>
                    <a:pt x="20719923" y="0"/>
                  </a:lnTo>
                  <a:lnTo>
                    <a:pt x="20719923" y="2234946"/>
                  </a:lnTo>
                  <a:lnTo>
                    <a:pt x="0" y="2234946"/>
                  </a:lnTo>
                  <a:lnTo>
                    <a:pt x="0" y="0"/>
                  </a:lnTo>
                  <a:close/>
                </a:path>
              </a:pathLst>
            </a:custGeom>
            <a:blipFill>
              <a:blip r:embed="rId4"/>
              <a:stretch>
                <a:fillRect l="0" t="0" r="0" b="2"/>
              </a:stretch>
            </a:blipFill>
          </p:spPr>
        </p:sp>
      </p:gr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161" y="-28575"/>
            <a:ext cx="15581212" cy="10325100"/>
          </a:xfrm>
          <a:custGeom>
            <a:avLst/>
            <a:gdLst/>
            <a:ahLst/>
            <a:cxnLst/>
            <a:rect r="r" b="b" t="t" l="l"/>
            <a:pathLst>
              <a:path h="10325100" w="15581212">
                <a:moveTo>
                  <a:pt x="0" y="0"/>
                </a:moveTo>
                <a:lnTo>
                  <a:pt x="15581212" y="0"/>
                </a:lnTo>
                <a:lnTo>
                  <a:pt x="15581212" y="10325100"/>
                </a:lnTo>
                <a:lnTo>
                  <a:pt x="0" y="10325100"/>
                </a:lnTo>
                <a:lnTo>
                  <a:pt x="0" y="0"/>
                </a:lnTo>
                <a:close/>
              </a:path>
            </a:pathLst>
          </a:custGeom>
          <a:blipFill>
            <a:blip r:embed="rId2">
              <a:extLst>
                <a:ext uri="{96DAC541-7B7A-43D3-8B79-37D633B846F1}">
                  <asvg:svgBlip xmlns:asvg="http://schemas.microsoft.com/office/drawing/2016/SVG/main" r:embed="rId3"/>
                </a:ext>
              </a:extLst>
            </a:blip>
            <a:stretch>
              <a:fillRect l="-5" t="0" r="-5" b="0"/>
            </a:stretch>
          </a:blipFill>
        </p:spPr>
      </p:sp>
      <p:sp>
        <p:nvSpPr>
          <p:cNvPr name="TextBox 3" id="3"/>
          <p:cNvSpPr txBox="true"/>
          <p:nvPr/>
        </p:nvSpPr>
        <p:spPr>
          <a:xfrm rot="0">
            <a:off x="355935" y="499022"/>
            <a:ext cx="10960919" cy="1894284"/>
          </a:xfrm>
          <a:prstGeom prst="rect">
            <a:avLst/>
          </a:prstGeom>
        </p:spPr>
        <p:txBody>
          <a:bodyPr anchor="t" rtlCol="false" tIns="0" lIns="0" bIns="0" rIns="0">
            <a:spAutoFit/>
          </a:bodyPr>
          <a:lstStyle/>
          <a:p>
            <a:pPr algn="l">
              <a:lnSpc>
                <a:spcPts val="14400"/>
              </a:lnSpc>
            </a:pPr>
            <a:r>
              <a:rPr lang="en-US" sz="12000">
                <a:solidFill>
                  <a:srgbClr val="FFFFFF"/>
                </a:solidFill>
                <a:latin typeface="Arimo"/>
                <a:ea typeface="Arimo"/>
                <a:cs typeface="Arimo"/>
                <a:sym typeface="Arimo"/>
              </a:rPr>
              <a:t>Thank You All</a:t>
            </a:r>
          </a:p>
        </p:txBody>
      </p:sp>
      <p:grpSp>
        <p:nvGrpSpPr>
          <p:cNvPr name="Group 4" id="4"/>
          <p:cNvGrpSpPr/>
          <p:nvPr/>
        </p:nvGrpSpPr>
        <p:grpSpPr>
          <a:xfrm rot="10767420">
            <a:off x="399036" y="3225600"/>
            <a:ext cx="4039397" cy="19050"/>
            <a:chOff x="0" y="0"/>
            <a:chExt cx="5385863" cy="25400"/>
          </a:xfrm>
        </p:grpSpPr>
        <p:sp>
          <p:nvSpPr>
            <p:cNvPr name="Freeform 5" id="5"/>
            <p:cNvSpPr/>
            <p:nvPr/>
          </p:nvSpPr>
          <p:spPr>
            <a:xfrm flipH="false" flipV="false" rot="0">
              <a:off x="0" y="0"/>
              <a:ext cx="5385816" cy="25400"/>
            </a:xfrm>
            <a:custGeom>
              <a:avLst/>
              <a:gdLst/>
              <a:ahLst/>
              <a:cxnLst/>
              <a:rect r="r" b="b" t="t" l="l"/>
              <a:pathLst>
                <a:path h="25400" w="5385816">
                  <a:moveTo>
                    <a:pt x="12700" y="0"/>
                  </a:moveTo>
                  <a:lnTo>
                    <a:pt x="5373116" y="0"/>
                  </a:lnTo>
                  <a:cubicBezTo>
                    <a:pt x="5380101" y="0"/>
                    <a:pt x="5385816" y="5715"/>
                    <a:pt x="5385816" y="12700"/>
                  </a:cubicBezTo>
                  <a:cubicBezTo>
                    <a:pt x="5385816" y="19685"/>
                    <a:pt x="5380101" y="25400"/>
                    <a:pt x="5373116" y="25400"/>
                  </a:cubicBezTo>
                  <a:lnTo>
                    <a:pt x="12700" y="25400"/>
                  </a:lnTo>
                  <a:cubicBezTo>
                    <a:pt x="5715" y="25400"/>
                    <a:pt x="0" y="19685"/>
                    <a:pt x="0" y="12700"/>
                  </a:cubicBezTo>
                  <a:cubicBezTo>
                    <a:pt x="0" y="5715"/>
                    <a:pt x="5715" y="0"/>
                    <a:pt x="12700" y="0"/>
                  </a:cubicBezTo>
                  <a:close/>
                </a:path>
              </a:pathLst>
            </a:custGeom>
            <a:solidFill>
              <a:srgbClr val="FFFFFF"/>
            </a:solidFill>
          </p:spPr>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DAG4d9owwYU</dc:identifier>
  <dcterms:modified xsi:type="dcterms:W3CDTF">2011-08-01T06:04:30Z</dcterms:modified>
  <cp:revision>1</cp:revision>
  <dc:title>Slide_report.pptx</dc:title>
</cp:coreProperties>
</file>