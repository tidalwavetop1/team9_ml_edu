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17"/>
    <p:sldId id="272" r:id="rId18"/>
    <p:sldId id="274" r:id="rId19"/>
    <p:sldId id="275" r:id="rId20"/>
  </p:sldIdLst>
  <p:sldSz cx="18288000" cy="10287000"/>
  <p:notesSz cx="6858000" cy="9144000"/>
  <p:embeddedFontLst>
    <p:embeddedFont>
      <p:font typeface="Arial Bold" panose="020B0704020202020204" pitchFamily="34" charset="0"/>
      <p:regular r:id="rId21"/>
      <p:bold r:id="rId22"/>
    </p:embeddedFont>
    <p:embeddedFont>
      <p:font typeface="Arimo" panose="020B0604020202020204" charset="0"/>
      <p:regular r:id="rId23"/>
    </p:embeddedFont>
    <p:embeddedFont>
      <p:font typeface="Arimo Bold" panose="020B0604020202020204" charset="0"/>
      <p:regular r:id="rId24"/>
    </p:embeddedFont>
    <p:embeddedFont>
      <p:font typeface="Canva Sans" panose="020B0604020202020204" charset="0"/>
      <p:regular r:id="rId25"/>
    </p:embeddedFont>
    <p:embeddedFont>
      <p:font typeface="Canva San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r>
              <a:rPr lang="en-US" sz="2800" b="1" dirty="0" err="1"/>
              <a:t>Số</a:t>
            </a:r>
            <a:r>
              <a:rPr lang="en-US" sz="2800" b="1" baseline="0" dirty="0"/>
              <a:t> </a:t>
            </a:r>
            <a:r>
              <a:rPr lang="en-US" sz="2800" b="1" baseline="0" dirty="0" err="1"/>
              <a:t>mẫu</a:t>
            </a:r>
            <a:r>
              <a:rPr lang="en-US" sz="2800" b="1" baseline="0" dirty="0"/>
              <a:t> </a:t>
            </a:r>
            <a:r>
              <a:rPr lang="en-US" sz="2800" b="1" baseline="0" dirty="0" err="1"/>
              <a:t>có</a:t>
            </a:r>
            <a:r>
              <a:rPr lang="en-US" sz="2800" b="1" baseline="0" dirty="0"/>
              <a:t> </a:t>
            </a:r>
            <a:r>
              <a:rPr lang="en-US" sz="2800" b="1" baseline="0" dirty="0" err="1"/>
              <a:t>trong</a:t>
            </a:r>
            <a:r>
              <a:rPr lang="en-US" sz="2800" b="1" baseline="0" dirty="0"/>
              <a:t> </a:t>
            </a:r>
            <a:r>
              <a:rPr lang="en-US" sz="2800" b="1" baseline="0" dirty="0" err="1"/>
              <a:t>bộ</a:t>
            </a:r>
            <a:endParaRPr lang="en-US" sz="2800" b="1" dirty="0"/>
          </a:p>
        </c:rich>
      </c:tx>
      <c:overlay val="0"/>
      <c:spPr>
        <a:noFill/>
        <a:ln>
          <a:noFill/>
        </a:ln>
        <a:effectLst/>
      </c:spPr>
      <c:txPr>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Training Set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14396</c:v>
                </c:pt>
              </c:numCache>
            </c:numRef>
          </c:val>
          <c:extLst>
            <c:ext xmlns:c16="http://schemas.microsoft.com/office/drawing/2014/chart" uri="{C3380CC4-5D6E-409C-BE32-E72D297353CC}">
              <c16:uniqueId val="{00000000-50F9-4A2E-8566-F92A2B6872F2}"/>
            </c:ext>
          </c:extLst>
        </c:ser>
        <c:ser>
          <c:idx val="1"/>
          <c:order val="1"/>
          <c:tx>
            <c:strRef>
              <c:f>Sheet1!$C$1</c:f>
              <c:strCache>
                <c:ptCount val="1"/>
                <c:pt idx="0">
                  <c:v>Testing Set</c:v>
                </c:pt>
              </c:strCache>
            </c:strRef>
          </c:tx>
          <c:spPr>
            <a:solidFill>
              <a:schemeClr val="accent2"/>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50F9-4A2E-8566-F92A2B6872F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14397</c:v>
                </c:pt>
              </c:numCache>
            </c:numRef>
          </c:val>
          <c:extLst>
            <c:ext xmlns:c16="http://schemas.microsoft.com/office/drawing/2014/chart" uri="{C3380CC4-5D6E-409C-BE32-E72D297353CC}">
              <c16:uniqueId val="{00000001-50F9-4A2E-8566-F92A2B6872F2}"/>
            </c:ext>
          </c:extLst>
        </c:ser>
        <c:dLbls>
          <c:showLegendKey val="0"/>
          <c:showVal val="0"/>
          <c:showCatName val="0"/>
          <c:showSerName val="0"/>
          <c:showPercent val="0"/>
          <c:showBubbleSize val="0"/>
        </c:dLbls>
        <c:gapWidth val="219"/>
        <c:overlap val="-27"/>
        <c:axId val="798595792"/>
        <c:axId val="798585232"/>
      </c:barChart>
      <c:catAx>
        <c:axId val="798595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8585232"/>
        <c:crosses val="autoZero"/>
        <c:auto val="1"/>
        <c:lblAlgn val="ctr"/>
        <c:lblOffset val="100"/>
        <c:noMultiLvlLbl val="0"/>
      </c:catAx>
      <c:valAx>
        <c:axId val="798585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98595792"/>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yellow sign with red text and arrows&#10;&#10;AI-generated content may be incorrect.">
            <a:extLst>
              <a:ext uri="{FF2B5EF4-FFF2-40B4-BE49-F238E27FC236}">
                <a16:creationId xmlns:a16="http://schemas.microsoft.com/office/drawing/2014/main" id="{B450A5F2-9995-553A-3F8E-FC4722383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 y="0"/>
            <a:ext cx="18279048" cy="10287000"/>
          </a:xfrm>
          <a:prstGeom prst="rect">
            <a:avLst/>
          </a:prstGeom>
        </p:spPr>
      </p:pic>
      <p:grpSp>
        <p:nvGrpSpPr>
          <p:cNvPr id="2" name="Group 2"/>
          <p:cNvGrpSpPr/>
          <p:nvPr/>
        </p:nvGrpSpPr>
        <p:grpSpPr>
          <a:xfrm>
            <a:off x="-32862" y="10804"/>
            <a:ext cx="18320861" cy="10276196"/>
            <a:chOff x="-85216" y="14405"/>
            <a:chExt cx="22039580" cy="13716000"/>
          </a:xfrm>
        </p:grpSpPr>
        <p:sp>
          <p:nvSpPr>
            <p:cNvPr id="3" name="Freeform 3"/>
            <p:cNvSpPr/>
            <p:nvPr/>
          </p:nvSpPr>
          <p:spPr>
            <a:xfrm>
              <a:off x="-85216" y="14405"/>
              <a:ext cx="22039580" cy="13716000"/>
            </a:xfrm>
            <a:custGeom>
              <a:avLst/>
              <a:gdLst/>
              <a:ahLst/>
              <a:cxnLst/>
              <a:rect l="l" t="t" r="r" b="b"/>
              <a:pathLst>
                <a:path w="22039580" h="13716000">
                  <a:moveTo>
                    <a:pt x="0" y="13716000"/>
                  </a:moveTo>
                  <a:lnTo>
                    <a:pt x="0" y="0"/>
                  </a:lnTo>
                  <a:lnTo>
                    <a:pt x="22039580" y="0"/>
                  </a:lnTo>
                  <a:cubicBezTo>
                    <a:pt x="20668235" y="1586230"/>
                    <a:pt x="19000978" y="2907030"/>
                    <a:pt x="17126586" y="3893820"/>
                  </a:cubicBezTo>
                  <a:cubicBezTo>
                    <a:pt x="15291943" y="4860290"/>
                    <a:pt x="13295122" y="5488305"/>
                    <a:pt x="11297286" y="6088380"/>
                  </a:cubicBezTo>
                  <a:cubicBezTo>
                    <a:pt x="9297416" y="6688455"/>
                    <a:pt x="7237350" y="7310755"/>
                    <a:pt x="5399659" y="8211185"/>
                  </a:cubicBezTo>
                  <a:cubicBezTo>
                    <a:pt x="3561969" y="9111615"/>
                    <a:pt x="1945767" y="10289540"/>
                    <a:pt x="835660" y="12002770"/>
                  </a:cubicBezTo>
                  <a:cubicBezTo>
                    <a:pt x="487680" y="12539980"/>
                    <a:pt x="207137" y="13114655"/>
                    <a:pt x="0" y="13716000"/>
                  </a:cubicBezTo>
                  <a:close/>
                </a:path>
              </a:pathLst>
            </a:custGeom>
            <a:solidFill>
              <a:srgbClr val="FFFFFF"/>
            </a:solidFill>
          </p:spPr>
          <p:txBody>
            <a:bodyPr/>
            <a:lstStyle/>
            <a:p>
              <a:endParaRPr lang="en-US" dirty="0"/>
            </a:p>
          </p:txBody>
        </p:sp>
      </p:grpSp>
      <p:grpSp>
        <p:nvGrpSpPr>
          <p:cNvPr id="4" name="Group 4"/>
          <p:cNvGrpSpPr/>
          <p:nvPr/>
        </p:nvGrpSpPr>
        <p:grpSpPr>
          <a:xfrm>
            <a:off x="-32860" y="0"/>
            <a:ext cx="18289809" cy="9563099"/>
            <a:chOff x="0" y="-1"/>
            <a:chExt cx="24386412" cy="13716000"/>
          </a:xfrm>
        </p:grpSpPr>
        <p:sp>
          <p:nvSpPr>
            <p:cNvPr id="5" name="Freeform 5"/>
            <p:cNvSpPr/>
            <p:nvPr/>
          </p:nvSpPr>
          <p:spPr>
            <a:xfrm>
              <a:off x="0" y="-1"/>
              <a:ext cx="24386412" cy="13716000"/>
            </a:xfrm>
            <a:custGeom>
              <a:avLst/>
              <a:gdLst/>
              <a:ahLst/>
              <a:cxnLst/>
              <a:rect l="l" t="t" r="r" b="b"/>
              <a:pathLst>
                <a:path w="24386412" h="13716000">
                  <a:moveTo>
                    <a:pt x="0" y="13716000"/>
                  </a:moveTo>
                  <a:lnTo>
                    <a:pt x="0" y="0"/>
                  </a:lnTo>
                  <a:lnTo>
                    <a:pt x="24386412" y="0"/>
                  </a:lnTo>
                  <a:cubicBezTo>
                    <a:pt x="22869017" y="1586230"/>
                    <a:pt x="21024214" y="2907030"/>
                    <a:pt x="18950304" y="3893820"/>
                  </a:cubicBezTo>
                  <a:cubicBezTo>
                    <a:pt x="16920336" y="4860290"/>
                    <a:pt x="14710918" y="5488305"/>
                    <a:pt x="12500356" y="6088380"/>
                  </a:cubicBezTo>
                  <a:cubicBezTo>
                    <a:pt x="10287507" y="6688455"/>
                    <a:pt x="8008111" y="7310755"/>
                    <a:pt x="5974714" y="8211185"/>
                  </a:cubicBezTo>
                  <a:cubicBezTo>
                    <a:pt x="3941317" y="9111615"/>
                    <a:pt x="2153031" y="10289540"/>
                    <a:pt x="924687" y="12002770"/>
                  </a:cubicBezTo>
                  <a:cubicBezTo>
                    <a:pt x="539623" y="12539980"/>
                    <a:pt x="229235" y="13114655"/>
                    <a:pt x="0" y="13716000"/>
                  </a:cubicBezTo>
                  <a:close/>
                </a:path>
              </a:pathLst>
            </a:custGeom>
            <a:solidFill>
              <a:srgbClr val="2866AB"/>
            </a:solidFill>
          </p:spPr>
          <p:txBody>
            <a:bodyPr/>
            <a:lstStyle/>
            <a:p>
              <a:endParaRPr lang="en-US" dirty="0"/>
            </a:p>
          </p:txBody>
        </p:sp>
      </p:grpSp>
      <p:sp>
        <p:nvSpPr>
          <p:cNvPr id="6" name="TextBox 6"/>
          <p:cNvSpPr txBox="1"/>
          <p:nvPr/>
        </p:nvSpPr>
        <p:spPr>
          <a:xfrm>
            <a:off x="317660" y="363853"/>
            <a:ext cx="15171709" cy="1857375"/>
          </a:xfrm>
          <a:prstGeom prst="rect">
            <a:avLst/>
          </a:prstGeom>
        </p:spPr>
        <p:txBody>
          <a:bodyPr lIns="0" tIns="0" rIns="0" bIns="0" rtlCol="0" anchor="t">
            <a:spAutoFit/>
          </a:bodyPr>
          <a:lstStyle/>
          <a:p>
            <a:pPr algn="l">
              <a:lnSpc>
                <a:spcPts val="7200"/>
              </a:lnSpc>
            </a:pPr>
            <a:r>
              <a:rPr lang="en-US" sz="6000" dirty="0" err="1">
                <a:solidFill>
                  <a:srgbClr val="FFFFFF"/>
                </a:solidFill>
                <a:latin typeface="Arimo"/>
                <a:ea typeface="Arimo"/>
                <a:cs typeface="Arimo"/>
                <a:sym typeface="Arimo"/>
              </a:rPr>
              <a:t>Dự</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đoán</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thể</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loại</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nhạc</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bằng</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các</a:t>
            </a:r>
            <a:r>
              <a:rPr lang="en-US" sz="6000" dirty="0">
                <a:solidFill>
                  <a:srgbClr val="FFFFFF"/>
                </a:solidFill>
                <a:latin typeface="Arimo"/>
                <a:ea typeface="Arimo"/>
                <a:cs typeface="Arimo"/>
                <a:sym typeface="Arimo"/>
              </a:rPr>
              <a:t> </a:t>
            </a:r>
          </a:p>
          <a:p>
            <a:pPr algn="l">
              <a:lnSpc>
                <a:spcPts val="7200"/>
              </a:lnSpc>
            </a:pPr>
            <a:r>
              <a:rPr lang="en-US" sz="6000" dirty="0" err="1">
                <a:solidFill>
                  <a:srgbClr val="FFFFFF"/>
                </a:solidFill>
                <a:latin typeface="Arimo"/>
                <a:ea typeface="Arimo"/>
                <a:cs typeface="Arimo"/>
                <a:sym typeface="Arimo"/>
              </a:rPr>
              <a:t>mô</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hình</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máy</a:t>
            </a:r>
            <a:r>
              <a:rPr lang="en-US" sz="6000" dirty="0">
                <a:solidFill>
                  <a:srgbClr val="FFFFFF"/>
                </a:solidFill>
                <a:latin typeface="Arimo"/>
                <a:ea typeface="Arimo"/>
                <a:cs typeface="Arimo"/>
                <a:sym typeface="Arimo"/>
              </a:rPr>
              <a:t> </a:t>
            </a:r>
            <a:r>
              <a:rPr lang="en-US" sz="6000" dirty="0" err="1">
                <a:solidFill>
                  <a:srgbClr val="FFFFFF"/>
                </a:solidFill>
                <a:latin typeface="Arimo"/>
                <a:ea typeface="Arimo"/>
                <a:cs typeface="Arimo"/>
                <a:sym typeface="Arimo"/>
              </a:rPr>
              <a:t>học</a:t>
            </a:r>
            <a:r>
              <a:rPr lang="en-US" sz="6000" dirty="0">
                <a:solidFill>
                  <a:srgbClr val="FFFFFF"/>
                </a:solidFill>
                <a:latin typeface="Arimo"/>
                <a:ea typeface="Arimo"/>
                <a:cs typeface="Arimo"/>
                <a:sym typeface="Arimo"/>
              </a:rPr>
              <a:t> </a:t>
            </a:r>
          </a:p>
        </p:txBody>
      </p:sp>
      <p:sp>
        <p:nvSpPr>
          <p:cNvPr id="7" name="TextBox 7"/>
          <p:cNvSpPr txBox="1"/>
          <p:nvPr/>
        </p:nvSpPr>
        <p:spPr>
          <a:xfrm>
            <a:off x="317660" y="2400300"/>
            <a:ext cx="12636340" cy="410369"/>
          </a:xfrm>
          <a:prstGeom prst="rect">
            <a:avLst/>
          </a:prstGeom>
        </p:spPr>
        <p:txBody>
          <a:bodyPr wrap="square" lIns="0" tIns="0" rIns="0" bIns="0" rtlCol="0" anchor="t">
            <a:spAutoFit/>
          </a:bodyPr>
          <a:lstStyle/>
          <a:p>
            <a:pPr algn="l">
              <a:lnSpc>
                <a:spcPts val="3240"/>
              </a:lnSpc>
            </a:pPr>
            <a:r>
              <a:rPr lang="en-US" sz="2799" dirty="0" err="1">
                <a:solidFill>
                  <a:srgbClr val="FFFFFF"/>
                </a:solidFill>
                <a:latin typeface="Arial"/>
                <a:ea typeface="Arial"/>
                <a:cs typeface="Arial"/>
                <a:sym typeface="Arial"/>
              </a:rPr>
              <a:t>Đỗ</a:t>
            </a:r>
            <a:r>
              <a:rPr lang="en-US" sz="2799" dirty="0">
                <a:solidFill>
                  <a:srgbClr val="FFFFFF"/>
                </a:solidFill>
                <a:latin typeface="Arial"/>
                <a:ea typeface="Arial"/>
                <a:cs typeface="Arial"/>
                <a:sym typeface="Arial"/>
              </a:rPr>
              <a:t> Nguyễn Thanh Phong, Dương Chí Khang, Trịnh Minh </a:t>
            </a:r>
            <a:r>
              <a:rPr lang="en-US" sz="2799" dirty="0" err="1">
                <a:solidFill>
                  <a:srgbClr val="FFFFFF"/>
                </a:solidFill>
                <a:latin typeface="Arial"/>
                <a:ea typeface="Arial"/>
                <a:cs typeface="Arial"/>
                <a:sym typeface="Arial"/>
              </a:rPr>
              <a:t>Toàn</a:t>
            </a:r>
            <a:r>
              <a:rPr lang="en-US" sz="2799" dirty="0">
                <a:solidFill>
                  <a:srgbClr val="FFFFFF"/>
                </a:solidFill>
                <a:latin typeface="Arial"/>
                <a:ea typeface="Arial"/>
                <a:cs typeface="Arial"/>
                <a:sym typeface="Arial"/>
              </a:rPr>
              <a:t>, Cao Thanh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67236" y="509587"/>
            <a:ext cx="9605010" cy="1510474"/>
            <a:chOff x="0" y="0"/>
            <a:chExt cx="12806680" cy="2013965"/>
          </a:xfrm>
        </p:grpSpPr>
        <p:sp>
          <p:nvSpPr>
            <p:cNvPr id="3" name="Freeform 3"/>
            <p:cNvSpPr/>
            <p:nvPr/>
          </p:nvSpPr>
          <p:spPr>
            <a:xfrm>
              <a:off x="0" y="0"/>
              <a:ext cx="12806680" cy="2013966"/>
            </a:xfrm>
            <a:custGeom>
              <a:avLst/>
              <a:gdLst/>
              <a:ahLst/>
              <a:cxnLst/>
              <a:rect l="l" t="t" r="r" b="b"/>
              <a:pathLst>
                <a:path w="12806680" h="2013966">
                  <a:moveTo>
                    <a:pt x="0" y="0"/>
                  </a:moveTo>
                  <a:lnTo>
                    <a:pt x="12806680" y="0"/>
                  </a:lnTo>
                  <a:lnTo>
                    <a:pt x="12806680" y="2013966"/>
                  </a:lnTo>
                  <a:lnTo>
                    <a:pt x="0" y="2013966"/>
                  </a:lnTo>
                  <a:close/>
                </a:path>
              </a:pathLst>
            </a:custGeom>
            <a:solidFill>
              <a:srgbClr val="2865AB"/>
            </a:solidFill>
          </p:spPr>
          <p:txBody>
            <a:bodyPr/>
            <a:lstStyle/>
            <a:p>
              <a:endParaRPr lang="en-US"/>
            </a:p>
          </p:txBody>
        </p:sp>
      </p:grpSp>
      <p:sp>
        <p:nvSpPr>
          <p:cNvPr id="4" name="TextBox 4"/>
          <p:cNvSpPr txBox="1"/>
          <p:nvPr/>
        </p:nvSpPr>
        <p:spPr>
          <a:xfrm>
            <a:off x="4783980" y="684816"/>
            <a:ext cx="8971521" cy="1131441"/>
          </a:xfrm>
          <a:prstGeom prst="rect">
            <a:avLst/>
          </a:prstGeom>
        </p:spPr>
        <p:txBody>
          <a:bodyPr lIns="0" tIns="0" rIns="0" bIns="0" rtlCol="0" anchor="t">
            <a:spAutoFit/>
          </a:bodyPr>
          <a:lstStyle/>
          <a:p>
            <a:pPr algn="ctr">
              <a:lnSpc>
                <a:spcPts val="8640"/>
              </a:lnSpc>
            </a:pPr>
            <a:r>
              <a:rPr lang="en-US" sz="7200" b="1">
                <a:solidFill>
                  <a:srgbClr val="FFFFFF"/>
                </a:solidFill>
                <a:latin typeface="Arimo Bold"/>
                <a:ea typeface="Arimo Bold"/>
                <a:cs typeface="Arimo Bold"/>
                <a:sym typeface="Arimo Bold"/>
              </a:rPr>
              <a:t>Agenda</a:t>
            </a:r>
          </a:p>
        </p:txBody>
      </p:sp>
      <p:sp>
        <p:nvSpPr>
          <p:cNvPr id="5" name="TextBox 5"/>
          <p:cNvSpPr txBox="1"/>
          <p:nvPr/>
        </p:nvSpPr>
        <p:spPr>
          <a:xfrm>
            <a:off x="1348740" y="2307908"/>
            <a:ext cx="15590520" cy="7084838"/>
          </a:xfrm>
          <a:prstGeom prst="rect">
            <a:avLst/>
          </a:prstGeom>
        </p:spPr>
        <p:txBody>
          <a:bodyPr lIns="0" tIns="0" rIns="0" bIns="0" rtlCol="0" anchor="t">
            <a:spAutoFit/>
          </a:bodyPr>
          <a:lstStyle/>
          <a:p>
            <a:pPr algn="l">
              <a:lnSpc>
                <a:spcPts val="10560"/>
              </a:lnSpc>
            </a:pPr>
            <a:r>
              <a:rPr lang="en-US" sz="4400">
                <a:solidFill>
                  <a:srgbClr val="000000"/>
                </a:solidFill>
                <a:latin typeface="Arial"/>
                <a:ea typeface="Arial"/>
                <a:cs typeface="Arial"/>
                <a:sym typeface="Arial"/>
              </a:rPr>
              <a:t>1. Introduction</a:t>
            </a:r>
          </a:p>
          <a:p>
            <a:pPr algn="l">
              <a:lnSpc>
                <a:spcPts val="10560"/>
              </a:lnSpc>
            </a:pPr>
            <a:r>
              <a:rPr lang="en-US" sz="4400">
                <a:solidFill>
                  <a:srgbClr val="000000"/>
                </a:solidFill>
                <a:latin typeface="Arial"/>
                <a:ea typeface="Arial"/>
                <a:cs typeface="Arial"/>
                <a:sym typeface="Arial"/>
              </a:rPr>
              <a:t>2. Related works</a:t>
            </a:r>
          </a:p>
          <a:p>
            <a:pPr algn="l">
              <a:lnSpc>
                <a:spcPts val="10560"/>
              </a:lnSpc>
            </a:pPr>
            <a:r>
              <a:rPr lang="en-US" sz="4400">
                <a:solidFill>
                  <a:srgbClr val="000000"/>
                </a:solidFill>
                <a:latin typeface="Arial"/>
                <a:ea typeface="Arial"/>
                <a:cs typeface="Arial"/>
                <a:sym typeface="Arial"/>
              </a:rPr>
              <a:t>3. Proposed method</a:t>
            </a:r>
          </a:p>
          <a:p>
            <a:pPr algn="l">
              <a:lnSpc>
                <a:spcPts val="10560"/>
              </a:lnSpc>
            </a:pPr>
            <a:r>
              <a:rPr lang="en-US" sz="4400">
                <a:solidFill>
                  <a:srgbClr val="000000"/>
                </a:solidFill>
                <a:latin typeface="Arial"/>
                <a:ea typeface="Arial"/>
                <a:cs typeface="Arial"/>
                <a:sym typeface="Arial"/>
              </a:rPr>
              <a:t>4. Experiment and Results</a:t>
            </a:r>
          </a:p>
          <a:p>
            <a:pPr algn="l">
              <a:lnSpc>
                <a:spcPts val="10560"/>
              </a:lnSpc>
            </a:pPr>
            <a:r>
              <a:rPr lang="en-US" sz="4400">
                <a:solidFill>
                  <a:srgbClr val="000000"/>
                </a:solidFill>
                <a:latin typeface="Arial"/>
                <a:ea typeface="Arial"/>
                <a:cs typeface="Arial"/>
                <a:sym typeface="Arial"/>
              </a:rPr>
              <a:t>5.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586" y="0"/>
            <a:ext cx="10047801" cy="2717511"/>
          </a:xfrm>
          <a:custGeom>
            <a:avLst/>
            <a:gdLst/>
            <a:ahLst/>
            <a:cxnLst/>
            <a:rect l="l" t="t" r="r" b="b"/>
            <a:pathLst>
              <a:path w="10047801" h="2717511">
                <a:moveTo>
                  <a:pt x="0" y="0"/>
                </a:moveTo>
                <a:lnTo>
                  <a:pt x="10047801" y="0"/>
                </a:lnTo>
                <a:lnTo>
                  <a:pt x="10047801"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t="-116" b="-116"/>
            </a:stretch>
          </a:blipFill>
        </p:spPr>
        <p:txBody>
          <a:bodyPr/>
          <a:lstStyle/>
          <a:p>
            <a:endParaRPr lang="en-US"/>
          </a:p>
        </p:txBody>
      </p:sp>
      <p:sp>
        <p:nvSpPr>
          <p:cNvPr id="3" name="TextBox 3"/>
          <p:cNvSpPr txBox="1"/>
          <p:nvPr/>
        </p:nvSpPr>
        <p:spPr>
          <a:xfrm>
            <a:off x="248224" y="-210285"/>
            <a:ext cx="5238176" cy="1305103"/>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1. Introduction</a:t>
            </a:r>
          </a:p>
        </p:txBody>
      </p:sp>
      <p:sp>
        <p:nvSpPr>
          <p:cNvPr id="4" name="TextBox 4"/>
          <p:cNvSpPr txBox="1"/>
          <p:nvPr/>
        </p:nvSpPr>
        <p:spPr>
          <a:xfrm>
            <a:off x="1220079" y="2548274"/>
            <a:ext cx="3751290" cy="1231106"/>
          </a:xfrm>
          <a:prstGeom prst="rect">
            <a:avLst/>
          </a:prstGeom>
        </p:spPr>
        <p:txBody>
          <a:bodyPr lIns="0" tIns="0" rIns="0" bIns="0" rtlCol="0" anchor="t">
            <a:spAutoFit/>
          </a:bodyPr>
          <a:lstStyle/>
          <a:p>
            <a:pPr>
              <a:lnSpc>
                <a:spcPts val="3240"/>
              </a:lnSpc>
            </a:pPr>
            <a:r>
              <a:rPr lang="en-US" sz="2700" dirty="0">
                <a:solidFill>
                  <a:srgbClr val="000000"/>
                </a:solidFill>
                <a:latin typeface="Arial"/>
                <a:ea typeface="Arial"/>
                <a:cs typeface="Arial"/>
                <a:sym typeface="Arial"/>
              </a:rPr>
              <a:t>Input: </a:t>
            </a:r>
            <a:r>
              <a:rPr lang="en-US" sz="2700" dirty="0" err="1">
                <a:solidFill>
                  <a:srgbClr val="000000"/>
                </a:solidFill>
                <a:latin typeface="Arial"/>
                <a:ea typeface="Arial"/>
                <a:cs typeface="Arial"/>
                <a:sym typeface="Arial"/>
              </a:rPr>
              <a:t>Bộ</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đặc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trưng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mô</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tả</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các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thuộc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tính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của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bài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hát</a:t>
            </a:r>
            <a:endParaRPr lang="en-US" sz="2700" dirty="0">
              <a:solidFill>
                <a:srgbClr val="000000"/>
              </a:solidFill>
              <a:latin typeface="Arial"/>
              <a:ea typeface="Arial"/>
              <a:cs typeface="Arial"/>
              <a:sym typeface="Arial"/>
            </a:endParaRPr>
          </a:p>
        </p:txBody>
      </p:sp>
      <p:sp>
        <p:nvSpPr>
          <p:cNvPr id="5" name="TextBox 5"/>
          <p:cNvSpPr txBox="1"/>
          <p:nvPr/>
        </p:nvSpPr>
        <p:spPr>
          <a:xfrm>
            <a:off x="12597481" y="2773709"/>
            <a:ext cx="3954979" cy="820738"/>
          </a:xfrm>
          <a:prstGeom prst="rect">
            <a:avLst/>
          </a:prstGeom>
        </p:spPr>
        <p:txBody>
          <a:bodyPr wrap="square" lIns="0" tIns="0" rIns="0" bIns="0" rtlCol="0" anchor="t">
            <a:spAutoFit/>
          </a:bodyPr>
          <a:lstStyle/>
          <a:p>
            <a:pPr>
              <a:lnSpc>
                <a:spcPts val="3240"/>
              </a:lnSpc>
            </a:pPr>
            <a:r>
              <a:rPr lang="en-US" sz="2700" dirty="0">
                <a:solidFill>
                  <a:srgbClr val="000000"/>
                </a:solidFill>
                <a:latin typeface="Arial"/>
                <a:ea typeface="Arial"/>
                <a:cs typeface="Arial"/>
                <a:sym typeface="Arial"/>
              </a:rPr>
              <a:t>Output: </a:t>
            </a:r>
            <a:r>
              <a:rPr lang="en-US" sz="2700" dirty="0" err="1">
                <a:solidFill>
                  <a:srgbClr val="000000"/>
                </a:solidFill>
                <a:latin typeface="Arial"/>
                <a:ea typeface="Arial"/>
                <a:cs typeface="Arial"/>
                <a:sym typeface="Arial"/>
              </a:rPr>
              <a:t>thể</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loại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âm</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nhạc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của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bài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hát</a:t>
            </a:r>
            <a:r>
              <a:rPr lang="en-US" sz="2700" dirty="0">
                <a:solidFill>
                  <a:srgbClr val="000000"/>
                </a:solidFill>
                <a:latin typeface="Arial"/>
                <a:ea typeface="Arial"/>
                <a:cs typeface="Arial"/>
                <a:sym typeface="Arial"/>
              </a:rPr>
              <a:t> </a:t>
            </a:r>
          </a:p>
        </p:txBody>
      </p:sp>
      <p:grpSp>
        <p:nvGrpSpPr>
          <p:cNvPr id="6" name="Group 6"/>
          <p:cNvGrpSpPr/>
          <p:nvPr/>
        </p:nvGrpSpPr>
        <p:grpSpPr>
          <a:xfrm>
            <a:off x="1108884" y="3869006"/>
            <a:ext cx="3456242" cy="3456242"/>
            <a:chOff x="0" y="0"/>
            <a:chExt cx="4608323" cy="4608323"/>
          </a:xfrm>
        </p:grpSpPr>
        <p:sp>
          <p:nvSpPr>
            <p:cNvPr id="7" name="Freeform 7" descr="documentos icono vector. reporte ilustración signo. análisis ..."/>
            <p:cNvSpPr/>
            <p:nvPr/>
          </p:nvSpPr>
          <p:spPr>
            <a:xfrm>
              <a:off x="0" y="0"/>
              <a:ext cx="4608322" cy="4608322"/>
            </a:xfrm>
            <a:custGeom>
              <a:avLst/>
              <a:gdLst/>
              <a:ahLst/>
              <a:cxnLst/>
              <a:rect l="l" t="t" r="r" b="b"/>
              <a:pathLst>
                <a:path w="4608322" h="4608322">
                  <a:moveTo>
                    <a:pt x="0" y="0"/>
                  </a:moveTo>
                  <a:lnTo>
                    <a:pt x="4608322" y="0"/>
                  </a:lnTo>
                  <a:lnTo>
                    <a:pt x="4608322" y="4608322"/>
                  </a:lnTo>
                  <a:lnTo>
                    <a:pt x="0" y="4608322"/>
                  </a:lnTo>
                  <a:lnTo>
                    <a:pt x="0" y="0"/>
                  </a:lnTo>
                  <a:close/>
                </a:path>
              </a:pathLst>
            </a:custGeom>
            <a:blipFill>
              <a:blip r:embed="rId4"/>
              <a:stretch>
                <a:fillRect/>
              </a:stretch>
            </a:blipFill>
          </p:spPr>
          <p:txBody>
            <a:bodyPr/>
            <a:lstStyle/>
            <a:p>
              <a:endParaRPr lang="en-US"/>
            </a:p>
          </p:txBody>
        </p:sp>
      </p:grpSp>
      <p:grpSp>
        <p:nvGrpSpPr>
          <p:cNvPr id="8" name="Group 8"/>
          <p:cNvGrpSpPr/>
          <p:nvPr/>
        </p:nvGrpSpPr>
        <p:grpSpPr>
          <a:xfrm>
            <a:off x="4541071" y="5587278"/>
            <a:ext cx="2449272" cy="38100"/>
            <a:chOff x="0" y="0"/>
            <a:chExt cx="3265696" cy="50800"/>
          </a:xfrm>
        </p:grpSpPr>
        <p:sp>
          <p:nvSpPr>
            <p:cNvPr id="9" name="Freeform 9"/>
            <p:cNvSpPr/>
            <p:nvPr/>
          </p:nvSpPr>
          <p:spPr>
            <a:xfrm>
              <a:off x="0" y="0"/>
              <a:ext cx="3265680" cy="50802"/>
            </a:xfrm>
            <a:custGeom>
              <a:avLst/>
              <a:gdLst/>
              <a:ahLst/>
              <a:cxnLst/>
              <a:rect l="l" t="t" r="r" b="b"/>
              <a:pathLst>
                <a:path w="3265680" h="50802">
                  <a:moveTo>
                    <a:pt x="12827" y="0"/>
                  </a:moveTo>
                  <a:lnTo>
                    <a:pt x="3253105" y="25400"/>
                  </a:lnTo>
                  <a:cubicBezTo>
                    <a:pt x="3260090" y="25400"/>
                    <a:pt x="3265805" y="31242"/>
                    <a:pt x="3265678" y="38227"/>
                  </a:cubicBezTo>
                  <a:cubicBezTo>
                    <a:pt x="3265551" y="45212"/>
                    <a:pt x="3259836" y="50927"/>
                    <a:pt x="3252851" y="50800"/>
                  </a:cubicBezTo>
                  <a:lnTo>
                    <a:pt x="12573" y="25400"/>
                  </a:lnTo>
                  <a:cubicBezTo>
                    <a:pt x="5588" y="25400"/>
                    <a:pt x="0" y="19558"/>
                    <a:pt x="0" y="12573"/>
                  </a:cubicBezTo>
                  <a:cubicBezTo>
                    <a:pt x="0" y="5588"/>
                    <a:pt x="5842" y="0"/>
                    <a:pt x="12827" y="0"/>
                  </a:cubicBezTo>
                  <a:close/>
                </a:path>
              </a:pathLst>
            </a:custGeom>
            <a:solidFill>
              <a:srgbClr val="2865AB"/>
            </a:solidFill>
          </p:spPr>
          <p:txBody>
            <a:bodyPr/>
            <a:lstStyle/>
            <a:p>
              <a:endParaRPr lang="en-US"/>
            </a:p>
          </p:txBody>
        </p:sp>
      </p:grpSp>
      <p:grpSp>
        <p:nvGrpSpPr>
          <p:cNvPr id="10" name="Group 10"/>
          <p:cNvGrpSpPr/>
          <p:nvPr/>
        </p:nvGrpSpPr>
        <p:grpSpPr>
          <a:xfrm>
            <a:off x="6966303" y="5232453"/>
            <a:ext cx="3144965" cy="766191"/>
            <a:chOff x="0" y="0"/>
            <a:chExt cx="4193286" cy="1021588"/>
          </a:xfrm>
        </p:grpSpPr>
        <p:sp>
          <p:nvSpPr>
            <p:cNvPr id="11" name="Freeform 11"/>
            <p:cNvSpPr/>
            <p:nvPr/>
          </p:nvSpPr>
          <p:spPr>
            <a:xfrm>
              <a:off x="0" y="0"/>
              <a:ext cx="4193286" cy="1021588"/>
            </a:xfrm>
            <a:custGeom>
              <a:avLst/>
              <a:gdLst/>
              <a:ahLst/>
              <a:cxnLst/>
              <a:rect l="l" t="t" r="r" b="b"/>
              <a:pathLst>
                <a:path w="4193286" h="1021588">
                  <a:moveTo>
                    <a:pt x="0" y="170307"/>
                  </a:moveTo>
                  <a:cubicBezTo>
                    <a:pt x="0" y="76200"/>
                    <a:pt x="77597" y="0"/>
                    <a:pt x="173482" y="0"/>
                  </a:cubicBezTo>
                  <a:lnTo>
                    <a:pt x="4019804" y="0"/>
                  </a:lnTo>
                  <a:cubicBezTo>
                    <a:pt x="4115562" y="0"/>
                    <a:pt x="4193286" y="76200"/>
                    <a:pt x="4193286" y="170307"/>
                  </a:cubicBezTo>
                  <a:lnTo>
                    <a:pt x="4193286" y="851281"/>
                  </a:lnTo>
                  <a:cubicBezTo>
                    <a:pt x="4193286" y="945261"/>
                    <a:pt x="4115689" y="1021588"/>
                    <a:pt x="4019804" y="1021588"/>
                  </a:cubicBezTo>
                  <a:lnTo>
                    <a:pt x="173482" y="1021588"/>
                  </a:lnTo>
                  <a:cubicBezTo>
                    <a:pt x="77597" y="1021588"/>
                    <a:pt x="0" y="945388"/>
                    <a:pt x="0" y="851281"/>
                  </a:cubicBezTo>
                  <a:close/>
                </a:path>
              </a:pathLst>
            </a:custGeom>
            <a:solidFill>
              <a:srgbClr val="2865AB"/>
            </a:solidFill>
          </p:spPr>
          <p:txBody>
            <a:bodyPr/>
            <a:lstStyle/>
            <a:p>
              <a:endParaRPr lang="en-US"/>
            </a:p>
          </p:txBody>
        </p:sp>
      </p:grpSp>
      <p:sp>
        <p:nvSpPr>
          <p:cNvPr id="12" name="Freeform 12"/>
          <p:cNvSpPr/>
          <p:nvPr/>
        </p:nvSpPr>
        <p:spPr>
          <a:xfrm>
            <a:off x="6956778" y="5222928"/>
            <a:ext cx="3164015" cy="785241"/>
          </a:xfrm>
          <a:custGeom>
            <a:avLst/>
            <a:gdLst/>
            <a:ahLst/>
            <a:cxnLst/>
            <a:rect l="l" t="t" r="r" b="b"/>
            <a:pathLst>
              <a:path w="3164015" h="785241">
                <a:moveTo>
                  <a:pt x="0" y="0"/>
                </a:moveTo>
                <a:lnTo>
                  <a:pt x="3164015" y="0"/>
                </a:lnTo>
                <a:lnTo>
                  <a:pt x="3164015" y="785241"/>
                </a:lnTo>
                <a:lnTo>
                  <a:pt x="0" y="78524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6983681" y="5277809"/>
            <a:ext cx="3062431" cy="733623"/>
          </a:xfrm>
          <a:prstGeom prst="rect">
            <a:avLst/>
          </a:prstGeom>
        </p:spPr>
        <p:txBody>
          <a:bodyPr lIns="0" tIns="0" rIns="0" bIns="0" rtlCol="0" anchor="t">
            <a:spAutoFit/>
          </a:bodyPr>
          <a:lstStyle/>
          <a:p>
            <a:pPr algn="ctr">
              <a:lnSpc>
                <a:spcPts val="4320"/>
              </a:lnSpc>
            </a:pPr>
            <a:r>
              <a:rPr lang="en-US" sz="3600">
                <a:solidFill>
                  <a:srgbClr val="FFFFFF"/>
                </a:solidFill>
                <a:latin typeface="Arial"/>
                <a:ea typeface="Arial"/>
                <a:cs typeface="Arial"/>
                <a:sym typeface="Arial"/>
              </a:rPr>
              <a:t>Model</a:t>
            </a:r>
          </a:p>
        </p:txBody>
      </p:sp>
      <p:grpSp>
        <p:nvGrpSpPr>
          <p:cNvPr id="14" name="Group 14"/>
          <p:cNvGrpSpPr/>
          <p:nvPr/>
        </p:nvGrpSpPr>
        <p:grpSpPr>
          <a:xfrm>
            <a:off x="10087387" y="5596487"/>
            <a:ext cx="2448986" cy="38100"/>
            <a:chOff x="0" y="0"/>
            <a:chExt cx="3265315" cy="50800"/>
          </a:xfrm>
        </p:grpSpPr>
        <p:sp>
          <p:nvSpPr>
            <p:cNvPr id="15" name="Freeform 15"/>
            <p:cNvSpPr/>
            <p:nvPr/>
          </p:nvSpPr>
          <p:spPr>
            <a:xfrm>
              <a:off x="0" y="0"/>
              <a:ext cx="3265299" cy="50802"/>
            </a:xfrm>
            <a:custGeom>
              <a:avLst/>
              <a:gdLst/>
              <a:ahLst/>
              <a:cxnLst/>
              <a:rect l="l" t="t" r="r" b="b"/>
              <a:pathLst>
                <a:path w="3265299" h="50802">
                  <a:moveTo>
                    <a:pt x="12827" y="0"/>
                  </a:moveTo>
                  <a:lnTo>
                    <a:pt x="3252724" y="25400"/>
                  </a:lnTo>
                  <a:cubicBezTo>
                    <a:pt x="3259709" y="25400"/>
                    <a:pt x="3265424" y="31242"/>
                    <a:pt x="3265297" y="38227"/>
                  </a:cubicBezTo>
                  <a:cubicBezTo>
                    <a:pt x="3265170" y="45212"/>
                    <a:pt x="3259455" y="50927"/>
                    <a:pt x="3252470" y="50800"/>
                  </a:cubicBezTo>
                  <a:lnTo>
                    <a:pt x="12573" y="25400"/>
                  </a:lnTo>
                  <a:cubicBezTo>
                    <a:pt x="5588" y="25400"/>
                    <a:pt x="0" y="19558"/>
                    <a:pt x="0" y="12573"/>
                  </a:cubicBezTo>
                  <a:cubicBezTo>
                    <a:pt x="0" y="5588"/>
                    <a:pt x="5842" y="0"/>
                    <a:pt x="12827" y="0"/>
                  </a:cubicBezTo>
                  <a:close/>
                </a:path>
              </a:pathLst>
            </a:custGeom>
            <a:solidFill>
              <a:srgbClr val="2865AB"/>
            </a:solidFill>
          </p:spPr>
          <p:txBody>
            <a:bodyPr/>
            <a:lstStyle/>
            <a:p>
              <a:endParaRPr lang="en-US"/>
            </a:p>
          </p:txBody>
        </p:sp>
      </p:grpSp>
      <p:grpSp>
        <p:nvGrpSpPr>
          <p:cNvPr id="16" name="Group 16"/>
          <p:cNvGrpSpPr/>
          <p:nvPr/>
        </p:nvGrpSpPr>
        <p:grpSpPr>
          <a:xfrm>
            <a:off x="12580421" y="5143500"/>
            <a:ext cx="3494003" cy="1143093"/>
            <a:chOff x="0" y="0"/>
            <a:chExt cx="920231" cy="301062"/>
          </a:xfrm>
        </p:grpSpPr>
        <p:sp>
          <p:nvSpPr>
            <p:cNvPr id="17" name="Freeform 17"/>
            <p:cNvSpPr/>
            <p:nvPr/>
          </p:nvSpPr>
          <p:spPr>
            <a:xfrm>
              <a:off x="0" y="0"/>
              <a:ext cx="920231" cy="301062"/>
            </a:xfrm>
            <a:custGeom>
              <a:avLst/>
              <a:gdLst/>
              <a:ahLst/>
              <a:cxnLst/>
              <a:rect l="l" t="t" r="r" b="b"/>
              <a:pathLst>
                <a:path w="920231" h="301062">
                  <a:moveTo>
                    <a:pt x="37668" y="0"/>
                  </a:moveTo>
                  <a:lnTo>
                    <a:pt x="882563" y="0"/>
                  </a:lnTo>
                  <a:cubicBezTo>
                    <a:pt x="903367" y="0"/>
                    <a:pt x="920231" y="16865"/>
                    <a:pt x="920231" y="37668"/>
                  </a:cubicBezTo>
                  <a:lnTo>
                    <a:pt x="920231" y="263393"/>
                  </a:lnTo>
                  <a:cubicBezTo>
                    <a:pt x="920231" y="284197"/>
                    <a:pt x="903367" y="301062"/>
                    <a:pt x="882563" y="301062"/>
                  </a:cubicBezTo>
                  <a:lnTo>
                    <a:pt x="37668" y="301062"/>
                  </a:lnTo>
                  <a:cubicBezTo>
                    <a:pt x="27678" y="301062"/>
                    <a:pt x="18097" y="297093"/>
                    <a:pt x="11033" y="290029"/>
                  </a:cubicBezTo>
                  <a:cubicBezTo>
                    <a:pt x="3969" y="282965"/>
                    <a:pt x="0" y="273384"/>
                    <a:pt x="0" y="263393"/>
                  </a:cubicBezTo>
                  <a:lnTo>
                    <a:pt x="0" y="37668"/>
                  </a:lnTo>
                  <a:cubicBezTo>
                    <a:pt x="0" y="16865"/>
                    <a:pt x="16865" y="0"/>
                    <a:pt x="37668" y="0"/>
                  </a:cubicBezTo>
                  <a:close/>
                </a:path>
              </a:pathLst>
            </a:custGeom>
            <a:solidFill>
              <a:srgbClr val="2865AB"/>
            </a:solidFill>
          </p:spPr>
          <p:txBody>
            <a:bodyPr/>
            <a:lstStyle/>
            <a:p>
              <a:endParaRPr lang="en-US"/>
            </a:p>
          </p:txBody>
        </p:sp>
        <p:sp>
          <p:nvSpPr>
            <p:cNvPr id="18" name="TextBox 18"/>
            <p:cNvSpPr txBox="1"/>
            <p:nvPr/>
          </p:nvSpPr>
          <p:spPr>
            <a:xfrm>
              <a:off x="0" y="-57150"/>
              <a:ext cx="920231" cy="358212"/>
            </a:xfrm>
            <a:prstGeom prst="rect">
              <a:avLst/>
            </a:prstGeom>
          </p:spPr>
          <p:txBody>
            <a:bodyPr lIns="50800" tIns="50800" rIns="50800" bIns="50800" rtlCol="0" anchor="ctr"/>
            <a:lstStyle/>
            <a:p>
              <a:pPr algn="ctr">
                <a:lnSpc>
                  <a:spcPts val="3359"/>
                </a:lnSpc>
              </a:pPr>
              <a:r>
                <a:rPr lang="en-US" sz="2399" dirty="0" err="1">
                  <a:solidFill>
                    <a:srgbClr val="FFFFFF"/>
                  </a:solidFill>
                  <a:latin typeface="Arial"/>
                  <a:ea typeface="Arial"/>
                  <a:cs typeface="Arial"/>
                  <a:sym typeface="Arial"/>
                </a:rPr>
                <a:t>Thể</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loại</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âm</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nhạc</a:t>
              </a:r>
              <a:endParaRPr lang="en-US" sz="2399" dirty="0">
                <a:solidFill>
                  <a:srgbClr val="FFFFFF"/>
                </a:solidFill>
                <a:latin typeface="Arial"/>
                <a:ea typeface="Arial"/>
                <a:cs typeface="Arial"/>
                <a:sym typeface="Arial"/>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5674"/>
            <a:ext cx="10047801" cy="2558158"/>
          </a:xfrm>
          <a:custGeom>
            <a:avLst/>
            <a:gdLst/>
            <a:ahLst/>
            <a:cxnLst/>
            <a:rect l="l" t="t" r="r" b="b"/>
            <a:pathLst>
              <a:path w="10047801" h="2558158">
                <a:moveTo>
                  <a:pt x="0" y="0"/>
                </a:moveTo>
                <a:lnTo>
                  <a:pt x="10047801" y="0"/>
                </a:lnTo>
                <a:lnTo>
                  <a:pt x="10047801" y="2558158"/>
                </a:lnTo>
                <a:lnTo>
                  <a:pt x="0" y="2558158"/>
                </a:lnTo>
                <a:lnTo>
                  <a:pt x="0" y="0"/>
                </a:lnTo>
                <a:close/>
              </a:path>
            </a:pathLst>
          </a:custGeom>
          <a:blipFill>
            <a:blip r:embed="rId2">
              <a:extLst>
                <a:ext uri="{96DAC541-7B7A-43D3-8B79-37D633B846F1}">
                  <asvg:svgBlip xmlns:asvg="http://schemas.microsoft.com/office/drawing/2016/SVG/main" r:embed="rId3"/>
                </a:ext>
              </a:extLst>
            </a:blip>
            <a:stretch>
              <a:fillRect t="-74" b="-74"/>
            </a:stretch>
          </a:blipFill>
        </p:spPr>
        <p:txBody>
          <a:bodyPr/>
          <a:lstStyle/>
          <a:p>
            <a:endParaRPr lang="en-US"/>
          </a:p>
        </p:txBody>
      </p:sp>
      <p:graphicFrame>
        <p:nvGraphicFramePr>
          <p:cNvPr id="4" name="Table 4"/>
          <p:cNvGraphicFramePr>
            <a:graphicFrameLocks noGrp="1"/>
          </p:cNvGraphicFramePr>
          <p:nvPr>
            <p:extLst>
              <p:ext uri="{D42A27DB-BD31-4B8C-83A1-F6EECF244321}">
                <p14:modId xmlns:p14="http://schemas.microsoft.com/office/powerpoint/2010/main" val="420556806"/>
              </p:ext>
            </p:extLst>
          </p:nvPr>
        </p:nvGraphicFramePr>
        <p:xfrm>
          <a:off x="288678" y="2921412"/>
          <a:ext cx="8598316" cy="7067549"/>
        </p:xfrm>
        <a:graphic>
          <a:graphicData uri="http://schemas.openxmlformats.org/drawingml/2006/table">
            <a:tbl>
              <a:tblPr/>
              <a:tblGrid>
                <a:gridCol w="2499244">
                  <a:extLst>
                    <a:ext uri="{9D8B030D-6E8A-4147-A177-3AD203B41FA5}">
                      <a16:colId xmlns:a16="http://schemas.microsoft.com/office/drawing/2014/main" val="20000"/>
                    </a:ext>
                  </a:extLst>
                </a:gridCol>
                <a:gridCol w="6099072">
                  <a:extLst>
                    <a:ext uri="{9D8B030D-6E8A-4147-A177-3AD203B41FA5}">
                      <a16:colId xmlns:a16="http://schemas.microsoft.com/office/drawing/2014/main" val="20001"/>
                    </a:ext>
                  </a:extLst>
                </a:gridCol>
              </a:tblGrid>
              <a:tr h="1169117">
                <a:tc>
                  <a:txBody>
                    <a:bodyPr/>
                    <a:lstStyle/>
                    <a:p>
                      <a:pPr algn="l">
                        <a:lnSpc>
                          <a:spcPts val="3079"/>
                        </a:lnSpc>
                        <a:defRPr/>
                      </a:pPr>
                      <a:r>
                        <a:rPr lang="en-US" sz="2199" b="1" dirty="0" err="1">
                          <a:solidFill>
                            <a:srgbClr val="000000"/>
                          </a:solidFill>
                          <a:latin typeface="Canva Sans Bold"/>
                          <a:ea typeface="Canva Sans Bold"/>
                          <a:cs typeface="Canva Sans Bold"/>
                          <a:sym typeface="Canva Sans Bold"/>
                        </a:rPr>
                        <a:t>Lớp</a:t>
                      </a:r>
                      <a:r>
                        <a:rPr lang="en-US" sz="2199" b="1" dirty="0">
                          <a:solidFill>
                            <a:srgbClr val="000000"/>
                          </a:solidFill>
                          <a:latin typeface="Canva Sans Bold"/>
                          <a:ea typeface="Canva Sans Bold"/>
                          <a:cs typeface="Canva Sans Bold"/>
                          <a:sym typeface="Canva Sans Bold"/>
                        </a:rPr>
                        <a:t> (Class)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b="1" dirty="0" err="1">
                          <a:solidFill>
                            <a:srgbClr val="1B1C1D"/>
                          </a:solidFill>
                          <a:latin typeface="Canva Sans Bold"/>
                          <a:ea typeface="Canva Sans Bold"/>
                          <a:cs typeface="Canva Sans Bold"/>
                          <a:sym typeface="Canva Sans Bold"/>
                        </a:rPr>
                        <a:t>Thể</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loại</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nhạc</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cần</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dự</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đoán</a:t>
                      </a:r>
                      <a:r>
                        <a:rPr lang="en-US" sz="2199" b="1" dirty="0">
                          <a:solidFill>
                            <a:srgbClr val="1B1C1D"/>
                          </a:solidFill>
                          <a:latin typeface="Canva Sans Bold"/>
                          <a:ea typeface="Canva Sans Bold"/>
                          <a:cs typeface="Canva Sans Bold"/>
                          <a:sym typeface="Canva Sans Bold"/>
                        </a:rPr>
                        <a:t> (output).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70704">
                <a:tc>
                  <a:txBody>
                    <a:bodyPr/>
                    <a:lstStyle/>
                    <a:p>
                      <a:pPr algn="l">
                        <a:lnSpc>
                          <a:spcPts val="2529"/>
                        </a:lnSpc>
                        <a:defRPr/>
                      </a:pPr>
                      <a:r>
                        <a:rPr lang="en-US" sz="2199" b="1" dirty="0" err="1">
                          <a:solidFill>
                            <a:srgbClr val="1B1C1D"/>
                          </a:solidFill>
                          <a:latin typeface="Canva Sans Bold"/>
                          <a:ea typeface="Canva Sans Bold"/>
                          <a:cs typeface="Canva Sans Bold"/>
                          <a:sym typeface="Canva Sans Bold"/>
                        </a:rPr>
                        <a:t>Nghệ</a:t>
                      </a:r>
                      <a:r>
                        <a:rPr lang="en-US" sz="2199" b="1" dirty="0">
                          <a:solidFill>
                            <a:srgbClr val="1B1C1D"/>
                          </a:solidFill>
                          <a:latin typeface="Canva Sans Bold"/>
                          <a:ea typeface="Canva Sans Bold"/>
                          <a:cs typeface="Canva Sans Bold"/>
                          <a:sym typeface="Canva Sans Bold"/>
                        </a:rPr>
                        <a:t> </a:t>
                      </a:r>
                      <a:r>
                        <a:rPr lang="en-US" sz="2199" b="1" dirty="0" err="1">
                          <a:solidFill>
                            <a:srgbClr val="1B1C1D"/>
                          </a:solidFill>
                          <a:latin typeface="Canva Sans Bold"/>
                          <a:ea typeface="Canva Sans Bold"/>
                          <a:cs typeface="Canva Sans Bold"/>
                          <a:sym typeface="Canva Sans Bold"/>
                        </a:rPr>
                        <a:t>sĩ</a:t>
                      </a:r>
                      <a:r>
                        <a:rPr lang="en-US" sz="2199" b="1" dirty="0">
                          <a:solidFill>
                            <a:srgbClr val="1B1C1D"/>
                          </a:solidFill>
                          <a:latin typeface="Canva Sans Bold"/>
                          <a:ea typeface="Canva Sans Bold"/>
                          <a:cs typeface="Canva Sans Bold"/>
                          <a:sym typeface="Canva Sans Bold"/>
                        </a:rPr>
                        <a:t> (artist)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dirty="0" err="1">
                          <a:solidFill>
                            <a:srgbClr val="1B1C1D"/>
                          </a:solidFill>
                          <a:latin typeface="Canva Sans"/>
                          <a:ea typeface="Canva Sans"/>
                          <a:cs typeface="Canva Sans"/>
                          <a:sym typeface="Canva Sans"/>
                        </a:rPr>
                        <a:t>Tên</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của</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nghệ</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sĩ</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trình</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bày</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bài</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hát</a:t>
                      </a:r>
                      <a:r>
                        <a:rPr lang="en-US" sz="2199" dirty="0">
                          <a:solidFill>
                            <a:srgbClr val="1B1C1D"/>
                          </a:solidFill>
                          <a:latin typeface="Canva Sans"/>
                          <a:ea typeface="Canva Sans"/>
                          <a:cs typeface="Canva Sans"/>
                          <a:sym typeface="Canva Sans"/>
                        </a:rPr>
                        <a: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1896">
                <a:tc>
                  <a:txBody>
                    <a:bodyPr/>
                    <a:lstStyle/>
                    <a:p>
                      <a:pPr algn="l">
                        <a:lnSpc>
                          <a:spcPts val="2529"/>
                        </a:lnSpc>
                        <a:defRPr/>
                      </a:pPr>
                      <a:r>
                        <a:rPr lang="en-US" sz="2199" b="1">
                          <a:solidFill>
                            <a:srgbClr val="1B1C1D"/>
                          </a:solidFill>
                          <a:latin typeface="Canva Sans Bold"/>
                          <a:ea typeface="Canva Sans Bold"/>
                          <a:cs typeface="Canva Sans Bold"/>
                          <a:sym typeface="Canva Sans Bold"/>
                        </a:rPr>
                        <a:t>Bài hát (song)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a:solidFill>
                            <a:srgbClr val="1B1C1D"/>
                          </a:solidFill>
                          <a:latin typeface="Canva Sans"/>
                          <a:ea typeface="Canva Sans"/>
                          <a:cs typeface="Canva Sans"/>
                          <a:sym typeface="Canva Sans"/>
                        </a:rPr>
                        <a:t>Tên của bài hát.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86736">
                <a:tc>
                  <a:txBody>
                    <a:bodyPr/>
                    <a:lstStyle/>
                    <a:p>
                      <a:pPr algn="l">
                        <a:lnSpc>
                          <a:spcPts val="2529"/>
                        </a:lnSpc>
                        <a:defRPr/>
                      </a:pPr>
                      <a:r>
                        <a:rPr lang="en-US" sz="2199" b="1">
                          <a:solidFill>
                            <a:srgbClr val="1B1C1D"/>
                          </a:solidFill>
                          <a:latin typeface="Canva Sans Bold"/>
                          <a:ea typeface="Canva Sans Bold"/>
                          <a:cs typeface="Canva Sans Bold"/>
                          <a:sym typeface="Canva Sans Bold"/>
                        </a:rPr>
                        <a:t>Độ phổ biến (popularity)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dirty="0" err="1">
                          <a:solidFill>
                            <a:srgbClr val="1B1C1D"/>
                          </a:solidFill>
                          <a:latin typeface="Canva Sans"/>
                          <a:ea typeface="Canva Sans"/>
                          <a:cs typeface="Canva Sans"/>
                          <a:sym typeface="Canva Sans"/>
                        </a:rPr>
                        <a:t>Mức</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độ</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phổ</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biến</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của</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bài</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hát</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giá</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trị</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cao</a:t>
                      </a:r>
                      <a:r>
                        <a:rPr lang="en-US" sz="2199" dirty="0">
                          <a:solidFill>
                            <a:srgbClr val="1B1C1D"/>
                          </a:solidFill>
                          <a:latin typeface="Canva Sans"/>
                          <a:ea typeface="Canva Sans"/>
                          <a:cs typeface="Canva Sans"/>
                          <a:sym typeface="Canva Sans"/>
                        </a:rPr>
                        <a:t> → </a:t>
                      </a:r>
                      <a:r>
                        <a:rPr lang="en-US" sz="2199" dirty="0" err="1">
                          <a:solidFill>
                            <a:srgbClr val="1B1C1D"/>
                          </a:solidFill>
                          <a:latin typeface="Canva Sans"/>
                          <a:ea typeface="Canva Sans"/>
                          <a:cs typeface="Canva Sans"/>
                          <a:sym typeface="Canva Sans"/>
                        </a:rPr>
                        <a:t>bài</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hát</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nổi</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tiếng</a:t>
                      </a:r>
                      <a:r>
                        <a:rPr lang="en-US" sz="2199" dirty="0">
                          <a:solidFill>
                            <a:srgbClr val="1B1C1D"/>
                          </a:solidFill>
                          <a:latin typeface="Canva Sans"/>
                          <a:ea typeface="Canva Sans"/>
                          <a:cs typeface="Canva Sans"/>
                          <a:sym typeface="Canva Sans"/>
                        </a:rPr>
                        <a: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01171">
                <a:tc>
                  <a:txBody>
                    <a:bodyPr/>
                    <a:lstStyle/>
                    <a:p>
                      <a:pPr algn="l">
                        <a:lnSpc>
                          <a:spcPts val="2529"/>
                        </a:lnSpc>
                        <a:defRPr/>
                      </a:pPr>
                      <a:r>
                        <a:rPr lang="en-US" sz="2199" b="1">
                          <a:solidFill>
                            <a:srgbClr val="1B1C1D"/>
                          </a:solidFill>
                          <a:latin typeface="Canva Sans Bold"/>
                          <a:ea typeface="Canva Sans Bold"/>
                          <a:cs typeface="Canva Sans Bold"/>
                          <a:sym typeface="Canva Sans Bold"/>
                        </a:rPr>
                        <a:t>Khả năng nhảy (danceability)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a:solidFill>
                            <a:srgbClr val="1B1C1D"/>
                          </a:solidFill>
                          <a:latin typeface="Canva Sans"/>
                          <a:ea typeface="Canva Sans"/>
                          <a:cs typeface="Canva Sans"/>
                          <a:sym typeface="Canva Sans"/>
                        </a:rPr>
                        <a:t>Mức độ phù hợp để nhảy, dựa trên nhịp độ, nhịp điệu và tính ổn định.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177925">
                <a:tc>
                  <a:txBody>
                    <a:bodyPr/>
                    <a:lstStyle/>
                    <a:p>
                      <a:pPr algn="l">
                        <a:lnSpc>
                          <a:spcPts val="2529"/>
                        </a:lnSpc>
                        <a:defRPr/>
                      </a:pPr>
                      <a:r>
                        <a:rPr lang="en-US" sz="2199" b="1">
                          <a:solidFill>
                            <a:srgbClr val="1B1C1D"/>
                          </a:solidFill>
                          <a:latin typeface="Canva Sans Bold"/>
                          <a:ea typeface="Canva Sans Bold"/>
                          <a:cs typeface="Canva Sans Bold"/>
                          <a:sym typeface="Canva Sans Bold"/>
                        </a:rPr>
                        <a:t>Năng lượng (energy)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199" dirty="0" err="1">
                          <a:solidFill>
                            <a:srgbClr val="1B1C1D"/>
                          </a:solidFill>
                          <a:latin typeface="Canva Sans"/>
                          <a:ea typeface="Canva Sans"/>
                          <a:cs typeface="Canva Sans"/>
                          <a:sym typeface="Canva Sans"/>
                        </a:rPr>
                        <a:t>Độ</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mạnh</a:t>
                      </a:r>
                      <a:r>
                        <a:rPr lang="en-US" sz="2199" dirty="0">
                          <a:solidFill>
                            <a:srgbClr val="1B1C1D"/>
                          </a:solidFill>
                          <a:latin typeface="Canva Sans"/>
                          <a:ea typeface="Canva Sans"/>
                          <a:cs typeface="Canva Sans"/>
                          <a:sym typeface="Canva Sans"/>
                        </a:rPr>
                        <a:t>/</a:t>
                      </a:r>
                      <a:r>
                        <a:rPr lang="en-US" sz="2199" dirty="0" err="1">
                          <a:solidFill>
                            <a:srgbClr val="1B1C1D"/>
                          </a:solidFill>
                          <a:latin typeface="Canva Sans"/>
                          <a:ea typeface="Canva Sans"/>
                          <a:cs typeface="Canva Sans"/>
                          <a:sym typeface="Canva Sans"/>
                        </a:rPr>
                        <a:t>mãnh</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liệt</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của</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bài</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nhạc</a:t>
                      </a:r>
                      <a:r>
                        <a:rPr lang="en-US" sz="2199" dirty="0">
                          <a:solidFill>
                            <a:srgbClr val="1B1C1D"/>
                          </a:solidFill>
                          <a:latin typeface="Canva Sans"/>
                          <a:ea typeface="Canva Sans"/>
                          <a:cs typeface="Canva Sans"/>
                          <a:sym typeface="Canva Sans"/>
                        </a:rPr>
                        <a:t> (0–1). Cao → </a:t>
                      </a:r>
                      <a:r>
                        <a:rPr lang="en-US" sz="2199" dirty="0" err="1">
                          <a:solidFill>
                            <a:srgbClr val="1B1C1D"/>
                          </a:solidFill>
                          <a:latin typeface="Canva Sans"/>
                          <a:ea typeface="Canva Sans"/>
                          <a:cs typeface="Canva Sans"/>
                          <a:sym typeface="Canva Sans"/>
                        </a:rPr>
                        <a:t>mạnh</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mẽ</a:t>
                      </a:r>
                      <a:r>
                        <a:rPr lang="en-US" sz="2199" dirty="0">
                          <a:solidFill>
                            <a:srgbClr val="1B1C1D"/>
                          </a:solidFill>
                          <a:latin typeface="Canva Sans"/>
                          <a:ea typeface="Canva Sans"/>
                          <a:cs typeface="Canva Sans"/>
                          <a:sym typeface="Canva Sans"/>
                        </a:rPr>
                        <a:t>, </a:t>
                      </a:r>
                      <a:r>
                        <a:rPr lang="en-US" sz="2199" dirty="0" err="1">
                          <a:solidFill>
                            <a:srgbClr val="1B1C1D"/>
                          </a:solidFill>
                          <a:latin typeface="Canva Sans"/>
                          <a:ea typeface="Canva Sans"/>
                          <a:cs typeface="Canva Sans"/>
                          <a:sym typeface="Canva Sans"/>
                        </a:rPr>
                        <a:t>nhanh</a:t>
                      </a:r>
                      <a:r>
                        <a:rPr lang="en-US" sz="2199" dirty="0">
                          <a:solidFill>
                            <a:srgbClr val="1B1C1D"/>
                          </a:solidFill>
                          <a:latin typeface="Canva Sans"/>
                          <a:ea typeface="Canva Sans"/>
                          <a:cs typeface="Canva Sans"/>
                          <a:sym typeface="Canva Sans"/>
                        </a:rPr>
                        <a: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Box 5"/>
          <p:cNvSpPr txBox="1"/>
          <p:nvPr/>
        </p:nvSpPr>
        <p:spPr>
          <a:xfrm>
            <a:off x="381001" y="-279601"/>
            <a:ext cx="5334000" cy="1305103"/>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1. Introduction</a:t>
            </a:r>
          </a:p>
        </p:txBody>
      </p:sp>
      <p:sp>
        <p:nvSpPr>
          <p:cNvPr id="6" name="TextBox 6"/>
          <p:cNvSpPr txBox="1"/>
          <p:nvPr/>
        </p:nvSpPr>
        <p:spPr>
          <a:xfrm>
            <a:off x="1066800" y="1861393"/>
            <a:ext cx="7592989" cy="712439"/>
          </a:xfrm>
          <a:prstGeom prst="rect">
            <a:avLst/>
          </a:prstGeom>
        </p:spPr>
        <p:txBody>
          <a:bodyPr wrap="square" lIns="0" tIns="0" rIns="0" bIns="0" rtlCol="0" anchor="t">
            <a:spAutoFit/>
          </a:bodyPr>
          <a:lstStyle/>
          <a:p>
            <a:pPr algn="l">
              <a:lnSpc>
                <a:spcPts val="6840"/>
              </a:lnSpc>
              <a:spcBef>
                <a:spcPct val="0"/>
              </a:spcBef>
            </a:pPr>
            <a:r>
              <a:rPr lang="en-US" sz="2000" dirty="0" err="1">
                <a:solidFill>
                  <a:srgbClr val="000000"/>
                </a:solidFill>
                <a:latin typeface="Arimo"/>
                <a:ea typeface="Arimo"/>
                <a:cs typeface="Arimo"/>
                <a:sym typeface="Arimo"/>
              </a:rPr>
              <a:t>Bộ</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dữ</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liệu</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gồm</a:t>
            </a:r>
            <a:r>
              <a:rPr lang="en-US" sz="2000" dirty="0">
                <a:solidFill>
                  <a:srgbClr val="000000"/>
                </a:solidFill>
                <a:latin typeface="Arimo"/>
                <a:ea typeface="Arimo"/>
                <a:cs typeface="Arimo"/>
                <a:sym typeface="Arimo"/>
              </a:rPr>
              <a:t> 18 </a:t>
            </a:r>
            <a:r>
              <a:rPr lang="en-US" sz="2000" dirty="0" err="1">
                <a:solidFill>
                  <a:srgbClr val="000000"/>
                </a:solidFill>
                <a:latin typeface="Arimo"/>
                <a:ea typeface="Arimo"/>
                <a:cs typeface="Arimo"/>
                <a:sym typeface="Arimo"/>
              </a:rPr>
              <a:t>đặc</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trưng</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sau</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đây</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là</a:t>
            </a:r>
            <a:r>
              <a:rPr lang="en-US" sz="2000" dirty="0">
                <a:solidFill>
                  <a:srgbClr val="000000"/>
                </a:solidFill>
                <a:latin typeface="Arimo"/>
                <a:ea typeface="Arimo"/>
                <a:cs typeface="Arimo"/>
                <a:sym typeface="Arimo"/>
              </a:rPr>
              <a:t> 1 </a:t>
            </a:r>
            <a:r>
              <a:rPr lang="en-US" sz="2000" dirty="0" err="1">
                <a:solidFill>
                  <a:srgbClr val="000000"/>
                </a:solidFill>
                <a:latin typeface="Arimo"/>
                <a:ea typeface="Arimo"/>
                <a:cs typeface="Arimo"/>
                <a:sym typeface="Arimo"/>
              </a:rPr>
              <a:t>số</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đặc</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trưng</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cơ</a:t>
            </a:r>
            <a:r>
              <a:rPr lang="en-US" sz="2000" dirty="0">
                <a:solidFill>
                  <a:srgbClr val="000000"/>
                </a:solidFill>
                <a:latin typeface="Arimo"/>
                <a:ea typeface="Arimo"/>
                <a:cs typeface="Arimo"/>
                <a:sym typeface="Arimo"/>
              </a:rPr>
              <a:t> </a:t>
            </a:r>
            <a:r>
              <a:rPr lang="en-US" sz="2000" dirty="0" err="1">
                <a:solidFill>
                  <a:srgbClr val="000000"/>
                </a:solidFill>
                <a:latin typeface="Arimo"/>
                <a:ea typeface="Arimo"/>
                <a:cs typeface="Arimo"/>
                <a:sym typeface="Arimo"/>
              </a:rPr>
              <a:t>bản</a:t>
            </a:r>
            <a:endParaRPr lang="en-US" sz="2000" dirty="0">
              <a:solidFill>
                <a:srgbClr val="000000"/>
              </a:solidFill>
              <a:latin typeface="Arimo"/>
              <a:ea typeface="Arimo"/>
              <a:cs typeface="Arimo"/>
              <a:sym typeface="Arimo"/>
            </a:endParaRPr>
          </a:p>
        </p:txBody>
      </p:sp>
      <p:graphicFrame>
        <p:nvGraphicFramePr>
          <p:cNvPr id="11" name="Chart 10">
            <a:extLst>
              <a:ext uri="{FF2B5EF4-FFF2-40B4-BE49-F238E27FC236}">
                <a16:creationId xmlns:a16="http://schemas.microsoft.com/office/drawing/2014/main" id="{EFEAE342-6AE2-BE80-1A66-FEA9DAFF0E0C}"/>
              </a:ext>
            </a:extLst>
          </p:cNvPr>
          <p:cNvGraphicFramePr/>
          <p:nvPr>
            <p:extLst>
              <p:ext uri="{D42A27DB-BD31-4B8C-83A1-F6EECF244321}">
                <p14:modId xmlns:p14="http://schemas.microsoft.com/office/powerpoint/2010/main" val="2781275614"/>
              </p:ext>
            </p:extLst>
          </p:nvPr>
        </p:nvGraphicFramePr>
        <p:xfrm>
          <a:off x="9308683" y="190500"/>
          <a:ext cx="8598316" cy="5689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4">
            <a:extLst>
              <a:ext uri="{FF2B5EF4-FFF2-40B4-BE49-F238E27FC236}">
                <a16:creationId xmlns:a16="http://schemas.microsoft.com/office/drawing/2014/main" id="{E66CE243-75B2-C143-CE34-BAEF6B61291E}"/>
              </a:ext>
            </a:extLst>
          </p:cNvPr>
          <p:cNvGraphicFramePr>
            <a:graphicFrameLocks noGrp="1"/>
          </p:cNvGraphicFramePr>
          <p:nvPr>
            <p:extLst>
              <p:ext uri="{D42A27DB-BD31-4B8C-83A1-F6EECF244321}">
                <p14:modId xmlns:p14="http://schemas.microsoft.com/office/powerpoint/2010/main" val="2244181606"/>
              </p:ext>
            </p:extLst>
          </p:nvPr>
        </p:nvGraphicFramePr>
        <p:xfrm>
          <a:off x="8886994" y="5987381"/>
          <a:ext cx="8598316" cy="4001580"/>
        </p:xfrm>
        <a:graphic>
          <a:graphicData uri="http://schemas.openxmlformats.org/drawingml/2006/table">
            <a:tbl>
              <a:tblPr/>
              <a:tblGrid>
                <a:gridCol w="2499244">
                  <a:extLst>
                    <a:ext uri="{9D8B030D-6E8A-4147-A177-3AD203B41FA5}">
                      <a16:colId xmlns:a16="http://schemas.microsoft.com/office/drawing/2014/main" val="20000"/>
                    </a:ext>
                  </a:extLst>
                </a:gridCol>
                <a:gridCol w="6099072">
                  <a:extLst>
                    <a:ext uri="{9D8B030D-6E8A-4147-A177-3AD203B41FA5}">
                      <a16:colId xmlns:a16="http://schemas.microsoft.com/office/drawing/2014/main" val="20001"/>
                    </a:ext>
                  </a:extLst>
                </a:gridCol>
              </a:tblGrid>
              <a:tr h="1169117">
                <a:tc>
                  <a:txBody>
                    <a:bodyPr/>
                    <a:lstStyle/>
                    <a:p>
                      <a:pPr algn="l">
                        <a:lnSpc>
                          <a:spcPts val="3079"/>
                        </a:lnSpc>
                        <a:defRPr/>
                      </a:pPr>
                      <a:r>
                        <a:rPr lang="en-US" sz="2199" b="1" dirty="0">
                          <a:solidFill>
                            <a:srgbClr val="000000"/>
                          </a:solidFill>
                          <a:latin typeface="Canva Sans Bold"/>
                          <a:ea typeface="Canva Sans Bold"/>
                          <a:cs typeface="Canva Sans Bold"/>
                          <a:sym typeface="Canva Sans Bold"/>
                        </a:rPr>
                        <a:t>Tempo</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200" dirty="0" err="1">
                          <a:latin typeface="Canva Sans" panose="020B0604020202020204" charset="0"/>
                        </a:rPr>
                        <a:t>Tốc</a:t>
                      </a:r>
                      <a:r>
                        <a:rPr lang="en-US" sz="2200" dirty="0">
                          <a:latin typeface="Canva Sans" panose="020B0604020202020204" charset="0"/>
                        </a:rPr>
                        <a:t> </a:t>
                      </a:r>
                      <a:r>
                        <a:rPr lang="en-US" sz="2200" dirty="0" err="1">
                          <a:latin typeface="Canva Sans" panose="020B0604020202020204" charset="0"/>
                        </a:rPr>
                        <a:t>độ</a:t>
                      </a:r>
                      <a:r>
                        <a:rPr lang="en-US" sz="2200" dirty="0">
                          <a:latin typeface="Canva Sans" panose="020B0604020202020204" charset="0"/>
                        </a:rPr>
                        <a:t> (beat per minute — BPM) </a:t>
                      </a:r>
                      <a:r>
                        <a:rPr lang="en-US" sz="2200" dirty="0" err="1">
                          <a:latin typeface="Canva Sans" panose="020B0604020202020204" charset="0"/>
                        </a:rPr>
                        <a:t>của</a:t>
                      </a:r>
                      <a:r>
                        <a:rPr lang="en-US" sz="2200" dirty="0">
                          <a:latin typeface="Canva Sans" panose="020B0604020202020204" charset="0"/>
                        </a:rPr>
                        <a:t> </a:t>
                      </a:r>
                      <a:r>
                        <a:rPr lang="en-US" sz="2200" dirty="0" err="1">
                          <a:latin typeface="Canva Sans" panose="020B0604020202020204" charset="0"/>
                        </a:rPr>
                        <a:t>bài</a:t>
                      </a:r>
                      <a:r>
                        <a:rPr lang="en-US" sz="2200" dirty="0">
                          <a:latin typeface="Canva Sans" panose="020B0604020202020204" charset="0"/>
                        </a:rPr>
                        <a:t> — </a:t>
                      </a:r>
                      <a:r>
                        <a:rPr lang="en-US" sz="2200" dirty="0" err="1">
                          <a:latin typeface="Canva Sans" panose="020B0604020202020204" charset="0"/>
                        </a:rPr>
                        <a:t>nói</a:t>
                      </a:r>
                      <a:r>
                        <a:rPr lang="en-US" sz="2200" dirty="0">
                          <a:latin typeface="Canva Sans" panose="020B0604020202020204" charset="0"/>
                        </a:rPr>
                        <a:t> </a:t>
                      </a:r>
                      <a:r>
                        <a:rPr lang="en-US" sz="2200" dirty="0" err="1">
                          <a:latin typeface="Canva Sans" panose="020B0604020202020204" charset="0"/>
                        </a:rPr>
                        <a:t>lên</a:t>
                      </a:r>
                      <a:r>
                        <a:rPr lang="en-US" sz="2200" dirty="0">
                          <a:latin typeface="Canva Sans" panose="020B0604020202020204" charset="0"/>
                        </a:rPr>
                        <a:t> </a:t>
                      </a:r>
                      <a:r>
                        <a:rPr lang="en-US" sz="2200" dirty="0" err="1">
                          <a:latin typeface="Canva Sans" panose="020B0604020202020204" charset="0"/>
                        </a:rPr>
                        <a:t>nhịp</a:t>
                      </a:r>
                      <a:r>
                        <a:rPr lang="en-US" sz="2200" dirty="0">
                          <a:latin typeface="Canva Sans" panose="020B0604020202020204" charset="0"/>
                        </a:rPr>
                        <a:t> </a:t>
                      </a:r>
                      <a:r>
                        <a:rPr lang="en-US" sz="2200" dirty="0" err="1">
                          <a:latin typeface="Canva Sans" panose="020B0604020202020204" charset="0"/>
                        </a:rPr>
                        <a:t>điệu</a:t>
                      </a:r>
                      <a:r>
                        <a:rPr lang="en-US" sz="2200" dirty="0">
                          <a:latin typeface="Canva Sans" panose="020B0604020202020204" charset="0"/>
                        </a:rPr>
                        <a:t> </a:t>
                      </a:r>
                      <a:r>
                        <a:rPr lang="en-US" sz="2200" dirty="0" err="1">
                          <a:latin typeface="Canva Sans" panose="020B0604020202020204" charset="0"/>
                        </a:rPr>
                        <a:t>tổng</a:t>
                      </a:r>
                      <a:r>
                        <a:rPr lang="en-US" sz="2200" dirty="0">
                          <a:latin typeface="Canva Sans" panose="020B0604020202020204" charset="0"/>
                        </a:rPr>
                        <a:t> </a:t>
                      </a:r>
                      <a:r>
                        <a:rPr lang="en-US" sz="2200" dirty="0" err="1">
                          <a:latin typeface="Canva Sans" panose="020B0604020202020204" charset="0"/>
                        </a:rPr>
                        <a:t>quát</a:t>
                      </a:r>
                      <a:r>
                        <a:rPr lang="en-US" sz="2200" dirty="0">
                          <a:latin typeface="Canva Sans" panose="020B0604020202020204" charset="0"/>
                        </a:rPr>
                        <a:t>, “</a:t>
                      </a:r>
                      <a:r>
                        <a:rPr lang="en-US" sz="2200" dirty="0" err="1">
                          <a:latin typeface="Canva Sans" panose="020B0604020202020204" charset="0"/>
                        </a:rPr>
                        <a:t>nhịp</a:t>
                      </a:r>
                      <a:r>
                        <a:rPr lang="en-US" sz="2200" dirty="0">
                          <a:latin typeface="Canva Sans" panose="020B0604020202020204" charset="0"/>
                        </a:rPr>
                        <a:t>” (pace) </a:t>
                      </a:r>
                      <a:r>
                        <a:rPr lang="en-US" sz="2200" dirty="0" err="1">
                          <a:latin typeface="Canva Sans" panose="020B0604020202020204" charset="0"/>
                        </a:rPr>
                        <a:t>của</a:t>
                      </a:r>
                      <a:r>
                        <a:rPr lang="en-US" sz="2200" dirty="0">
                          <a:latin typeface="Canva Sans" panose="020B0604020202020204" charset="0"/>
                        </a:rPr>
                        <a:t> track. </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70704">
                <a:tc>
                  <a:txBody>
                    <a:bodyPr/>
                    <a:lstStyle/>
                    <a:p>
                      <a:pPr algn="l">
                        <a:lnSpc>
                          <a:spcPts val="2529"/>
                        </a:lnSpc>
                        <a:defRPr/>
                      </a:pPr>
                      <a:r>
                        <a:rPr lang="en-US" sz="2400" b="1" dirty="0"/>
                        <a:t>Duration in milliseconds</a:t>
                      </a:r>
                      <a:endParaRPr lang="en-US" sz="11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vi-VN" sz="2200" dirty="0"/>
                        <a:t>Độ dài bài hát tính theo </a:t>
                      </a:r>
                      <a:r>
                        <a:rPr lang="vi-VN" sz="2200" dirty="0" err="1"/>
                        <a:t>mili</a:t>
                      </a:r>
                      <a:r>
                        <a:rPr lang="vi-VN" sz="2200" dirty="0"/>
                        <a:t>-giây — cho biết thời lượng </a:t>
                      </a:r>
                      <a:r>
                        <a:rPr lang="vi-VN" sz="2200" dirty="0" err="1"/>
                        <a:t>track</a:t>
                      </a:r>
                      <a:r>
                        <a:rPr lang="vi-VN" sz="2200" dirty="0"/>
                        <a:t>.</a:t>
                      </a:r>
                      <a:endParaRPr lang="en-US" sz="2200" dirty="0">
                        <a:latin typeface="Canva Sans" panose="020B060402020202020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1896">
                <a:tc>
                  <a:txBody>
                    <a:bodyPr/>
                    <a:lstStyle/>
                    <a:p>
                      <a:pPr algn="l">
                        <a:lnSpc>
                          <a:spcPts val="2529"/>
                        </a:lnSpc>
                        <a:defRPr/>
                      </a:pPr>
                      <a:r>
                        <a:rPr lang="en-US" sz="2199" b="1" dirty="0">
                          <a:solidFill>
                            <a:srgbClr val="1B1C1D"/>
                          </a:solidFill>
                          <a:latin typeface="Canva Sans Bold"/>
                          <a:sym typeface="Canva Sans Bold"/>
                        </a:rPr>
                        <a:t>Class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2529"/>
                        </a:lnSpc>
                        <a:defRPr/>
                      </a:pPr>
                      <a:r>
                        <a:rPr lang="en-US" sz="2200" dirty="0" err="1">
                          <a:latin typeface="Canva Sans" panose="020B0604020202020204" charset="0"/>
                        </a:rPr>
                        <a:t>Nhãn</a:t>
                      </a:r>
                      <a:r>
                        <a:rPr lang="en-US" sz="2200" dirty="0">
                          <a:latin typeface="Canva Sans" panose="020B0604020202020204" charset="0"/>
                        </a:rPr>
                        <a:t> </a:t>
                      </a:r>
                      <a:r>
                        <a:rPr lang="en-US" sz="2200" dirty="0" err="1">
                          <a:latin typeface="Canva Sans" panose="020B0604020202020204" charset="0"/>
                        </a:rPr>
                        <a:t>thể</a:t>
                      </a:r>
                      <a:r>
                        <a:rPr lang="en-US" sz="2200" dirty="0">
                          <a:latin typeface="Canva Sans" panose="020B0604020202020204" charset="0"/>
                        </a:rPr>
                        <a:t> </a:t>
                      </a:r>
                      <a:r>
                        <a:rPr lang="en-US" sz="2200" dirty="0" err="1">
                          <a:latin typeface="Canva Sans" panose="020B0604020202020204" charset="0"/>
                        </a:rPr>
                        <a:t>loại</a:t>
                      </a:r>
                      <a:r>
                        <a:rPr lang="en-US" sz="2200" dirty="0">
                          <a:latin typeface="Canva Sans" panose="020B0604020202020204" charset="0"/>
                        </a:rPr>
                        <a:t> </a:t>
                      </a:r>
                      <a:r>
                        <a:rPr lang="en-US" sz="2200" dirty="0" err="1">
                          <a:latin typeface="Canva Sans" panose="020B0604020202020204" charset="0"/>
                        </a:rPr>
                        <a:t>nhạc</a:t>
                      </a:r>
                      <a:r>
                        <a:rPr lang="en-US" sz="2200" dirty="0">
                          <a:latin typeface="Canva Sans" panose="020B0604020202020204" charset="0"/>
                        </a:rPr>
                        <a:t> (genre) </a:t>
                      </a:r>
                      <a:r>
                        <a:rPr lang="en-US" sz="2200" dirty="0" err="1">
                          <a:latin typeface="Canva Sans" panose="020B0604020202020204" charset="0"/>
                        </a:rPr>
                        <a:t>của</a:t>
                      </a:r>
                      <a:r>
                        <a:rPr lang="en-US" sz="2200" dirty="0">
                          <a:latin typeface="Canva Sans" panose="020B0604020202020204" charset="0"/>
                        </a:rPr>
                        <a:t> </a:t>
                      </a:r>
                      <a:r>
                        <a:rPr lang="en-US" sz="2200" dirty="0" err="1">
                          <a:latin typeface="Canva Sans" panose="020B0604020202020204" charset="0"/>
                        </a:rPr>
                        <a:t>bài</a:t>
                      </a:r>
                      <a:r>
                        <a:rPr lang="en-US" sz="2200" dirty="0">
                          <a:latin typeface="Canva Sans" panose="020B0604020202020204" charset="0"/>
                        </a:rPr>
                        <a:t> — </a:t>
                      </a:r>
                      <a:r>
                        <a:rPr lang="en-US" sz="2200" dirty="0" err="1">
                          <a:latin typeface="Canva Sans" panose="020B0604020202020204" charset="0"/>
                        </a:rPr>
                        <a:t>ví</a:t>
                      </a:r>
                      <a:r>
                        <a:rPr lang="en-US" sz="2200" dirty="0">
                          <a:latin typeface="Canva Sans" panose="020B0604020202020204" charset="0"/>
                        </a:rPr>
                        <a:t> </a:t>
                      </a:r>
                      <a:r>
                        <a:rPr lang="en-US" sz="2200" dirty="0" err="1">
                          <a:latin typeface="Canva Sans" panose="020B0604020202020204" charset="0"/>
                        </a:rPr>
                        <a:t>dụ</a:t>
                      </a:r>
                      <a:r>
                        <a:rPr lang="en-US" sz="2200" dirty="0">
                          <a:latin typeface="Canva Sans" panose="020B0604020202020204" charset="0"/>
                        </a:rPr>
                        <a:t> Rock, Pop, Metal, HipHop, Blues, Country, Acoustic/Folk, Instrumental, … — </a:t>
                      </a:r>
                      <a:r>
                        <a:rPr lang="en-US" sz="2200" dirty="0" err="1">
                          <a:latin typeface="Canva Sans" panose="020B0604020202020204" charset="0"/>
                        </a:rPr>
                        <a:t>là</a:t>
                      </a:r>
                      <a:r>
                        <a:rPr lang="en-US" sz="2200" dirty="0">
                          <a:latin typeface="Canva Sans" panose="020B0604020202020204" charset="0"/>
                        </a:rPr>
                        <a:t> target </a:t>
                      </a:r>
                      <a:r>
                        <a:rPr lang="en-US" sz="2200" dirty="0" err="1">
                          <a:latin typeface="Canva Sans" panose="020B0604020202020204" charset="0"/>
                        </a:rPr>
                        <a:t>mà</a:t>
                      </a:r>
                      <a:r>
                        <a:rPr lang="en-US" sz="2200" dirty="0">
                          <a:latin typeface="Canva Sans" panose="020B0604020202020204" charset="0"/>
                        </a:rPr>
                        <a:t> </a:t>
                      </a:r>
                      <a:r>
                        <a:rPr lang="en-US" sz="2200" dirty="0" err="1">
                          <a:latin typeface="Canva Sans" panose="020B0604020202020204" charset="0"/>
                        </a:rPr>
                        <a:t>mô</a:t>
                      </a:r>
                      <a:r>
                        <a:rPr lang="en-US" sz="2200" dirty="0">
                          <a:latin typeface="Canva Sans" panose="020B0604020202020204" charset="0"/>
                        </a:rPr>
                        <a:t> </a:t>
                      </a:r>
                      <a:r>
                        <a:rPr lang="en-US" sz="2200" dirty="0" err="1">
                          <a:latin typeface="Canva Sans" panose="020B0604020202020204" charset="0"/>
                        </a:rPr>
                        <a:t>hình</a:t>
                      </a:r>
                      <a:r>
                        <a:rPr lang="en-US" sz="2200" dirty="0">
                          <a:latin typeface="Canva Sans" panose="020B0604020202020204" charset="0"/>
                        </a:rPr>
                        <a:t> </a:t>
                      </a:r>
                      <a:r>
                        <a:rPr lang="en-US" sz="2200" dirty="0" err="1">
                          <a:latin typeface="Canva Sans" panose="020B0604020202020204" charset="0"/>
                        </a:rPr>
                        <a:t>cần</a:t>
                      </a:r>
                      <a:r>
                        <a:rPr lang="en-US" sz="2200" dirty="0">
                          <a:latin typeface="Canva Sans" panose="020B0604020202020204" charset="0"/>
                        </a:rPr>
                        <a:t> </a:t>
                      </a:r>
                      <a:r>
                        <a:rPr lang="en-US" sz="2200" dirty="0" err="1">
                          <a:latin typeface="Canva Sans" panose="020B0604020202020204" charset="0"/>
                        </a:rPr>
                        <a:t>dự</a:t>
                      </a:r>
                      <a:r>
                        <a:rPr lang="en-US" sz="2200" dirty="0">
                          <a:latin typeface="Canva Sans" panose="020B0604020202020204" charset="0"/>
                        </a:rPr>
                        <a:t> </a:t>
                      </a:r>
                      <a:r>
                        <a:rPr lang="en-US" sz="2200" dirty="0" err="1">
                          <a:latin typeface="Canva Sans" panose="020B0604020202020204" charset="0"/>
                        </a:rPr>
                        <a:t>đoán</a:t>
                      </a:r>
                      <a:r>
                        <a:rPr lang="en-US" sz="2200" dirty="0">
                          <a:latin typeface="Canva Sans" panose="020B0604020202020204" charset="0"/>
                        </a:rPr>
                        <a:t>. </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t="-72" b="-72"/>
            </a:stretch>
          </a:blipFill>
        </p:spPr>
        <p:txBody>
          <a:bodyPr/>
          <a:lstStyle/>
          <a:p>
            <a:endParaRPr lang="en-US"/>
          </a:p>
        </p:txBody>
      </p:sp>
      <p:grpSp>
        <p:nvGrpSpPr>
          <p:cNvPr id="3" name="Group 3"/>
          <p:cNvGrpSpPr/>
          <p:nvPr/>
        </p:nvGrpSpPr>
        <p:grpSpPr>
          <a:xfrm>
            <a:off x="5903828" y="2337023"/>
            <a:ext cx="5696578" cy="1543050"/>
            <a:chOff x="0" y="0"/>
            <a:chExt cx="1500333" cy="406400"/>
          </a:xfrm>
        </p:grpSpPr>
        <p:sp>
          <p:nvSpPr>
            <p:cNvPr id="4" name="Freeform 4"/>
            <p:cNvSpPr/>
            <p:nvPr/>
          </p:nvSpPr>
          <p:spPr>
            <a:xfrm>
              <a:off x="0" y="0"/>
              <a:ext cx="1500333" cy="406400"/>
            </a:xfrm>
            <a:custGeom>
              <a:avLst/>
              <a:gdLst/>
              <a:ahLst/>
              <a:cxnLst/>
              <a:rect l="l" t="t" r="r" b="b"/>
              <a:pathLst>
                <a:path w="1500333" h="406400">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76200"/>
              <a:ext cx="1500333" cy="482600"/>
            </a:xfrm>
            <a:prstGeom prst="rect">
              <a:avLst/>
            </a:prstGeom>
          </p:spPr>
          <p:txBody>
            <a:bodyPr lIns="50800" tIns="50800" rIns="50800" bIns="50800" rtlCol="0" anchor="ctr"/>
            <a:lstStyle/>
            <a:p>
              <a:pPr algn="ctr">
                <a:lnSpc>
                  <a:spcPts val="5319"/>
                </a:lnSpc>
                <a:spcBef>
                  <a:spcPct val="0"/>
                </a:spcBef>
              </a:pPr>
              <a:r>
                <a:rPr lang="en-US" sz="3799">
                  <a:solidFill>
                    <a:srgbClr val="FFFFFF"/>
                  </a:solidFill>
                  <a:latin typeface="Canva Sans"/>
                  <a:ea typeface="Canva Sans"/>
                  <a:cs typeface="Canva Sans"/>
                  <a:sym typeface="Canva Sans"/>
                </a:rPr>
                <a:t>NaiveBayes</a:t>
              </a:r>
            </a:p>
          </p:txBody>
        </p:sp>
      </p:grpSp>
      <p:sp>
        <p:nvSpPr>
          <p:cNvPr id="6" name="Freeform 6"/>
          <p:cNvSpPr/>
          <p:nvPr/>
        </p:nvSpPr>
        <p:spPr>
          <a:xfrm>
            <a:off x="4695375" y="4016799"/>
            <a:ext cx="8113483" cy="5616051"/>
          </a:xfrm>
          <a:custGeom>
            <a:avLst/>
            <a:gdLst/>
            <a:ahLst/>
            <a:cxnLst/>
            <a:rect l="l" t="t" r="r" b="b"/>
            <a:pathLst>
              <a:path w="8113483" h="5616051">
                <a:moveTo>
                  <a:pt x="0" y="0"/>
                </a:moveTo>
                <a:lnTo>
                  <a:pt x="8113483" y="0"/>
                </a:lnTo>
                <a:lnTo>
                  <a:pt x="8113483" y="5616051"/>
                </a:lnTo>
                <a:lnTo>
                  <a:pt x="0" y="5616051"/>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2400" y="-302900"/>
            <a:ext cx="6810202"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2. Related Work </a:t>
            </a:r>
          </a:p>
        </p:txBody>
      </p:sp>
      <p:sp>
        <p:nvSpPr>
          <p:cNvPr id="8" name="TextBox 8"/>
          <p:cNvSpPr txBox="1"/>
          <p:nvPr/>
        </p:nvSpPr>
        <p:spPr>
          <a:xfrm>
            <a:off x="6096000" y="1087354"/>
            <a:ext cx="7329770" cy="1024890"/>
          </a:xfrm>
          <a:prstGeom prst="rect">
            <a:avLst/>
          </a:prstGeom>
        </p:spPr>
        <p:txBody>
          <a:bodyPr lIns="0" tIns="0" rIns="0" bIns="0" rtlCol="0" anchor="t">
            <a:spAutoFit/>
          </a:bodyPr>
          <a:lstStyle/>
          <a:p>
            <a:pPr algn="l">
              <a:lnSpc>
                <a:spcPts val="8640"/>
              </a:lnSpc>
              <a:spcBef>
                <a:spcPct val="0"/>
              </a:spcBef>
            </a:pPr>
            <a:r>
              <a:rPr lang="en-US" sz="4800" dirty="0" err="1">
                <a:solidFill>
                  <a:srgbClr val="000000"/>
                </a:solidFill>
                <a:latin typeface="Arimo"/>
                <a:ea typeface="Arimo"/>
                <a:cs typeface="Arimo"/>
                <a:sym typeface="Arimo"/>
              </a:rPr>
              <a:t>Thuật</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toán</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sử</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dụng</a:t>
            </a:r>
            <a:endParaRPr lang="en-US" sz="4800" dirty="0">
              <a:solidFill>
                <a:srgbClr val="000000"/>
              </a:solidFill>
              <a:latin typeface="Arimo"/>
              <a:ea typeface="Arimo"/>
              <a:cs typeface="Arimo"/>
              <a:sym typeface="Arimo"/>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t="-72" b="-72"/>
            </a:stretch>
          </a:blipFill>
        </p:spPr>
        <p:txBody>
          <a:bodyPr/>
          <a:lstStyle/>
          <a:p>
            <a:endParaRPr lang="en-US"/>
          </a:p>
        </p:txBody>
      </p:sp>
      <p:grpSp>
        <p:nvGrpSpPr>
          <p:cNvPr id="3" name="Group 3"/>
          <p:cNvGrpSpPr/>
          <p:nvPr/>
        </p:nvGrpSpPr>
        <p:grpSpPr>
          <a:xfrm>
            <a:off x="5903828" y="2337023"/>
            <a:ext cx="5696578" cy="1543050"/>
            <a:chOff x="0" y="0"/>
            <a:chExt cx="1500333" cy="406400"/>
          </a:xfrm>
        </p:grpSpPr>
        <p:sp>
          <p:nvSpPr>
            <p:cNvPr id="4" name="Freeform 4"/>
            <p:cNvSpPr/>
            <p:nvPr/>
          </p:nvSpPr>
          <p:spPr>
            <a:xfrm>
              <a:off x="0" y="0"/>
              <a:ext cx="1500333" cy="406400"/>
            </a:xfrm>
            <a:custGeom>
              <a:avLst/>
              <a:gdLst/>
              <a:ahLst/>
              <a:cxnLst/>
              <a:rect l="l" t="t" r="r" b="b"/>
              <a:pathLst>
                <a:path w="1500333" h="406400">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76200"/>
              <a:ext cx="1500333" cy="482600"/>
            </a:xfrm>
            <a:prstGeom prst="rect">
              <a:avLst/>
            </a:prstGeom>
          </p:spPr>
          <p:txBody>
            <a:bodyPr lIns="50800" tIns="50800" rIns="50800" bIns="50800" rtlCol="0" anchor="ctr"/>
            <a:lstStyle/>
            <a:p>
              <a:pPr algn="ctr">
                <a:lnSpc>
                  <a:spcPts val="5319"/>
                </a:lnSpc>
                <a:spcBef>
                  <a:spcPct val="0"/>
                </a:spcBef>
              </a:pPr>
              <a:r>
                <a:rPr lang="en-US" sz="3799">
                  <a:solidFill>
                    <a:srgbClr val="FFFFFF"/>
                  </a:solidFill>
                  <a:latin typeface="Canva Sans"/>
                  <a:ea typeface="Canva Sans"/>
                  <a:cs typeface="Canva Sans"/>
                  <a:sym typeface="Canva Sans"/>
                </a:rPr>
                <a:t>RandomForest</a:t>
              </a:r>
            </a:p>
          </p:txBody>
        </p:sp>
      </p:grpSp>
      <p:sp>
        <p:nvSpPr>
          <p:cNvPr id="6" name="Freeform 6"/>
          <p:cNvSpPr/>
          <p:nvPr/>
        </p:nvSpPr>
        <p:spPr>
          <a:xfrm>
            <a:off x="4257776" y="4016977"/>
            <a:ext cx="9506976" cy="5704186"/>
          </a:xfrm>
          <a:custGeom>
            <a:avLst/>
            <a:gdLst/>
            <a:ahLst/>
            <a:cxnLst/>
            <a:rect l="l" t="t" r="r" b="b"/>
            <a:pathLst>
              <a:path w="9506976" h="5704186">
                <a:moveTo>
                  <a:pt x="0" y="0"/>
                </a:moveTo>
                <a:lnTo>
                  <a:pt x="9506976" y="0"/>
                </a:lnTo>
                <a:lnTo>
                  <a:pt x="9506976" y="5704186"/>
                </a:lnTo>
                <a:lnTo>
                  <a:pt x="0" y="5704186"/>
                </a:lnTo>
                <a:lnTo>
                  <a:pt x="0" y="0"/>
                </a:lnTo>
                <a:close/>
              </a:path>
            </a:pathLst>
          </a:custGeom>
          <a:blipFill>
            <a:blip r:embed="rId4"/>
            <a:stretch>
              <a:fillRect/>
            </a:stretch>
          </a:blipFill>
        </p:spPr>
        <p:txBody>
          <a:bodyPr/>
          <a:lstStyle/>
          <a:p>
            <a:endParaRPr lang="en-US" dirty="0"/>
          </a:p>
        </p:txBody>
      </p:sp>
      <p:sp>
        <p:nvSpPr>
          <p:cNvPr id="7" name="TextBox 7"/>
          <p:cNvSpPr txBox="1"/>
          <p:nvPr/>
        </p:nvSpPr>
        <p:spPr>
          <a:xfrm>
            <a:off x="152400" y="-302900"/>
            <a:ext cx="6810202"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2. Related Work </a:t>
            </a:r>
          </a:p>
        </p:txBody>
      </p:sp>
      <p:sp>
        <p:nvSpPr>
          <p:cNvPr id="8" name="TextBox 8"/>
          <p:cNvSpPr txBox="1"/>
          <p:nvPr/>
        </p:nvSpPr>
        <p:spPr>
          <a:xfrm>
            <a:off x="6019800" y="882632"/>
            <a:ext cx="7329770" cy="1024890"/>
          </a:xfrm>
          <a:prstGeom prst="rect">
            <a:avLst/>
          </a:prstGeom>
        </p:spPr>
        <p:txBody>
          <a:bodyPr lIns="0" tIns="0" rIns="0" bIns="0" rtlCol="0" anchor="t">
            <a:spAutoFit/>
          </a:bodyPr>
          <a:lstStyle/>
          <a:p>
            <a:pPr algn="l">
              <a:lnSpc>
                <a:spcPts val="8640"/>
              </a:lnSpc>
              <a:spcBef>
                <a:spcPct val="0"/>
              </a:spcBef>
            </a:pPr>
            <a:r>
              <a:rPr lang="en-US" sz="4800" dirty="0" err="1">
                <a:solidFill>
                  <a:srgbClr val="000000"/>
                </a:solidFill>
                <a:latin typeface="Arimo"/>
                <a:ea typeface="Arimo"/>
                <a:cs typeface="Arimo"/>
                <a:sym typeface="Arimo"/>
              </a:rPr>
              <a:t>Thuật</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toán</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sử</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dụng</a:t>
            </a:r>
            <a:endParaRPr lang="en-US" sz="4800" dirty="0">
              <a:solidFill>
                <a:srgbClr val="000000"/>
              </a:solidFill>
              <a:latin typeface="Arimo"/>
              <a:ea typeface="Arimo"/>
              <a:cs typeface="Arimo"/>
              <a:sym typeface="Arimo"/>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t="-72" b="-72"/>
            </a:stretch>
          </a:blipFill>
        </p:spPr>
        <p:txBody>
          <a:bodyPr/>
          <a:lstStyle/>
          <a:p>
            <a:endParaRPr lang="en-US"/>
          </a:p>
        </p:txBody>
      </p:sp>
      <p:grpSp>
        <p:nvGrpSpPr>
          <p:cNvPr id="3" name="Group 3"/>
          <p:cNvGrpSpPr/>
          <p:nvPr/>
        </p:nvGrpSpPr>
        <p:grpSpPr>
          <a:xfrm>
            <a:off x="5903828" y="2337023"/>
            <a:ext cx="5696578" cy="1543050"/>
            <a:chOff x="0" y="0"/>
            <a:chExt cx="1500333" cy="406400"/>
          </a:xfrm>
        </p:grpSpPr>
        <p:sp>
          <p:nvSpPr>
            <p:cNvPr id="4" name="Freeform 4"/>
            <p:cNvSpPr/>
            <p:nvPr/>
          </p:nvSpPr>
          <p:spPr>
            <a:xfrm>
              <a:off x="0" y="0"/>
              <a:ext cx="1500333" cy="406400"/>
            </a:xfrm>
            <a:custGeom>
              <a:avLst/>
              <a:gdLst/>
              <a:ahLst/>
              <a:cxnLst/>
              <a:rect l="l" t="t" r="r" b="b"/>
              <a:pathLst>
                <a:path w="1500333" h="406400">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76200"/>
              <a:ext cx="1500333" cy="482600"/>
            </a:xfrm>
            <a:prstGeom prst="rect">
              <a:avLst/>
            </a:prstGeom>
          </p:spPr>
          <p:txBody>
            <a:bodyPr lIns="50800" tIns="50800" rIns="50800" bIns="50800" rtlCol="0" anchor="ctr"/>
            <a:lstStyle/>
            <a:p>
              <a:pPr algn="ctr">
                <a:lnSpc>
                  <a:spcPts val="5319"/>
                </a:lnSpc>
                <a:spcBef>
                  <a:spcPct val="0"/>
                </a:spcBef>
              </a:pPr>
              <a:r>
                <a:rPr lang="en-US" sz="3799">
                  <a:solidFill>
                    <a:srgbClr val="FFFFFF"/>
                  </a:solidFill>
                  <a:latin typeface="Canva Sans"/>
                  <a:ea typeface="Canva Sans"/>
                  <a:cs typeface="Canva Sans"/>
                  <a:sym typeface="Canva Sans"/>
                </a:rPr>
                <a:t>XGB</a:t>
              </a:r>
            </a:p>
          </p:txBody>
        </p:sp>
      </p:grpSp>
      <p:sp>
        <p:nvSpPr>
          <p:cNvPr id="6" name="Freeform 6"/>
          <p:cNvSpPr/>
          <p:nvPr/>
        </p:nvSpPr>
        <p:spPr>
          <a:xfrm>
            <a:off x="3493371" y="4175348"/>
            <a:ext cx="11301259" cy="5650629"/>
          </a:xfrm>
          <a:custGeom>
            <a:avLst/>
            <a:gdLst/>
            <a:ahLst/>
            <a:cxnLst/>
            <a:rect l="l" t="t" r="r" b="b"/>
            <a:pathLst>
              <a:path w="11301259" h="5650629">
                <a:moveTo>
                  <a:pt x="0" y="0"/>
                </a:moveTo>
                <a:lnTo>
                  <a:pt x="11301258" y="0"/>
                </a:lnTo>
                <a:lnTo>
                  <a:pt x="11301258" y="5650630"/>
                </a:lnTo>
                <a:lnTo>
                  <a:pt x="0" y="565063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2400" y="-302900"/>
            <a:ext cx="6810202"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2. Related Work </a:t>
            </a:r>
          </a:p>
        </p:txBody>
      </p:sp>
      <p:sp>
        <p:nvSpPr>
          <p:cNvPr id="8" name="TextBox 8"/>
          <p:cNvSpPr txBox="1"/>
          <p:nvPr/>
        </p:nvSpPr>
        <p:spPr>
          <a:xfrm>
            <a:off x="6096000" y="880143"/>
            <a:ext cx="7329770" cy="1024890"/>
          </a:xfrm>
          <a:prstGeom prst="rect">
            <a:avLst/>
          </a:prstGeom>
        </p:spPr>
        <p:txBody>
          <a:bodyPr lIns="0" tIns="0" rIns="0" bIns="0" rtlCol="0" anchor="t">
            <a:spAutoFit/>
          </a:bodyPr>
          <a:lstStyle/>
          <a:p>
            <a:pPr algn="l">
              <a:lnSpc>
                <a:spcPts val="8640"/>
              </a:lnSpc>
              <a:spcBef>
                <a:spcPct val="0"/>
              </a:spcBef>
            </a:pPr>
            <a:r>
              <a:rPr lang="en-US" sz="4800" dirty="0" err="1">
                <a:solidFill>
                  <a:srgbClr val="000000"/>
                </a:solidFill>
                <a:latin typeface="Arimo"/>
                <a:ea typeface="Arimo"/>
                <a:cs typeface="Arimo"/>
                <a:sym typeface="Arimo"/>
              </a:rPr>
              <a:t>Thuật</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toán</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sử</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dụng</a:t>
            </a:r>
            <a:endParaRPr lang="en-US" sz="4800" dirty="0">
              <a:solidFill>
                <a:srgbClr val="000000"/>
              </a:solidFill>
              <a:latin typeface="Arimo"/>
              <a:ea typeface="Arimo"/>
              <a:cs typeface="Arimo"/>
              <a:sym typeface="Arimo"/>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t="-72" b="-72"/>
            </a:stretch>
          </a:blipFill>
        </p:spPr>
        <p:txBody>
          <a:bodyPr/>
          <a:lstStyle/>
          <a:p>
            <a:endParaRPr lang="en-US"/>
          </a:p>
        </p:txBody>
      </p:sp>
      <p:grpSp>
        <p:nvGrpSpPr>
          <p:cNvPr id="3" name="Group 3"/>
          <p:cNvGrpSpPr/>
          <p:nvPr/>
        </p:nvGrpSpPr>
        <p:grpSpPr>
          <a:xfrm>
            <a:off x="5903828" y="2337023"/>
            <a:ext cx="5696578" cy="1543050"/>
            <a:chOff x="0" y="0"/>
            <a:chExt cx="1500333" cy="406400"/>
          </a:xfrm>
        </p:grpSpPr>
        <p:sp>
          <p:nvSpPr>
            <p:cNvPr id="4" name="Freeform 4"/>
            <p:cNvSpPr/>
            <p:nvPr/>
          </p:nvSpPr>
          <p:spPr>
            <a:xfrm>
              <a:off x="0" y="0"/>
              <a:ext cx="1500333" cy="406400"/>
            </a:xfrm>
            <a:custGeom>
              <a:avLst/>
              <a:gdLst/>
              <a:ahLst/>
              <a:cxnLst/>
              <a:rect l="l" t="t" r="r" b="b"/>
              <a:pathLst>
                <a:path w="1500333" h="406400">
                  <a:moveTo>
                    <a:pt x="1297133" y="0"/>
                  </a:moveTo>
                  <a:cubicBezTo>
                    <a:pt x="1409357" y="0"/>
                    <a:pt x="1500333" y="90976"/>
                    <a:pt x="1500333" y="203200"/>
                  </a:cubicBezTo>
                  <a:cubicBezTo>
                    <a:pt x="1500333" y="315424"/>
                    <a:pt x="1409357" y="406400"/>
                    <a:pt x="1297133"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76200"/>
              <a:ext cx="1500333" cy="482600"/>
            </a:xfrm>
            <a:prstGeom prst="rect">
              <a:avLst/>
            </a:prstGeom>
          </p:spPr>
          <p:txBody>
            <a:bodyPr lIns="50800" tIns="50800" rIns="50800" bIns="50800" rtlCol="0" anchor="ctr"/>
            <a:lstStyle/>
            <a:p>
              <a:pPr algn="ctr">
                <a:lnSpc>
                  <a:spcPts val="5319"/>
                </a:lnSpc>
                <a:spcBef>
                  <a:spcPct val="0"/>
                </a:spcBef>
              </a:pPr>
              <a:r>
                <a:rPr lang="en-US" sz="3799">
                  <a:solidFill>
                    <a:srgbClr val="FFFFFF"/>
                  </a:solidFill>
                  <a:latin typeface="Canva Sans"/>
                  <a:ea typeface="Canva Sans"/>
                  <a:cs typeface="Canva Sans"/>
                  <a:sym typeface="Canva Sans"/>
                </a:rPr>
                <a:t>KNN</a:t>
              </a:r>
            </a:p>
          </p:txBody>
        </p:sp>
      </p:grpSp>
      <p:sp>
        <p:nvSpPr>
          <p:cNvPr id="6" name="Freeform 6"/>
          <p:cNvSpPr/>
          <p:nvPr/>
        </p:nvSpPr>
        <p:spPr>
          <a:xfrm>
            <a:off x="5270427" y="4175348"/>
            <a:ext cx="6653662" cy="5407039"/>
          </a:xfrm>
          <a:custGeom>
            <a:avLst/>
            <a:gdLst/>
            <a:ahLst/>
            <a:cxnLst/>
            <a:rect l="l" t="t" r="r" b="b"/>
            <a:pathLst>
              <a:path w="6653662" h="5407039">
                <a:moveTo>
                  <a:pt x="0" y="0"/>
                </a:moveTo>
                <a:lnTo>
                  <a:pt x="6653662" y="0"/>
                </a:lnTo>
                <a:lnTo>
                  <a:pt x="6653662" y="5407040"/>
                </a:lnTo>
                <a:lnTo>
                  <a:pt x="0" y="540704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2400" y="-302900"/>
            <a:ext cx="6810202"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2. Related Work </a:t>
            </a:r>
          </a:p>
        </p:txBody>
      </p:sp>
      <p:sp>
        <p:nvSpPr>
          <p:cNvPr id="8" name="TextBox 8"/>
          <p:cNvSpPr txBox="1"/>
          <p:nvPr/>
        </p:nvSpPr>
        <p:spPr>
          <a:xfrm>
            <a:off x="6096000" y="1036596"/>
            <a:ext cx="7329770" cy="1024890"/>
          </a:xfrm>
          <a:prstGeom prst="rect">
            <a:avLst/>
          </a:prstGeom>
        </p:spPr>
        <p:txBody>
          <a:bodyPr lIns="0" tIns="0" rIns="0" bIns="0" rtlCol="0" anchor="t">
            <a:spAutoFit/>
          </a:bodyPr>
          <a:lstStyle/>
          <a:p>
            <a:pPr algn="l">
              <a:lnSpc>
                <a:spcPts val="8640"/>
              </a:lnSpc>
              <a:spcBef>
                <a:spcPct val="0"/>
              </a:spcBef>
            </a:pPr>
            <a:r>
              <a:rPr lang="en-US" sz="4800" dirty="0" err="1">
                <a:solidFill>
                  <a:srgbClr val="000000"/>
                </a:solidFill>
                <a:latin typeface="Arimo"/>
                <a:ea typeface="Arimo"/>
                <a:cs typeface="Arimo"/>
                <a:sym typeface="Arimo"/>
              </a:rPr>
              <a:t>Thuật</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toán</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sử</a:t>
            </a:r>
            <a:r>
              <a:rPr lang="en-US" sz="4800" dirty="0">
                <a:solidFill>
                  <a:srgbClr val="000000"/>
                </a:solidFill>
                <a:latin typeface="Arimo"/>
                <a:ea typeface="Arimo"/>
                <a:cs typeface="Arimo"/>
                <a:sym typeface="Arimo"/>
              </a:rPr>
              <a:t> </a:t>
            </a:r>
            <a:r>
              <a:rPr lang="en-US" sz="4800" dirty="0" err="1">
                <a:solidFill>
                  <a:srgbClr val="000000"/>
                </a:solidFill>
                <a:latin typeface="Arimo"/>
                <a:ea typeface="Arimo"/>
                <a:cs typeface="Arimo"/>
                <a:sym typeface="Arimo"/>
              </a:rPr>
              <a:t>dụng</a:t>
            </a:r>
            <a:endParaRPr lang="en-US" sz="4800" dirty="0">
              <a:solidFill>
                <a:srgbClr val="000000"/>
              </a:solidFill>
              <a:latin typeface="Arimo"/>
              <a:ea typeface="Arimo"/>
              <a:cs typeface="Arimo"/>
              <a:sym typeface="Arimo"/>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402682" y="4538776"/>
            <a:ext cx="4141929" cy="1776412"/>
            <a:chOff x="0" y="0"/>
            <a:chExt cx="5522572" cy="2368549"/>
          </a:xfrm>
        </p:grpSpPr>
        <p:sp>
          <p:nvSpPr>
            <p:cNvPr id="3" name="Freeform 3"/>
            <p:cNvSpPr/>
            <p:nvPr/>
          </p:nvSpPr>
          <p:spPr>
            <a:xfrm>
              <a:off x="0" y="0"/>
              <a:ext cx="5522595" cy="2368550"/>
            </a:xfrm>
            <a:custGeom>
              <a:avLst/>
              <a:gdLst/>
              <a:ahLst/>
              <a:cxnLst/>
              <a:rect l="l" t="t" r="r" b="b"/>
              <a:pathLst>
                <a:path w="5522595" h="2368550">
                  <a:moveTo>
                    <a:pt x="0" y="0"/>
                  </a:moveTo>
                  <a:lnTo>
                    <a:pt x="4141978" y="0"/>
                  </a:lnTo>
                  <a:lnTo>
                    <a:pt x="5522595" y="1184275"/>
                  </a:lnTo>
                  <a:lnTo>
                    <a:pt x="4141978" y="2368550"/>
                  </a:lnTo>
                  <a:lnTo>
                    <a:pt x="0" y="2368550"/>
                  </a:lnTo>
                  <a:lnTo>
                    <a:pt x="1380617" y="1184275"/>
                  </a:lnTo>
                  <a:lnTo>
                    <a:pt x="0" y="0"/>
                  </a:lnTo>
                  <a:close/>
                </a:path>
              </a:pathLst>
            </a:custGeom>
            <a:solidFill>
              <a:srgbClr val="4F81BD"/>
            </a:solidFill>
          </p:spPr>
          <p:txBody>
            <a:bodyPr/>
            <a:lstStyle/>
            <a:p>
              <a:endParaRPr lang="en-US"/>
            </a:p>
          </p:txBody>
        </p:sp>
      </p:grpSp>
      <p:grpSp>
        <p:nvGrpSpPr>
          <p:cNvPr id="4" name="Group 4"/>
          <p:cNvGrpSpPr/>
          <p:nvPr/>
        </p:nvGrpSpPr>
        <p:grpSpPr>
          <a:xfrm>
            <a:off x="4308729" y="4372237"/>
            <a:ext cx="2847576" cy="1942951"/>
            <a:chOff x="0" y="0"/>
            <a:chExt cx="3796768" cy="2590601"/>
          </a:xfrm>
        </p:grpSpPr>
        <p:sp>
          <p:nvSpPr>
            <p:cNvPr id="5" name="Freeform 5"/>
            <p:cNvSpPr/>
            <p:nvPr/>
          </p:nvSpPr>
          <p:spPr>
            <a:xfrm>
              <a:off x="0" y="0"/>
              <a:ext cx="3796768" cy="2590601"/>
            </a:xfrm>
            <a:custGeom>
              <a:avLst/>
              <a:gdLst/>
              <a:ahLst/>
              <a:cxnLst/>
              <a:rect l="l" t="t" r="r" b="b"/>
              <a:pathLst>
                <a:path w="3796768" h="2590601">
                  <a:moveTo>
                    <a:pt x="0" y="0"/>
                  </a:moveTo>
                  <a:lnTo>
                    <a:pt x="3796768" y="0"/>
                  </a:lnTo>
                  <a:lnTo>
                    <a:pt x="3796768" y="2590601"/>
                  </a:lnTo>
                  <a:lnTo>
                    <a:pt x="0" y="2590601"/>
                  </a:lnTo>
                  <a:close/>
                </a:path>
              </a:pathLst>
            </a:custGeom>
            <a:solidFill>
              <a:srgbClr val="000000">
                <a:alpha val="0"/>
              </a:srgbClr>
            </a:solidFill>
          </p:spPr>
          <p:txBody>
            <a:bodyPr/>
            <a:lstStyle/>
            <a:p>
              <a:endParaRPr lang="en-US"/>
            </a:p>
          </p:txBody>
        </p:sp>
        <p:sp>
          <p:nvSpPr>
            <p:cNvPr id="6" name="TextBox 6"/>
            <p:cNvSpPr txBox="1"/>
            <p:nvPr/>
          </p:nvSpPr>
          <p:spPr>
            <a:xfrm>
              <a:off x="0" y="-57150"/>
              <a:ext cx="3796768" cy="2647751"/>
            </a:xfrm>
            <a:prstGeom prst="rect">
              <a:avLst/>
            </a:prstGeom>
          </p:spPr>
          <p:txBody>
            <a:bodyPr lIns="0" tIns="0" rIns="0" bIns="0" rtlCol="0" anchor="ctr"/>
            <a:lstStyle/>
            <a:p>
              <a:pPr algn="ctr">
                <a:lnSpc>
                  <a:spcPts val="3359"/>
                </a:lnSpc>
              </a:pPr>
              <a:r>
                <a:rPr lang="en-US" sz="2399">
                  <a:solidFill>
                    <a:srgbClr val="FFFFFF"/>
                  </a:solidFill>
                  <a:latin typeface="Arial"/>
                  <a:ea typeface="Arial"/>
                  <a:cs typeface="Arial"/>
                  <a:sym typeface="Arial"/>
                </a:rPr>
                <a:t>Phân tích và khám phá dữ liệu</a:t>
              </a:r>
            </a:p>
          </p:txBody>
        </p:sp>
      </p:grpSp>
      <p:grpSp>
        <p:nvGrpSpPr>
          <p:cNvPr id="7" name="Group 7"/>
          <p:cNvGrpSpPr/>
          <p:nvPr/>
        </p:nvGrpSpPr>
        <p:grpSpPr>
          <a:xfrm>
            <a:off x="6947118" y="4538776"/>
            <a:ext cx="3552825" cy="1776412"/>
            <a:chOff x="0" y="0"/>
            <a:chExt cx="4737100" cy="2368549"/>
          </a:xfrm>
        </p:grpSpPr>
        <p:sp>
          <p:nvSpPr>
            <p:cNvPr id="8" name="Freeform 8"/>
            <p:cNvSpPr/>
            <p:nvPr/>
          </p:nvSpPr>
          <p:spPr>
            <a:xfrm>
              <a:off x="0" y="0"/>
              <a:ext cx="4737100" cy="2368550"/>
            </a:xfrm>
            <a:custGeom>
              <a:avLst/>
              <a:gdLst/>
              <a:ahLst/>
              <a:cxnLst/>
              <a:rect l="l" t="t" r="r" b="b"/>
              <a:pathLst>
                <a:path w="4737100" h="236855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txBody>
            <a:bodyPr/>
            <a:lstStyle/>
            <a:p>
              <a:endParaRPr lang="en-US"/>
            </a:p>
          </p:txBody>
        </p:sp>
      </p:grpSp>
      <p:grpSp>
        <p:nvGrpSpPr>
          <p:cNvPr id="9" name="Group 9"/>
          <p:cNvGrpSpPr/>
          <p:nvPr/>
        </p:nvGrpSpPr>
        <p:grpSpPr>
          <a:xfrm>
            <a:off x="7724298" y="4372237"/>
            <a:ext cx="2442567" cy="1942951"/>
            <a:chOff x="0" y="0"/>
            <a:chExt cx="3256756" cy="2590601"/>
          </a:xfrm>
        </p:grpSpPr>
        <p:sp>
          <p:nvSpPr>
            <p:cNvPr id="10" name="Freeform 10"/>
            <p:cNvSpPr/>
            <p:nvPr/>
          </p:nvSpPr>
          <p:spPr>
            <a:xfrm>
              <a:off x="0" y="0"/>
              <a:ext cx="3256756" cy="2590601"/>
            </a:xfrm>
            <a:custGeom>
              <a:avLst/>
              <a:gdLst/>
              <a:ahLst/>
              <a:cxnLst/>
              <a:rect l="l" t="t" r="r" b="b"/>
              <a:pathLst>
                <a:path w="3256756" h="2590601">
                  <a:moveTo>
                    <a:pt x="0" y="0"/>
                  </a:moveTo>
                  <a:lnTo>
                    <a:pt x="3256756" y="0"/>
                  </a:lnTo>
                  <a:lnTo>
                    <a:pt x="3256756" y="2590601"/>
                  </a:lnTo>
                  <a:lnTo>
                    <a:pt x="0" y="2590601"/>
                  </a:lnTo>
                  <a:close/>
                </a:path>
              </a:pathLst>
            </a:custGeom>
            <a:solidFill>
              <a:srgbClr val="000000">
                <a:alpha val="0"/>
              </a:srgbClr>
            </a:solidFill>
          </p:spPr>
          <p:txBody>
            <a:bodyPr/>
            <a:lstStyle/>
            <a:p>
              <a:endParaRPr lang="en-US"/>
            </a:p>
          </p:txBody>
        </p:sp>
        <p:sp>
          <p:nvSpPr>
            <p:cNvPr id="11" name="TextBox 11"/>
            <p:cNvSpPr txBox="1"/>
            <p:nvPr/>
          </p:nvSpPr>
          <p:spPr>
            <a:xfrm>
              <a:off x="0" y="-57150"/>
              <a:ext cx="3256756" cy="2647751"/>
            </a:xfrm>
            <a:prstGeom prst="rect">
              <a:avLst/>
            </a:prstGeom>
          </p:spPr>
          <p:txBody>
            <a:bodyPr lIns="0" tIns="0" rIns="0" bIns="0" rtlCol="0" anchor="ctr"/>
            <a:lstStyle/>
            <a:p>
              <a:pPr algn="ctr">
                <a:lnSpc>
                  <a:spcPts val="3359"/>
                </a:lnSpc>
              </a:pPr>
              <a:r>
                <a:rPr lang="en-US" sz="2399">
                  <a:solidFill>
                    <a:srgbClr val="FFFFFF"/>
                  </a:solidFill>
                  <a:latin typeface="Arial"/>
                  <a:ea typeface="Arial"/>
                  <a:cs typeface="Arial"/>
                  <a:sym typeface="Arial"/>
                </a:rPr>
                <a:t>Xử lí dữ liệu và</a:t>
              </a:r>
            </a:p>
            <a:p>
              <a:pPr algn="ctr">
                <a:lnSpc>
                  <a:spcPts val="3359"/>
                </a:lnSpc>
              </a:pPr>
              <a:r>
                <a:rPr lang="en-US" sz="2399">
                  <a:solidFill>
                    <a:srgbClr val="FFFFFF"/>
                  </a:solidFill>
                  <a:latin typeface="Arial"/>
                  <a:ea typeface="Arial"/>
                  <a:cs typeface="Arial"/>
                  <a:sym typeface="Arial"/>
                </a:rPr>
                <a:t>chọn đặc trưng</a:t>
              </a:r>
            </a:p>
          </p:txBody>
        </p:sp>
      </p:grpSp>
      <p:grpSp>
        <p:nvGrpSpPr>
          <p:cNvPr id="12" name="Group 12"/>
          <p:cNvGrpSpPr/>
          <p:nvPr/>
        </p:nvGrpSpPr>
        <p:grpSpPr>
          <a:xfrm>
            <a:off x="9971189" y="4538776"/>
            <a:ext cx="3729807" cy="1776412"/>
            <a:chOff x="0" y="0"/>
            <a:chExt cx="4973076" cy="2368549"/>
          </a:xfrm>
        </p:grpSpPr>
        <p:sp>
          <p:nvSpPr>
            <p:cNvPr id="13" name="Freeform 13"/>
            <p:cNvSpPr/>
            <p:nvPr/>
          </p:nvSpPr>
          <p:spPr>
            <a:xfrm>
              <a:off x="0" y="0"/>
              <a:ext cx="4973066" cy="2368550"/>
            </a:xfrm>
            <a:custGeom>
              <a:avLst/>
              <a:gdLst/>
              <a:ahLst/>
              <a:cxnLst/>
              <a:rect l="l" t="t" r="r" b="b"/>
              <a:pathLst>
                <a:path w="4973066" h="2368550">
                  <a:moveTo>
                    <a:pt x="0" y="0"/>
                  </a:moveTo>
                  <a:lnTo>
                    <a:pt x="3788791" y="0"/>
                  </a:lnTo>
                  <a:lnTo>
                    <a:pt x="4973066" y="1184275"/>
                  </a:lnTo>
                  <a:lnTo>
                    <a:pt x="3788791" y="2368550"/>
                  </a:lnTo>
                  <a:lnTo>
                    <a:pt x="0" y="2368550"/>
                  </a:lnTo>
                  <a:lnTo>
                    <a:pt x="1184275" y="1184275"/>
                  </a:lnTo>
                  <a:lnTo>
                    <a:pt x="0" y="0"/>
                  </a:lnTo>
                  <a:close/>
                </a:path>
              </a:pathLst>
            </a:custGeom>
            <a:solidFill>
              <a:srgbClr val="4F81BD"/>
            </a:solidFill>
          </p:spPr>
          <p:txBody>
            <a:bodyPr/>
            <a:lstStyle/>
            <a:p>
              <a:endParaRPr lang="en-US"/>
            </a:p>
          </p:txBody>
        </p:sp>
      </p:grpSp>
      <p:grpSp>
        <p:nvGrpSpPr>
          <p:cNvPr id="14" name="Group 14"/>
          <p:cNvGrpSpPr/>
          <p:nvPr/>
        </p:nvGrpSpPr>
        <p:grpSpPr>
          <a:xfrm>
            <a:off x="10748370" y="4372237"/>
            <a:ext cx="2619549" cy="1942951"/>
            <a:chOff x="0" y="0"/>
            <a:chExt cx="3492732" cy="2590601"/>
          </a:xfrm>
        </p:grpSpPr>
        <p:sp>
          <p:nvSpPr>
            <p:cNvPr id="15" name="Freeform 15"/>
            <p:cNvSpPr/>
            <p:nvPr/>
          </p:nvSpPr>
          <p:spPr>
            <a:xfrm>
              <a:off x="0" y="0"/>
              <a:ext cx="3492732" cy="2590601"/>
            </a:xfrm>
            <a:custGeom>
              <a:avLst/>
              <a:gdLst/>
              <a:ahLst/>
              <a:cxnLst/>
              <a:rect l="l" t="t" r="r" b="b"/>
              <a:pathLst>
                <a:path w="3492732" h="2590601">
                  <a:moveTo>
                    <a:pt x="0" y="0"/>
                  </a:moveTo>
                  <a:lnTo>
                    <a:pt x="3492732" y="0"/>
                  </a:lnTo>
                  <a:lnTo>
                    <a:pt x="3492732" y="2590601"/>
                  </a:lnTo>
                  <a:lnTo>
                    <a:pt x="0" y="2590601"/>
                  </a:lnTo>
                  <a:close/>
                </a:path>
              </a:pathLst>
            </a:custGeom>
            <a:solidFill>
              <a:srgbClr val="000000">
                <a:alpha val="0"/>
              </a:srgbClr>
            </a:solidFill>
          </p:spPr>
          <p:txBody>
            <a:bodyPr/>
            <a:lstStyle/>
            <a:p>
              <a:endParaRPr lang="en-US"/>
            </a:p>
          </p:txBody>
        </p:sp>
        <p:sp>
          <p:nvSpPr>
            <p:cNvPr id="16" name="TextBox 16"/>
            <p:cNvSpPr txBox="1"/>
            <p:nvPr/>
          </p:nvSpPr>
          <p:spPr>
            <a:xfrm>
              <a:off x="0" y="-57150"/>
              <a:ext cx="3492732" cy="2647751"/>
            </a:xfrm>
            <a:prstGeom prst="rect">
              <a:avLst/>
            </a:prstGeom>
          </p:spPr>
          <p:txBody>
            <a:bodyPr lIns="0" tIns="0" rIns="0" bIns="0" rtlCol="0" anchor="ctr"/>
            <a:lstStyle/>
            <a:p>
              <a:pPr algn="ctr">
                <a:lnSpc>
                  <a:spcPts val="3359"/>
                </a:lnSpc>
              </a:pPr>
              <a:r>
                <a:rPr lang="en-US" sz="2399">
                  <a:solidFill>
                    <a:srgbClr val="FFFFFF"/>
                  </a:solidFill>
                  <a:latin typeface="Arial"/>
                  <a:ea typeface="Arial"/>
                  <a:cs typeface="Arial"/>
                  <a:sym typeface="Arial"/>
                </a:rPr>
                <a:t>Sử dụng mô hình</a:t>
              </a:r>
            </a:p>
          </p:txBody>
        </p:sp>
      </p:grpSp>
      <p:grpSp>
        <p:nvGrpSpPr>
          <p:cNvPr id="17" name="Group 17"/>
          <p:cNvGrpSpPr/>
          <p:nvPr/>
        </p:nvGrpSpPr>
        <p:grpSpPr>
          <a:xfrm>
            <a:off x="13258800" y="4538776"/>
            <a:ext cx="3552825" cy="1776412"/>
            <a:chOff x="0" y="0"/>
            <a:chExt cx="4737100" cy="2368549"/>
          </a:xfrm>
        </p:grpSpPr>
        <p:sp>
          <p:nvSpPr>
            <p:cNvPr id="18" name="Freeform 18"/>
            <p:cNvSpPr/>
            <p:nvPr/>
          </p:nvSpPr>
          <p:spPr>
            <a:xfrm>
              <a:off x="0" y="0"/>
              <a:ext cx="4737100" cy="2368550"/>
            </a:xfrm>
            <a:custGeom>
              <a:avLst/>
              <a:gdLst/>
              <a:ahLst/>
              <a:cxnLst/>
              <a:rect l="l" t="t" r="r" b="b"/>
              <a:pathLst>
                <a:path w="4737100" h="236855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txBody>
            <a:bodyPr/>
            <a:lstStyle/>
            <a:p>
              <a:endParaRPr lang="en-US"/>
            </a:p>
          </p:txBody>
        </p:sp>
      </p:grpSp>
      <p:grpSp>
        <p:nvGrpSpPr>
          <p:cNvPr id="19" name="Group 19"/>
          <p:cNvGrpSpPr/>
          <p:nvPr/>
        </p:nvGrpSpPr>
        <p:grpSpPr>
          <a:xfrm>
            <a:off x="14035980" y="4329373"/>
            <a:ext cx="2775637" cy="1985815"/>
            <a:chOff x="0" y="-57152"/>
            <a:chExt cx="3700849" cy="2647753"/>
          </a:xfrm>
        </p:grpSpPr>
        <p:sp>
          <p:nvSpPr>
            <p:cNvPr id="20" name="Freeform 20"/>
            <p:cNvSpPr/>
            <p:nvPr/>
          </p:nvSpPr>
          <p:spPr>
            <a:xfrm>
              <a:off x="444093" y="-57152"/>
              <a:ext cx="3256756" cy="2590601"/>
            </a:xfrm>
            <a:custGeom>
              <a:avLst/>
              <a:gdLst/>
              <a:ahLst/>
              <a:cxnLst/>
              <a:rect l="l" t="t" r="r" b="b"/>
              <a:pathLst>
                <a:path w="3256756" h="2590601">
                  <a:moveTo>
                    <a:pt x="0" y="0"/>
                  </a:moveTo>
                  <a:lnTo>
                    <a:pt x="3256756" y="0"/>
                  </a:lnTo>
                  <a:lnTo>
                    <a:pt x="3256756" y="2590601"/>
                  </a:lnTo>
                  <a:lnTo>
                    <a:pt x="0" y="2590601"/>
                  </a:lnTo>
                  <a:close/>
                </a:path>
              </a:pathLst>
            </a:custGeom>
            <a:solidFill>
              <a:srgbClr val="000000">
                <a:alpha val="0"/>
              </a:srgbClr>
            </a:solidFill>
          </p:spPr>
          <p:txBody>
            <a:bodyPr/>
            <a:lstStyle/>
            <a:p>
              <a:endParaRPr lang="en-US"/>
            </a:p>
          </p:txBody>
        </p:sp>
        <p:sp>
          <p:nvSpPr>
            <p:cNvPr id="21" name="TextBox 21"/>
            <p:cNvSpPr txBox="1"/>
            <p:nvPr/>
          </p:nvSpPr>
          <p:spPr>
            <a:xfrm>
              <a:off x="0" y="-57150"/>
              <a:ext cx="3256756" cy="2647751"/>
            </a:xfrm>
            <a:prstGeom prst="rect">
              <a:avLst/>
            </a:prstGeom>
          </p:spPr>
          <p:txBody>
            <a:bodyPr lIns="0" tIns="0" rIns="0" bIns="0" rtlCol="0" anchor="ctr"/>
            <a:lstStyle/>
            <a:p>
              <a:pPr algn="ctr">
                <a:lnSpc>
                  <a:spcPts val="3359"/>
                </a:lnSpc>
              </a:pPr>
              <a:r>
                <a:rPr lang="en-US" sz="2399" dirty="0" err="1">
                  <a:solidFill>
                    <a:srgbClr val="FFFFFF"/>
                  </a:solidFill>
                  <a:latin typeface="Arial"/>
                  <a:ea typeface="Arial"/>
                  <a:cs typeface="Arial"/>
                  <a:sym typeface="Arial"/>
                </a:rPr>
                <a:t>Đánh</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giá</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mô</a:t>
              </a:r>
              <a:r>
                <a:rPr lang="en-US" sz="2399" dirty="0">
                  <a:solidFill>
                    <a:srgbClr val="FFFFFF"/>
                  </a:solidFill>
                  <a:latin typeface="Arial"/>
                  <a:ea typeface="Arial"/>
                  <a:cs typeface="Arial"/>
                  <a:sym typeface="Arial"/>
                </a:rPr>
                <a:t> </a:t>
              </a:r>
              <a:r>
                <a:rPr lang="en-US" sz="2399" dirty="0" err="1">
                  <a:solidFill>
                    <a:srgbClr val="FFFFFF"/>
                  </a:solidFill>
                  <a:latin typeface="Arial"/>
                  <a:ea typeface="Arial"/>
                  <a:cs typeface="Arial"/>
                  <a:sym typeface="Arial"/>
                </a:rPr>
                <a:t>hình</a:t>
              </a:r>
              <a:endParaRPr lang="en-US" sz="2399" dirty="0">
                <a:solidFill>
                  <a:srgbClr val="FFFFFF"/>
                </a:solidFill>
                <a:latin typeface="Arial"/>
                <a:ea typeface="Arial"/>
                <a:cs typeface="Arial"/>
                <a:sym typeface="Arial"/>
              </a:endParaRPr>
            </a:p>
          </p:txBody>
        </p:sp>
      </p:grpSp>
      <p:grpSp>
        <p:nvGrpSpPr>
          <p:cNvPr id="22" name="Group 22"/>
          <p:cNvGrpSpPr/>
          <p:nvPr/>
        </p:nvGrpSpPr>
        <p:grpSpPr>
          <a:xfrm>
            <a:off x="406762" y="4538776"/>
            <a:ext cx="3552825" cy="1776412"/>
            <a:chOff x="0" y="0"/>
            <a:chExt cx="4737100" cy="2368549"/>
          </a:xfrm>
        </p:grpSpPr>
        <p:sp>
          <p:nvSpPr>
            <p:cNvPr id="23" name="Freeform 23"/>
            <p:cNvSpPr/>
            <p:nvPr/>
          </p:nvSpPr>
          <p:spPr>
            <a:xfrm>
              <a:off x="0" y="0"/>
              <a:ext cx="4737100" cy="2368550"/>
            </a:xfrm>
            <a:custGeom>
              <a:avLst/>
              <a:gdLst/>
              <a:ahLst/>
              <a:cxnLst/>
              <a:rect l="l" t="t" r="r" b="b"/>
              <a:pathLst>
                <a:path w="4737100" h="2368550">
                  <a:moveTo>
                    <a:pt x="0" y="0"/>
                  </a:moveTo>
                  <a:lnTo>
                    <a:pt x="3552825" y="0"/>
                  </a:lnTo>
                  <a:lnTo>
                    <a:pt x="4737100" y="1184275"/>
                  </a:lnTo>
                  <a:lnTo>
                    <a:pt x="3552825" y="2368550"/>
                  </a:lnTo>
                  <a:lnTo>
                    <a:pt x="0" y="2368550"/>
                  </a:lnTo>
                  <a:lnTo>
                    <a:pt x="1184275" y="1184275"/>
                  </a:lnTo>
                  <a:lnTo>
                    <a:pt x="0" y="0"/>
                  </a:lnTo>
                  <a:close/>
                </a:path>
              </a:pathLst>
            </a:custGeom>
            <a:solidFill>
              <a:srgbClr val="4F81BD"/>
            </a:solidFill>
          </p:spPr>
          <p:txBody>
            <a:bodyPr/>
            <a:lstStyle/>
            <a:p>
              <a:endParaRPr lang="en-US"/>
            </a:p>
          </p:txBody>
        </p:sp>
      </p:grpSp>
      <p:grpSp>
        <p:nvGrpSpPr>
          <p:cNvPr id="24" name="Group 24"/>
          <p:cNvGrpSpPr/>
          <p:nvPr/>
        </p:nvGrpSpPr>
        <p:grpSpPr>
          <a:xfrm>
            <a:off x="1183942" y="4372237"/>
            <a:ext cx="2442567" cy="1942951"/>
            <a:chOff x="0" y="0"/>
            <a:chExt cx="3256756" cy="2590601"/>
          </a:xfrm>
        </p:grpSpPr>
        <p:sp>
          <p:nvSpPr>
            <p:cNvPr id="25" name="Freeform 25"/>
            <p:cNvSpPr/>
            <p:nvPr/>
          </p:nvSpPr>
          <p:spPr>
            <a:xfrm>
              <a:off x="0" y="0"/>
              <a:ext cx="3256756" cy="2590601"/>
            </a:xfrm>
            <a:custGeom>
              <a:avLst/>
              <a:gdLst/>
              <a:ahLst/>
              <a:cxnLst/>
              <a:rect l="l" t="t" r="r" b="b"/>
              <a:pathLst>
                <a:path w="3256756" h="2590601">
                  <a:moveTo>
                    <a:pt x="0" y="0"/>
                  </a:moveTo>
                  <a:lnTo>
                    <a:pt x="3256756" y="0"/>
                  </a:lnTo>
                  <a:lnTo>
                    <a:pt x="3256756" y="2590601"/>
                  </a:lnTo>
                  <a:lnTo>
                    <a:pt x="0" y="2590601"/>
                  </a:lnTo>
                  <a:close/>
                </a:path>
              </a:pathLst>
            </a:custGeom>
            <a:solidFill>
              <a:srgbClr val="000000">
                <a:alpha val="0"/>
              </a:srgbClr>
            </a:solidFill>
          </p:spPr>
          <p:txBody>
            <a:bodyPr/>
            <a:lstStyle/>
            <a:p>
              <a:endParaRPr lang="en-US"/>
            </a:p>
          </p:txBody>
        </p:sp>
        <p:sp>
          <p:nvSpPr>
            <p:cNvPr id="26" name="TextBox 26"/>
            <p:cNvSpPr txBox="1"/>
            <p:nvPr/>
          </p:nvSpPr>
          <p:spPr>
            <a:xfrm>
              <a:off x="0" y="-57150"/>
              <a:ext cx="3256756" cy="2647751"/>
            </a:xfrm>
            <a:prstGeom prst="rect">
              <a:avLst/>
            </a:prstGeom>
          </p:spPr>
          <p:txBody>
            <a:bodyPr lIns="0" tIns="0" rIns="0" bIns="0" rtlCol="0" anchor="ctr"/>
            <a:lstStyle/>
            <a:p>
              <a:pPr algn="ctr">
                <a:lnSpc>
                  <a:spcPts val="3359"/>
                </a:lnSpc>
              </a:pPr>
              <a:r>
                <a:rPr lang="en-US" sz="2399">
                  <a:solidFill>
                    <a:srgbClr val="FFFFFF"/>
                  </a:solidFill>
                  <a:latin typeface="Arial"/>
                  <a:ea typeface="Arial"/>
                  <a:cs typeface="Arial"/>
                  <a:sym typeface="Arial"/>
                </a:rPr>
                <a:t>Data input</a:t>
              </a:r>
            </a:p>
          </p:txBody>
        </p:sp>
      </p:grpSp>
      <p:sp>
        <p:nvSpPr>
          <p:cNvPr id="27" name="Freeform 27"/>
          <p:cNvSpPr/>
          <p:nvPr/>
        </p:nvSpPr>
        <p:spPr>
          <a:xfrm>
            <a:off x="-53026" y="-22205"/>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sp>
        <p:nvSpPr>
          <p:cNvPr id="28" name="TextBox 28"/>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026" y="-22205"/>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grpSp>
        <p:nvGrpSpPr>
          <p:cNvPr id="3" name="Group 3"/>
          <p:cNvGrpSpPr/>
          <p:nvPr/>
        </p:nvGrpSpPr>
        <p:grpSpPr>
          <a:xfrm>
            <a:off x="7804031" y="1058910"/>
            <a:ext cx="10206841" cy="1304162"/>
            <a:chOff x="0" y="0"/>
            <a:chExt cx="3180633" cy="406400"/>
          </a:xfrm>
        </p:grpSpPr>
        <p:sp>
          <p:nvSpPr>
            <p:cNvPr id="4" name="Freeform 4"/>
            <p:cNvSpPr/>
            <p:nvPr/>
          </p:nvSpPr>
          <p:spPr>
            <a:xfrm>
              <a:off x="0" y="0"/>
              <a:ext cx="3180633" cy="406400"/>
            </a:xfrm>
            <a:custGeom>
              <a:avLst/>
              <a:gdLst/>
              <a:ahLst/>
              <a:cxnLst/>
              <a:rect l="l" t="t" r="r" b="b"/>
              <a:pathLst>
                <a:path w="3180633" h="406400">
                  <a:moveTo>
                    <a:pt x="2977433" y="0"/>
                  </a:moveTo>
                  <a:cubicBezTo>
                    <a:pt x="3089657" y="0"/>
                    <a:pt x="3180633" y="90976"/>
                    <a:pt x="3180633" y="203200"/>
                  </a:cubicBezTo>
                  <a:cubicBezTo>
                    <a:pt x="3180633" y="315424"/>
                    <a:pt x="3089657" y="406400"/>
                    <a:pt x="2977433"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114300"/>
              <a:ext cx="3180633" cy="520700"/>
            </a:xfrm>
            <a:prstGeom prst="rect">
              <a:avLst/>
            </a:prstGeom>
          </p:spPr>
          <p:txBody>
            <a:bodyPr lIns="50800" tIns="50800" rIns="50800" bIns="50800" rtlCol="0" anchor="ctr"/>
            <a:lstStyle/>
            <a:p>
              <a:pPr algn="ctr">
                <a:lnSpc>
                  <a:spcPts val="6719"/>
                </a:lnSpc>
              </a:pPr>
              <a:r>
                <a:rPr lang="en-US" sz="4798">
                  <a:solidFill>
                    <a:srgbClr val="FFFFFF"/>
                  </a:solidFill>
                  <a:latin typeface="Arial"/>
                  <a:ea typeface="Arial"/>
                  <a:cs typeface="Arial"/>
                  <a:sym typeface="Arial"/>
                </a:rPr>
                <a:t>Phân tích và khám phá dữ liệu</a:t>
              </a:r>
            </a:p>
          </p:txBody>
        </p:sp>
      </p:grpSp>
      <p:sp>
        <p:nvSpPr>
          <p:cNvPr id="6" name="Freeform 6"/>
          <p:cNvSpPr/>
          <p:nvPr/>
        </p:nvSpPr>
        <p:spPr>
          <a:xfrm>
            <a:off x="6709613" y="3401264"/>
            <a:ext cx="11301259" cy="5608250"/>
          </a:xfrm>
          <a:custGeom>
            <a:avLst/>
            <a:gdLst/>
            <a:ahLst/>
            <a:cxnLst/>
            <a:rect l="l" t="t" r="r" b="b"/>
            <a:pathLst>
              <a:path w="11301259" h="5608250">
                <a:moveTo>
                  <a:pt x="0" y="0"/>
                </a:moveTo>
                <a:lnTo>
                  <a:pt x="11301259" y="0"/>
                </a:lnTo>
                <a:lnTo>
                  <a:pt x="11301259" y="5608250"/>
                </a:lnTo>
                <a:lnTo>
                  <a:pt x="0" y="560825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id="8" name="TextBox 8"/>
          <p:cNvSpPr txBox="1"/>
          <p:nvPr/>
        </p:nvSpPr>
        <p:spPr>
          <a:xfrm>
            <a:off x="163830" y="3151375"/>
            <a:ext cx="6058056" cy="6512519"/>
          </a:xfrm>
          <a:prstGeom prst="rect">
            <a:avLst/>
          </a:prstGeom>
        </p:spPr>
        <p:txBody>
          <a:bodyPr lIns="0" tIns="0" rIns="0" bIns="0" rtlCol="0" anchor="t">
            <a:spAutoFit/>
          </a:bodyPr>
          <a:lstStyle/>
          <a:p>
            <a:pPr marL="669071" lvl="1" indent="-334535" algn="l">
              <a:lnSpc>
                <a:spcPts val="4339"/>
              </a:lnSpc>
              <a:buFont typeface="Arial"/>
              <a:buChar char="•"/>
            </a:pPr>
            <a:r>
              <a:rPr lang="en-US" sz="3098" dirty="0" err="1">
                <a:solidFill>
                  <a:srgbClr val="000000"/>
                </a:solidFill>
                <a:latin typeface="Arial"/>
                <a:ea typeface="Arial"/>
                <a:cs typeface="Arial"/>
                <a:sym typeface="Arial"/>
              </a:rPr>
              <a:t>Tập</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dữ</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liệu</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có</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sự</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mất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cân</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bằng</a:t>
            </a:r>
            <a:r>
              <a:rPr lang="en-US" sz="3098" dirty="0">
                <a:solidFill>
                  <a:srgbClr val="000000"/>
                </a:solidFill>
                <a:latin typeface="Arial"/>
                <a:ea typeface="Arial"/>
                <a:cs typeface="Arial"/>
                <a:sym typeface="Arial"/>
              </a:rPr>
              <a:t> (imbalance) </a:t>
            </a:r>
            <a:r>
              <a:rPr lang="en-US" sz="3098" dirty="0" err="1">
                <a:solidFill>
                  <a:srgbClr val="000000"/>
                </a:solidFill>
                <a:latin typeface="Arial"/>
                <a:ea typeface="Arial"/>
                <a:cs typeface="Arial"/>
                <a:sym typeface="Arial"/>
              </a:rPr>
              <a:t>rõ</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rệt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giữa</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các</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lớp</a:t>
            </a:r>
            <a:r>
              <a:rPr lang="en-US" sz="3098" dirty="0">
                <a:solidFill>
                  <a:srgbClr val="000000"/>
                </a:solidFill>
                <a:latin typeface="Arial"/>
                <a:ea typeface="Arial"/>
                <a:cs typeface="Arial"/>
                <a:sym typeface="Arial"/>
              </a:rPr>
              <a:t>.</a:t>
            </a:r>
          </a:p>
          <a:p>
            <a:pPr marL="669071" lvl="1" indent="-334535" algn="l">
              <a:lnSpc>
                <a:spcPts val="4339"/>
              </a:lnSpc>
              <a:buFont typeface="Arial"/>
              <a:buChar char="•"/>
            </a:pPr>
            <a:r>
              <a:rPr lang="en-US" sz="3098" dirty="0">
                <a:solidFill>
                  <a:srgbClr val="000000"/>
                </a:solidFill>
                <a:latin typeface="Arial"/>
                <a:ea typeface="Arial"/>
                <a:cs typeface="Arial"/>
                <a:sym typeface="Arial"/>
              </a:rPr>
              <a:t>Các </a:t>
            </a:r>
            <a:r>
              <a:rPr lang="en-US" sz="3098" dirty="0" err="1">
                <a:solidFill>
                  <a:srgbClr val="000000"/>
                </a:solidFill>
                <a:latin typeface="Arial"/>
                <a:ea typeface="Arial"/>
                <a:cs typeface="Arial"/>
                <a:sym typeface="Arial"/>
              </a:rPr>
              <a:t>thể</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loại</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như</a:t>
            </a:r>
            <a:r>
              <a:rPr lang="en-US" sz="3098" dirty="0">
                <a:solidFill>
                  <a:srgbClr val="000000"/>
                </a:solidFill>
                <a:latin typeface="Arial"/>
                <a:ea typeface="Arial"/>
                <a:cs typeface="Arial"/>
                <a:sym typeface="Arial"/>
              </a:rPr>
              <a:t> Class 8 </a:t>
            </a:r>
            <a:r>
              <a:rPr lang="en-US" sz="3098" dirty="0" err="1">
                <a:solidFill>
                  <a:srgbClr val="000000"/>
                </a:solidFill>
                <a:latin typeface="Arial"/>
                <a:ea typeface="Arial"/>
                <a:cs typeface="Arial"/>
                <a:sym typeface="Arial"/>
              </a:rPr>
              <a:t>và</a:t>
            </a:r>
            <a:r>
              <a:rPr lang="en-US" sz="3098" dirty="0">
                <a:solidFill>
                  <a:srgbClr val="000000"/>
                </a:solidFill>
                <a:latin typeface="Arial"/>
                <a:ea typeface="Arial"/>
                <a:cs typeface="Arial"/>
                <a:sym typeface="Arial"/>
              </a:rPr>
              <a:t> Class 9 </a:t>
            </a:r>
            <a:r>
              <a:rPr lang="en-US" sz="3098" dirty="0" err="1">
                <a:solidFill>
                  <a:srgbClr val="000000"/>
                </a:solidFill>
                <a:latin typeface="Arial"/>
                <a:ea typeface="Arial"/>
                <a:cs typeface="Arial"/>
                <a:sym typeface="Arial"/>
              </a:rPr>
              <a:t>có</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số</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lượng</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mẫu</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lớn</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nhất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khoảng</a:t>
            </a:r>
            <a:r>
              <a:rPr lang="en-US" sz="3098" dirty="0">
                <a:solidFill>
                  <a:srgbClr val="000000"/>
                </a:solidFill>
                <a:latin typeface="Arial"/>
                <a:ea typeface="Arial"/>
                <a:cs typeface="Arial"/>
                <a:sym typeface="Arial"/>
              </a:rPr>
              <a:t> ~4000), </a:t>
            </a:r>
            <a:r>
              <a:rPr lang="en-US" sz="3098" dirty="0" err="1">
                <a:solidFill>
                  <a:srgbClr val="000000"/>
                </a:solidFill>
                <a:latin typeface="Arial"/>
                <a:ea typeface="Arial"/>
                <a:cs typeface="Arial"/>
                <a:sym typeface="Arial"/>
              </a:rPr>
              <a:t>trong</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khi</a:t>
            </a:r>
            <a:r>
              <a:rPr lang="en-US" sz="3098" dirty="0">
                <a:solidFill>
                  <a:srgbClr val="000000"/>
                </a:solidFill>
                <a:latin typeface="Arial"/>
                <a:ea typeface="Arial"/>
                <a:cs typeface="Arial"/>
                <a:sym typeface="Arial"/>
              </a:rPr>
              <a:t> Class 2 </a:t>
            </a:r>
            <a:r>
              <a:rPr lang="en-US" sz="3098" dirty="0" err="1">
                <a:solidFill>
                  <a:srgbClr val="000000"/>
                </a:solidFill>
                <a:latin typeface="Arial"/>
                <a:ea typeface="Arial"/>
                <a:cs typeface="Arial"/>
                <a:sym typeface="Arial"/>
              </a:rPr>
              <a:t>và</a:t>
            </a:r>
            <a:r>
              <a:rPr lang="en-US" sz="3098" dirty="0">
                <a:solidFill>
                  <a:srgbClr val="000000"/>
                </a:solidFill>
                <a:latin typeface="Arial"/>
                <a:ea typeface="Arial"/>
                <a:cs typeface="Arial"/>
                <a:sym typeface="Arial"/>
              </a:rPr>
              <a:t> Class 3 </a:t>
            </a:r>
            <a:r>
              <a:rPr lang="en-US" sz="3098" dirty="0" err="1">
                <a:solidFill>
                  <a:srgbClr val="000000"/>
                </a:solidFill>
                <a:latin typeface="Arial"/>
                <a:ea typeface="Arial"/>
                <a:cs typeface="Arial"/>
                <a:sym typeface="Arial"/>
              </a:rPr>
              <a:t>có</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ít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mẫu</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nhất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dưới</a:t>
            </a:r>
            <a:r>
              <a:rPr lang="en-US" sz="3098" dirty="0">
                <a:solidFill>
                  <a:srgbClr val="000000"/>
                </a:solidFill>
                <a:latin typeface="Arial"/>
                <a:ea typeface="Arial"/>
                <a:cs typeface="Arial"/>
                <a:sym typeface="Arial"/>
              </a:rPr>
              <a:t> 350).</a:t>
            </a:r>
          </a:p>
          <a:p>
            <a:pPr marL="669071" lvl="1" indent="-334535" algn="l">
              <a:lnSpc>
                <a:spcPts val="4339"/>
              </a:lnSpc>
              <a:buFont typeface="Arial"/>
              <a:buChar char="•"/>
            </a:pPr>
            <a:r>
              <a:rPr lang="en-US" sz="3098" dirty="0" err="1">
                <a:solidFill>
                  <a:srgbClr val="000000"/>
                </a:solidFill>
                <a:latin typeface="Arial"/>
                <a:ea typeface="Arial"/>
                <a:cs typeface="Arial"/>
                <a:sym typeface="Arial"/>
              </a:rPr>
              <a:t>Sự</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mất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cân</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bằng</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này</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có</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thể</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ảnh</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hưởng</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đến</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hiệu</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suất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của</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mô</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hình</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đặc</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biệt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là</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với</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các</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lớp</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có</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ít</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dữ</a:t>
            </a:r>
            <a:r>
              <a:rPr lang="en-US" sz="3098" dirty="0">
                <a:solidFill>
                  <a:srgbClr val="000000"/>
                </a:solidFill>
                <a:latin typeface="Arial"/>
                <a:ea typeface="Arial"/>
                <a:cs typeface="Arial"/>
                <a:sym typeface="Arial"/>
              </a:rPr>
              <a:t> </a:t>
            </a:r>
            <a:r>
              <a:rPr lang="en-US" sz="3098" dirty="0" err="1">
                <a:solidFill>
                  <a:srgbClr val="000000"/>
                </a:solidFill>
                <a:latin typeface="Arial"/>
                <a:ea typeface="Arial"/>
                <a:cs typeface="Arial"/>
                <a:sym typeface="Arial"/>
              </a:rPr>
              <a:t>liệu</a:t>
            </a:r>
            <a:r>
              <a:rPr lang="en-US" sz="3098" dirty="0">
                <a:solidFill>
                  <a:srgbClr val="000000"/>
                </a:solidFill>
                <a:latin typeface="Arial"/>
                <a:ea typeface="Arial"/>
                <a:cs typeface="Arial"/>
                <a:sym typeface="Aria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026" y="-22205"/>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grpSp>
        <p:nvGrpSpPr>
          <p:cNvPr id="3" name="Group 3"/>
          <p:cNvGrpSpPr/>
          <p:nvPr/>
        </p:nvGrpSpPr>
        <p:grpSpPr>
          <a:xfrm>
            <a:off x="9304176" y="1303348"/>
            <a:ext cx="8485469" cy="1325553"/>
            <a:chOff x="0" y="0"/>
            <a:chExt cx="2601552" cy="406400"/>
          </a:xfrm>
        </p:grpSpPr>
        <p:sp>
          <p:nvSpPr>
            <p:cNvPr id="4" name="Freeform 4"/>
            <p:cNvSpPr/>
            <p:nvPr/>
          </p:nvSpPr>
          <p:spPr>
            <a:xfrm>
              <a:off x="0" y="0"/>
              <a:ext cx="2601552" cy="406400"/>
            </a:xfrm>
            <a:custGeom>
              <a:avLst/>
              <a:gdLst/>
              <a:ahLst/>
              <a:cxnLst/>
              <a:rect l="l" t="t" r="r" b="b"/>
              <a:pathLst>
                <a:path w="2601552" h="406400">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5" name="TextBox 5"/>
            <p:cNvSpPr txBox="1"/>
            <p:nvPr/>
          </p:nvSpPr>
          <p:spPr>
            <a:xfrm>
              <a:off x="0" y="-114300"/>
              <a:ext cx="2601552" cy="520700"/>
            </a:xfrm>
            <a:prstGeom prst="rect">
              <a:avLst/>
            </a:prstGeom>
          </p:spPr>
          <p:txBody>
            <a:bodyPr lIns="50800" tIns="50800" rIns="50800" bIns="50800" rtlCol="0" anchor="ctr"/>
            <a:lstStyle/>
            <a:p>
              <a:pPr algn="ctr">
                <a:lnSpc>
                  <a:spcPts val="6719"/>
                </a:lnSpc>
              </a:pPr>
              <a:r>
                <a:rPr lang="en-US" sz="4798">
                  <a:solidFill>
                    <a:srgbClr val="FFFFFF"/>
                  </a:solidFill>
                  <a:latin typeface="Arial"/>
                  <a:ea typeface="Arial"/>
                  <a:cs typeface="Arial"/>
                  <a:sym typeface="Arial"/>
                </a:rPr>
                <a:t>Phân tích và khám phá dữ liệu</a:t>
              </a:r>
            </a:p>
          </p:txBody>
        </p:sp>
      </p:grpSp>
      <p:sp>
        <p:nvSpPr>
          <p:cNvPr id="6" name="Freeform 6"/>
          <p:cNvSpPr/>
          <p:nvPr/>
        </p:nvSpPr>
        <p:spPr>
          <a:xfrm>
            <a:off x="8210914" y="2714623"/>
            <a:ext cx="10077086" cy="7572377"/>
          </a:xfrm>
          <a:custGeom>
            <a:avLst/>
            <a:gdLst/>
            <a:ahLst/>
            <a:cxnLst/>
            <a:rect l="l" t="t" r="r" b="b"/>
            <a:pathLst>
              <a:path w="10077086" h="7572377">
                <a:moveTo>
                  <a:pt x="0" y="0"/>
                </a:moveTo>
                <a:lnTo>
                  <a:pt x="10077086" y="0"/>
                </a:lnTo>
                <a:lnTo>
                  <a:pt x="10077086" y="7572377"/>
                </a:lnTo>
                <a:lnTo>
                  <a:pt x="0" y="7572377"/>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id="8" name="TextBox 8"/>
          <p:cNvSpPr txBox="1"/>
          <p:nvPr/>
        </p:nvSpPr>
        <p:spPr>
          <a:xfrm>
            <a:off x="829596" y="3020723"/>
            <a:ext cx="5965671" cy="5969594"/>
          </a:xfrm>
          <a:prstGeom prst="rect">
            <a:avLst/>
          </a:prstGeom>
        </p:spPr>
        <p:txBody>
          <a:bodyPr lIns="0" tIns="0" rIns="0" bIns="0" rtlCol="0" anchor="t">
            <a:spAutoFit/>
          </a:bodyPr>
          <a:lstStyle/>
          <a:p>
            <a:pPr marL="669071" lvl="1" indent="-334535" algn="l">
              <a:lnSpc>
                <a:spcPts val="4339"/>
              </a:lnSpc>
              <a:buFont typeface="Arial"/>
              <a:buChar char="•"/>
            </a:pPr>
            <a:r>
              <a:rPr lang="en-US" sz="3098">
                <a:solidFill>
                  <a:srgbClr val="000000"/>
                </a:solidFill>
                <a:latin typeface="Arial"/>
                <a:ea typeface="Arial"/>
                <a:cs typeface="Arial"/>
                <a:sym typeface="Arial"/>
              </a:rPr>
              <a:t>Heatmap cho thấy hầu như không có giá trị thiếu (missing values) trong tập dữ liệu.</a:t>
            </a:r>
          </a:p>
          <a:p>
            <a:pPr marL="669071" lvl="1" indent="-334535" algn="l">
              <a:lnSpc>
                <a:spcPts val="4339"/>
              </a:lnSpc>
              <a:buFont typeface="Arial"/>
              <a:buChar char="•"/>
            </a:pPr>
            <a:r>
              <a:rPr lang="en-US" sz="3098">
                <a:solidFill>
                  <a:srgbClr val="000000"/>
                </a:solidFill>
                <a:latin typeface="Arial"/>
                <a:ea typeface="Arial"/>
                <a:cs typeface="Arial"/>
                <a:sym typeface="Arial"/>
              </a:rPr>
              <a:t>Các cột đều có màu tối (giá trị gần 1.0), chứng tỏ dữ liệu rất sạch và đầy đủ.</a:t>
            </a:r>
          </a:p>
          <a:p>
            <a:pPr marL="669071" lvl="1" indent="-334535" algn="l">
              <a:lnSpc>
                <a:spcPts val="4339"/>
              </a:lnSpc>
              <a:buFont typeface="Arial"/>
              <a:buChar char="•"/>
            </a:pPr>
            <a:r>
              <a:rPr lang="en-US" sz="3098">
                <a:solidFill>
                  <a:srgbClr val="000000"/>
                </a:solidFill>
                <a:latin typeface="Arial"/>
                <a:ea typeface="Arial"/>
                <a:cs typeface="Arial"/>
                <a:sym typeface="Arial"/>
              </a:rPr>
              <a:t>Đây là một điểm tích cực, giúp chúng ta có thể tập trung ngay vào việc xây dựng mô hình mà không cần tốn nhiều công sức xử lý dữ liệu thiếu.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4020"/>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sp>
        <p:nvSpPr>
          <p:cNvPr id="3" name="Freeform 3"/>
          <p:cNvSpPr/>
          <p:nvPr/>
        </p:nvSpPr>
        <p:spPr>
          <a:xfrm>
            <a:off x="6899786" y="1489605"/>
            <a:ext cx="11388214" cy="8797395"/>
          </a:xfrm>
          <a:custGeom>
            <a:avLst/>
            <a:gdLst/>
            <a:ahLst/>
            <a:cxnLst/>
            <a:rect l="l" t="t" r="r" b="b"/>
            <a:pathLst>
              <a:path w="11388214" h="8797395">
                <a:moveTo>
                  <a:pt x="0" y="0"/>
                </a:moveTo>
                <a:lnTo>
                  <a:pt x="11388214" y="0"/>
                </a:lnTo>
                <a:lnTo>
                  <a:pt x="11388214" y="8797395"/>
                </a:lnTo>
                <a:lnTo>
                  <a:pt x="0" y="8797395"/>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sp>
        <p:nvSpPr>
          <p:cNvPr id="5" name="TextBox 5"/>
          <p:cNvSpPr txBox="1"/>
          <p:nvPr/>
        </p:nvSpPr>
        <p:spPr>
          <a:xfrm>
            <a:off x="0" y="2532726"/>
            <a:ext cx="7076768" cy="7570465"/>
          </a:xfrm>
          <a:prstGeom prst="rect">
            <a:avLst/>
          </a:prstGeom>
        </p:spPr>
        <p:txBody>
          <a:bodyPr lIns="0" tIns="0" rIns="0" bIns="0" rtlCol="0" anchor="t">
            <a:spAutoFit/>
          </a:bodyPr>
          <a:lstStyle/>
          <a:p>
            <a:pPr marL="518173" lvl="1" indent="-259086" algn="l">
              <a:lnSpc>
                <a:spcPts val="4320"/>
              </a:lnSpc>
              <a:buFont typeface="Arial"/>
              <a:buChar char="•"/>
            </a:pPr>
            <a:r>
              <a:rPr lang="en-US" sz="2400">
                <a:solidFill>
                  <a:srgbClr val="000000"/>
                </a:solidFill>
                <a:latin typeface="Arimo"/>
                <a:ea typeface="Arimo"/>
                <a:cs typeface="Arimo"/>
                <a:sym typeface="Arimo"/>
              </a:rPr>
              <a:t>Tương quan mạnh nhất (Có thể là đa cộng tuyến):</a:t>
            </a:r>
          </a:p>
          <a:p>
            <a:pPr marL="1036346" lvl="2" indent="-345449" algn="l">
              <a:lnSpc>
                <a:spcPts val="4320"/>
              </a:lnSpc>
              <a:buFont typeface="Arial"/>
              <a:buChar char="⚬"/>
            </a:pPr>
            <a:r>
              <a:rPr lang="en-US" sz="2400">
                <a:solidFill>
                  <a:srgbClr val="000000"/>
                </a:solidFill>
                <a:latin typeface="Arimo"/>
                <a:ea typeface="Arimo"/>
                <a:cs typeface="Arimo"/>
                <a:sym typeface="Arimo"/>
              </a:rPr>
              <a:t>energy và loudness có tương quan rất cao (+0.77). Điều này khá hợp lý vì nhạc càng to thường cảm giác càng mạnh mẽ.</a:t>
            </a:r>
          </a:p>
          <a:p>
            <a:pPr marL="1036346" lvl="2" indent="-345449" algn="l">
              <a:lnSpc>
                <a:spcPts val="4320"/>
              </a:lnSpc>
              <a:buFont typeface="Arial"/>
              <a:buChar char="⚬"/>
            </a:pPr>
            <a:r>
              <a:rPr lang="en-US" sz="2400">
                <a:solidFill>
                  <a:srgbClr val="000000"/>
                </a:solidFill>
                <a:latin typeface="Arimo"/>
                <a:ea typeface="Arimo"/>
                <a:cs typeface="Arimo"/>
                <a:sym typeface="Arimo"/>
              </a:rPr>
              <a:t>energy và acousticness có tương quan âm mạnh (-0.75). Nhạc acoustic thường có cảm giác êm dịu, ít năng lượng.</a:t>
            </a:r>
          </a:p>
          <a:p>
            <a:pPr marL="518173" lvl="1" indent="-259086" algn="l">
              <a:lnSpc>
                <a:spcPts val="4320"/>
              </a:lnSpc>
              <a:buFont typeface="Arial"/>
              <a:buChar char="•"/>
            </a:pPr>
            <a:r>
              <a:rPr lang="en-US" sz="2400">
                <a:solidFill>
                  <a:srgbClr val="000000"/>
                </a:solidFill>
                <a:latin typeface="Arimo"/>
                <a:ea typeface="Arimo"/>
                <a:cs typeface="Arimo"/>
                <a:sym typeface="Arimo"/>
              </a:rPr>
              <a:t>Tương quan đáng chú ý khác:</a:t>
            </a:r>
          </a:p>
          <a:p>
            <a:pPr marL="1036346" lvl="2" indent="-345449" algn="l">
              <a:lnSpc>
                <a:spcPts val="4320"/>
              </a:lnSpc>
              <a:buFont typeface="Arial"/>
              <a:buChar char="⚬"/>
            </a:pPr>
            <a:r>
              <a:rPr lang="en-US" sz="2400">
                <a:solidFill>
                  <a:srgbClr val="000000"/>
                </a:solidFill>
                <a:latin typeface="Arimo"/>
                <a:ea typeface="Arimo"/>
                <a:cs typeface="Arimo"/>
                <a:sym typeface="Arimo"/>
              </a:rPr>
              <a:t>danceability và valence (độ tích cực) tương quan khá tốt (+0.44). Nhạc tích cực thường dễ khiến người ta muốn nhảy.</a:t>
            </a:r>
          </a:p>
          <a:p>
            <a:pPr marL="1036346" lvl="2" indent="-345449" algn="l">
              <a:lnSpc>
                <a:spcPts val="4320"/>
              </a:lnSpc>
              <a:buFont typeface="Arial"/>
              <a:buChar char="⚬"/>
            </a:pPr>
            <a:r>
              <a:rPr lang="en-US" sz="2400">
                <a:solidFill>
                  <a:srgbClr val="000000"/>
                </a:solidFill>
                <a:latin typeface="Arimo"/>
                <a:ea typeface="Arimo"/>
                <a:cs typeface="Arimo"/>
                <a:sym typeface="Arimo"/>
              </a:rPr>
              <a:t>loudness và acousticness tương quan âm khá mạnh (-0.61).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205"/>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sp>
        <p:nvSpPr>
          <p:cNvPr id="3" name="TextBox 3"/>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grpSp>
        <p:nvGrpSpPr>
          <p:cNvPr id="4" name="Group 4"/>
          <p:cNvGrpSpPr/>
          <p:nvPr/>
        </p:nvGrpSpPr>
        <p:grpSpPr>
          <a:xfrm>
            <a:off x="9608577" y="1303348"/>
            <a:ext cx="8348535" cy="1304162"/>
            <a:chOff x="0" y="0"/>
            <a:chExt cx="2601552" cy="406400"/>
          </a:xfrm>
        </p:grpSpPr>
        <p:sp>
          <p:nvSpPr>
            <p:cNvPr id="5" name="Freeform 5"/>
            <p:cNvSpPr/>
            <p:nvPr/>
          </p:nvSpPr>
          <p:spPr>
            <a:xfrm>
              <a:off x="0" y="0"/>
              <a:ext cx="2601552" cy="406400"/>
            </a:xfrm>
            <a:custGeom>
              <a:avLst/>
              <a:gdLst/>
              <a:ahLst/>
              <a:cxnLst/>
              <a:rect l="l" t="t" r="r" b="b"/>
              <a:pathLst>
                <a:path w="2601552" h="406400">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6" name="TextBox 6"/>
            <p:cNvSpPr txBox="1"/>
            <p:nvPr/>
          </p:nvSpPr>
          <p:spPr>
            <a:xfrm>
              <a:off x="0" y="-114300"/>
              <a:ext cx="2601552" cy="520700"/>
            </a:xfrm>
            <a:prstGeom prst="rect">
              <a:avLst/>
            </a:prstGeom>
          </p:spPr>
          <p:txBody>
            <a:bodyPr lIns="50800" tIns="50800" rIns="50800" bIns="50800" rtlCol="0" anchor="ctr"/>
            <a:lstStyle/>
            <a:p>
              <a:pPr algn="ctr">
                <a:lnSpc>
                  <a:spcPts val="6719"/>
                </a:lnSpc>
              </a:pPr>
              <a:r>
                <a:rPr lang="en-US" sz="4798">
                  <a:solidFill>
                    <a:srgbClr val="FFFFFF"/>
                  </a:solidFill>
                  <a:latin typeface="Arial"/>
                  <a:ea typeface="Arial"/>
                  <a:cs typeface="Arial"/>
                  <a:sym typeface="Arial"/>
                </a:rPr>
                <a:t>Tiền xử lý dữ liệu</a:t>
              </a:r>
            </a:p>
          </p:txBody>
        </p:sp>
      </p:grpSp>
      <p:sp>
        <p:nvSpPr>
          <p:cNvPr id="7" name="TextBox 7"/>
          <p:cNvSpPr txBox="1"/>
          <p:nvPr/>
        </p:nvSpPr>
        <p:spPr>
          <a:xfrm>
            <a:off x="0" y="3192730"/>
            <a:ext cx="18288000" cy="6349365"/>
          </a:xfrm>
          <a:prstGeom prst="rect">
            <a:avLst/>
          </a:prstGeom>
        </p:spPr>
        <p:txBody>
          <a:bodyPr lIns="0" tIns="0" rIns="0" bIns="0" rtlCol="0" anchor="t">
            <a:spAutoFit/>
          </a:bodyPr>
          <a:lstStyle/>
          <a:p>
            <a:pPr marL="604519" lvl="1" indent="-302260" algn="l">
              <a:lnSpc>
                <a:spcPts val="5039"/>
              </a:lnSpc>
              <a:buFont typeface="Arial"/>
              <a:buChar char="•"/>
            </a:pPr>
            <a:r>
              <a:rPr lang="en-US" sz="2799" dirty="0">
                <a:solidFill>
                  <a:srgbClr val="000000"/>
                </a:solidFill>
                <a:latin typeface="Arimo"/>
                <a:ea typeface="Arimo"/>
                <a:cs typeface="Arimo"/>
                <a:sym typeface="Arimo"/>
              </a:rPr>
              <a:t>1. </a:t>
            </a:r>
            <a:r>
              <a:rPr lang="en-US" sz="2799" dirty="0" err="1">
                <a:solidFill>
                  <a:srgbClr val="000000"/>
                </a:solidFill>
                <a:latin typeface="Arimo"/>
                <a:ea typeface="Arimo"/>
                <a:cs typeface="Arimo"/>
                <a:sym typeface="Arimo"/>
              </a:rPr>
              <a:t>Chuẩn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Hóa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Đơn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Thời</a:t>
            </a:r>
            <a:r>
              <a:rPr lang="en-US" sz="2799" dirty="0">
                <a:solidFill>
                  <a:srgbClr val="000000"/>
                </a:solidFill>
                <a:latin typeface="Arimo"/>
                <a:ea typeface="Arimo"/>
                <a:cs typeface="Arimo"/>
                <a:sym typeface="Arimo"/>
              </a:rPr>
              <a:t> Gian (Duration)</a:t>
            </a:r>
          </a:p>
          <a:p>
            <a:pPr marL="1209039" lvl="2" indent="-403013" algn="l">
              <a:lnSpc>
                <a:spcPts val="5039"/>
              </a:lnSpc>
              <a:buFont typeface="Arial"/>
              <a:buChar char="⚬"/>
            </a:pPr>
            <a:r>
              <a:rPr lang="en-US" sz="2799" dirty="0" err="1">
                <a:solidFill>
                  <a:srgbClr val="000000"/>
                </a:solidFill>
                <a:latin typeface="Arimo"/>
                <a:ea typeface="Arimo"/>
                <a:cs typeface="Arimo"/>
                <a:sym typeface="Arimo"/>
              </a:rPr>
              <a:t>Vấn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đề</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Cột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duration_in</a:t>
            </a:r>
            <a:r>
              <a:rPr lang="en-US" sz="2799" dirty="0">
                <a:solidFill>
                  <a:srgbClr val="000000"/>
                </a:solidFill>
                <a:latin typeface="Arimo"/>
                <a:ea typeface="Arimo"/>
                <a:cs typeface="Arimo"/>
                <a:sym typeface="Arimo"/>
              </a:rPr>
              <a:t> min/</a:t>
            </a:r>
            <a:r>
              <a:rPr lang="en-US" sz="2799" dirty="0" err="1">
                <a:solidFill>
                  <a:srgbClr val="000000"/>
                </a:solidFill>
                <a:latin typeface="Arimo"/>
                <a:ea typeface="Arimo"/>
                <a:cs typeface="Arimo"/>
                <a:sym typeface="Arimo"/>
              </a:rPr>
              <a:t>ms</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bị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lỗi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lẫn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lộn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giữa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đơn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phút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và</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mili-giây</a:t>
            </a:r>
            <a:r>
              <a:rPr lang="en-US" sz="2799" dirty="0">
                <a:solidFill>
                  <a:srgbClr val="000000"/>
                </a:solidFill>
                <a:latin typeface="Arimo"/>
                <a:ea typeface="Arimo"/>
                <a:cs typeface="Arimo"/>
                <a:sym typeface="Arimo"/>
              </a:rPr>
              <a:t>.</a:t>
            </a:r>
          </a:p>
          <a:p>
            <a:pPr marL="1209039" lvl="2" indent="-403013" algn="l">
              <a:lnSpc>
                <a:spcPts val="5039"/>
              </a:lnSpc>
              <a:buFont typeface="Arial"/>
              <a:buChar char="⚬"/>
            </a:pPr>
            <a:r>
              <a:rPr lang="en-US" sz="2799" dirty="0" err="1">
                <a:solidFill>
                  <a:srgbClr val="000000"/>
                </a:solidFill>
                <a:latin typeface="Arimo"/>
                <a:ea typeface="Arimo"/>
                <a:cs typeface="Arimo"/>
                <a:sym typeface="Arimo"/>
              </a:rPr>
              <a:t>Giải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pháp</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Áp</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dụng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quy</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tắc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trị</a:t>
            </a:r>
            <a:r>
              <a:rPr lang="en-US" sz="2799" dirty="0">
                <a:solidFill>
                  <a:srgbClr val="000000"/>
                </a:solidFill>
                <a:latin typeface="Arimo"/>
                <a:ea typeface="Arimo"/>
                <a:cs typeface="Arimo"/>
                <a:sym typeface="Arimo"/>
              </a:rPr>
              <a:t> &lt; 30 </a:t>
            </a:r>
            <a:r>
              <a:rPr lang="en-US" sz="2799" dirty="0" err="1">
                <a:solidFill>
                  <a:srgbClr val="000000"/>
                </a:solidFill>
                <a:latin typeface="Arimo"/>
                <a:ea typeface="Arimo"/>
                <a:cs typeface="Arimo"/>
                <a:sym typeface="Arimo"/>
              </a:rPr>
              <a:t>được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coi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là</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phút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và</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quy</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đổi</a:t>
            </a:r>
            <a:r>
              <a:rPr lang="en-US" sz="2799" dirty="0">
                <a:solidFill>
                  <a:srgbClr val="000000"/>
                </a:solidFill>
                <a:latin typeface="Arimo"/>
                <a:ea typeface="Arimo"/>
                <a:cs typeface="Arimo"/>
                <a:sym typeface="Arimo"/>
              </a:rPr>
              <a:t> sang </a:t>
            </a:r>
            <a:r>
              <a:rPr lang="en-US" sz="2799" dirty="0" err="1">
                <a:solidFill>
                  <a:srgbClr val="000000"/>
                </a:solidFill>
                <a:latin typeface="Arimo"/>
                <a:ea typeface="Arimo"/>
                <a:cs typeface="Arimo"/>
                <a:sym typeface="Arimo"/>
              </a:rPr>
              <a:t>ms.</a:t>
            </a:r>
            <a:endParaRPr lang="en-US" sz="2799" dirty="0">
              <a:solidFill>
                <a:srgbClr val="000000"/>
              </a:solidFill>
              <a:latin typeface="Arimo"/>
              <a:ea typeface="Arimo"/>
              <a:cs typeface="Arimo"/>
              <a:sym typeface="Arimo"/>
            </a:endParaRPr>
          </a:p>
          <a:p>
            <a:pPr marL="1209039" lvl="2" indent="-403013" algn="l">
              <a:lnSpc>
                <a:spcPts val="5039"/>
              </a:lnSpc>
              <a:buFont typeface="Arial"/>
              <a:buChar char="⚬"/>
            </a:pPr>
            <a:r>
              <a:rPr lang="en-US" sz="2799" dirty="0" err="1">
                <a:solidFill>
                  <a:srgbClr val="000000"/>
                </a:solidFill>
                <a:latin typeface="Arimo"/>
                <a:ea typeface="Arimo"/>
                <a:cs typeface="Arimo"/>
                <a:sym typeface="Arimo"/>
              </a:rPr>
              <a:t>Tối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ưu</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hóa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Sử</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dụng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phép</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biến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đổi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Logarit</a:t>
            </a:r>
            <a:r>
              <a:rPr lang="en-US" sz="2799" dirty="0">
                <a:solidFill>
                  <a:srgbClr val="000000"/>
                </a:solidFill>
                <a:latin typeface="Arimo"/>
                <a:ea typeface="Arimo"/>
                <a:cs typeface="Arimo"/>
                <a:sym typeface="Arimo"/>
              </a:rPr>
              <a:t> (np.log1p) </a:t>
            </a:r>
            <a:r>
              <a:rPr lang="en-US" sz="2799" dirty="0" err="1">
                <a:solidFill>
                  <a:srgbClr val="000000"/>
                </a:solidFill>
                <a:latin typeface="Arimo"/>
                <a:ea typeface="Arimo"/>
                <a:cs typeface="Arimo"/>
                <a:sym typeface="Arimo"/>
              </a:rPr>
              <a:t>để</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xử</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lý</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phân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phối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lệch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và</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giảm</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ảnh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hưởng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của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ngoại</a:t>
            </a:r>
            <a:r>
              <a:rPr lang="en-US" sz="2799" dirty="0">
                <a:solidFill>
                  <a:srgbClr val="000000"/>
                </a:solidFill>
                <a:latin typeface="Arimo"/>
                <a:ea typeface="Arimo"/>
                <a:cs typeface="Arimo"/>
                <a:sym typeface="Arimo"/>
              </a:rPr>
              <a:t> lai (</a:t>
            </a:r>
            <a:r>
              <a:rPr lang="en-US" sz="2799" dirty="0" err="1">
                <a:solidFill>
                  <a:srgbClr val="000000"/>
                </a:solidFill>
                <a:latin typeface="Arimo"/>
                <a:ea typeface="Arimo"/>
                <a:cs typeface="Arimo"/>
                <a:sym typeface="Arimo"/>
              </a:rPr>
              <a:t>bài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hát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quá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dài</a:t>
            </a:r>
            <a:r>
              <a:rPr lang="en-US" sz="2799" dirty="0">
                <a:solidFill>
                  <a:srgbClr val="000000"/>
                </a:solidFill>
                <a:latin typeface="Arimo"/>
                <a:ea typeface="Arimo"/>
                <a:cs typeface="Arimo"/>
                <a:sym typeface="Arimo"/>
              </a:rPr>
              <a:t>).</a:t>
            </a:r>
          </a:p>
          <a:p>
            <a:pPr marL="604519" lvl="1" indent="-302260" algn="l">
              <a:lnSpc>
                <a:spcPts val="5039"/>
              </a:lnSpc>
              <a:buFont typeface="Arial"/>
              <a:buChar char="•"/>
            </a:pPr>
            <a:r>
              <a:rPr lang="en-US" sz="2799" dirty="0">
                <a:solidFill>
                  <a:srgbClr val="000000"/>
                </a:solidFill>
                <a:latin typeface="Arimo"/>
                <a:ea typeface="Arimo"/>
                <a:cs typeface="Arimo"/>
                <a:sym typeface="Arimo"/>
              </a:rPr>
              <a:t>2. </a:t>
            </a:r>
            <a:r>
              <a:rPr lang="en-US" sz="2799" dirty="0" err="1">
                <a:solidFill>
                  <a:srgbClr val="000000"/>
                </a:solidFill>
                <a:latin typeface="Arimo"/>
                <a:ea typeface="Arimo"/>
                <a:cs typeface="Arimo"/>
                <a:sym typeface="Arimo"/>
              </a:rPr>
              <a:t>Xử</a:t>
            </a:r>
            <a:r>
              <a:rPr lang="en-US" sz="2799" dirty="0">
                <a:solidFill>
                  <a:srgbClr val="000000"/>
                </a:solidFill>
                <a:latin typeface="Arimo"/>
                <a:ea typeface="Arimo"/>
                <a:cs typeface="Arimo"/>
                <a:sym typeface="Arimo"/>
              </a:rPr>
              <a:t> Lý </a:t>
            </a:r>
            <a:r>
              <a:rPr lang="en-US" sz="2799" dirty="0" err="1">
                <a:solidFill>
                  <a:srgbClr val="000000"/>
                </a:solidFill>
                <a:latin typeface="Arimo"/>
                <a:ea typeface="Arimo"/>
                <a:cs typeface="Arimo"/>
                <a:sym typeface="Arimo"/>
              </a:rPr>
              <a:t>Giá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Thiếu</a:t>
            </a:r>
            <a:r>
              <a:rPr lang="en-US" sz="2799" dirty="0">
                <a:solidFill>
                  <a:srgbClr val="000000"/>
                </a:solidFill>
                <a:latin typeface="Arimo"/>
                <a:ea typeface="Arimo"/>
                <a:cs typeface="Arimo"/>
                <a:sym typeface="Arimo"/>
              </a:rPr>
              <a:t> (Missing Values)</a:t>
            </a:r>
          </a:p>
          <a:p>
            <a:pPr marL="1209039" lvl="2" indent="-403013" algn="l">
              <a:lnSpc>
                <a:spcPts val="5039"/>
              </a:lnSpc>
              <a:buFont typeface="Arial"/>
              <a:buChar char="⚬"/>
            </a:pPr>
            <a:r>
              <a:rPr lang="en-US" sz="2799" dirty="0" err="1">
                <a:solidFill>
                  <a:srgbClr val="000000"/>
                </a:solidFill>
                <a:latin typeface="Arimo"/>
                <a:ea typeface="Arimo"/>
                <a:cs typeface="Arimo"/>
                <a:sym typeface="Arimo"/>
              </a:rPr>
              <a:t>instrumentalness</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Điền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trị</a:t>
            </a:r>
            <a:r>
              <a:rPr lang="en-US" sz="2799" dirty="0">
                <a:solidFill>
                  <a:srgbClr val="000000"/>
                </a:solidFill>
                <a:latin typeface="Arimo"/>
                <a:ea typeface="Arimo"/>
                <a:cs typeface="Arimo"/>
                <a:sym typeface="Arimo"/>
              </a:rPr>
              <a:t> 0. (</a:t>
            </a:r>
            <a:r>
              <a:rPr lang="en-US" sz="2799" dirty="0" err="1">
                <a:solidFill>
                  <a:srgbClr val="000000"/>
                </a:solidFill>
                <a:latin typeface="Arimo"/>
                <a:ea typeface="Arimo"/>
                <a:cs typeface="Arimo"/>
                <a:sym typeface="Arimo"/>
              </a:rPr>
              <a:t>Giả</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định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thiếu</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dữ</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liệu</a:t>
            </a:r>
            <a:r>
              <a:rPr lang="en-US" sz="2799" dirty="0">
                <a:solidFill>
                  <a:srgbClr val="000000"/>
                </a:solidFill>
                <a:latin typeface="Arimo"/>
                <a:ea typeface="Arimo"/>
                <a:cs typeface="Arimo"/>
                <a:sym typeface="Arimo"/>
              </a:rPr>
              <a:t> = </a:t>
            </a:r>
            <a:r>
              <a:rPr lang="en-US" sz="2799" dirty="0" err="1">
                <a:solidFill>
                  <a:srgbClr val="000000"/>
                </a:solidFill>
                <a:latin typeface="Arimo"/>
                <a:ea typeface="Arimo"/>
                <a:cs typeface="Arimo"/>
                <a:sym typeface="Arimo"/>
              </a:rPr>
              <a:t>bài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hát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có</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lời</a:t>
            </a:r>
            <a:r>
              <a:rPr lang="en-US" sz="2799" dirty="0">
                <a:solidFill>
                  <a:srgbClr val="000000"/>
                </a:solidFill>
                <a:latin typeface="Arimo"/>
                <a:ea typeface="Arimo"/>
                <a:cs typeface="Arimo"/>
                <a:sym typeface="Arimo"/>
              </a:rPr>
              <a:t>).</a:t>
            </a:r>
          </a:p>
          <a:p>
            <a:pPr marL="1209039" lvl="2" indent="-403013" algn="l">
              <a:lnSpc>
                <a:spcPts val="5039"/>
              </a:lnSpc>
              <a:buFont typeface="Arial"/>
              <a:buChar char="⚬"/>
            </a:pPr>
            <a:r>
              <a:rPr lang="en-US" sz="2799" dirty="0">
                <a:solidFill>
                  <a:srgbClr val="000000"/>
                </a:solidFill>
                <a:latin typeface="Arimo"/>
                <a:ea typeface="Arimo"/>
                <a:cs typeface="Arimo"/>
                <a:sym typeface="Arimo"/>
              </a:rPr>
              <a:t>Các </a:t>
            </a:r>
            <a:r>
              <a:rPr lang="en-US" sz="2799" dirty="0" err="1">
                <a:solidFill>
                  <a:srgbClr val="000000"/>
                </a:solidFill>
                <a:latin typeface="Arimo"/>
                <a:ea typeface="Arimo"/>
                <a:cs typeface="Arimo"/>
                <a:sym typeface="Arimo"/>
              </a:rPr>
              <a:t>cột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số</a:t>
            </a:r>
            <a:r>
              <a:rPr lang="en-US" sz="2799" dirty="0">
                <a:solidFill>
                  <a:srgbClr val="000000"/>
                </a:solidFill>
                <a:latin typeface="Arimo"/>
                <a:ea typeface="Arimo"/>
                <a:cs typeface="Arimo"/>
                <a:sym typeface="Arimo"/>
              </a:rPr>
              <a:t> (Popularity, key): </a:t>
            </a:r>
            <a:r>
              <a:rPr lang="en-US" sz="2799" dirty="0" err="1">
                <a:solidFill>
                  <a:srgbClr val="000000"/>
                </a:solidFill>
                <a:latin typeface="Arimo"/>
                <a:ea typeface="Arimo"/>
                <a:cs typeface="Arimo"/>
                <a:sym typeface="Arimo"/>
              </a:rPr>
              <a:t>Điền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giá</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trị</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trung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vị</a:t>
            </a:r>
            <a:r>
              <a:rPr lang="en-US" sz="2799" dirty="0">
                <a:solidFill>
                  <a:srgbClr val="000000"/>
                </a:solidFill>
                <a:latin typeface="Arimo"/>
                <a:ea typeface="Arimo"/>
                <a:cs typeface="Arimo"/>
                <a:sym typeface="Arimo"/>
              </a:rPr>
              <a:t> (Median) </a:t>
            </a:r>
            <a:r>
              <a:rPr lang="en-US" sz="2799" dirty="0" err="1">
                <a:solidFill>
                  <a:srgbClr val="000000"/>
                </a:solidFill>
                <a:latin typeface="Arimo"/>
                <a:ea typeface="Arimo"/>
                <a:cs typeface="Arimo"/>
                <a:sym typeface="Arimo"/>
              </a:rPr>
              <a:t>để</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tránh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ảnh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hưởng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bởi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ngoại</a:t>
            </a:r>
            <a:r>
              <a:rPr lang="en-US" sz="2799" dirty="0">
                <a:solidFill>
                  <a:srgbClr val="000000"/>
                </a:solidFill>
                <a:latin typeface="Arimo"/>
                <a:ea typeface="Arimo"/>
                <a:cs typeface="Arimo"/>
                <a:sym typeface="Arimo"/>
              </a:rPr>
              <a:t> lai.</a:t>
            </a:r>
          </a:p>
          <a:p>
            <a:pPr marL="604519" lvl="1" indent="-302260" algn="l">
              <a:lnSpc>
                <a:spcPts val="5039"/>
              </a:lnSpc>
              <a:buFont typeface="Arial"/>
              <a:buChar char="•"/>
            </a:pPr>
            <a:r>
              <a:rPr lang="en-US" sz="2799" dirty="0">
                <a:solidFill>
                  <a:srgbClr val="000000"/>
                </a:solidFill>
                <a:latin typeface="Arimo"/>
                <a:ea typeface="Arimo"/>
                <a:cs typeface="Arimo"/>
                <a:sym typeface="Arimo"/>
              </a:rPr>
              <a:t>3. </a:t>
            </a:r>
            <a:r>
              <a:rPr lang="en-US" sz="2799" dirty="0" err="1">
                <a:solidFill>
                  <a:srgbClr val="000000"/>
                </a:solidFill>
                <a:latin typeface="Arimo"/>
                <a:ea typeface="Arimo"/>
                <a:cs typeface="Arimo"/>
                <a:sym typeface="Arimo"/>
              </a:rPr>
              <a:t>Lựa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Chọn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Đặc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Trưng</a:t>
            </a:r>
            <a:r>
              <a:rPr lang="en-US" sz="2799" dirty="0">
                <a:solidFill>
                  <a:srgbClr val="000000"/>
                </a:solidFill>
                <a:latin typeface="Arimo"/>
                <a:ea typeface="Arimo"/>
                <a:cs typeface="Arimo"/>
                <a:sym typeface="Arimo"/>
              </a:rPr>
              <a:t> (Feature Selection)</a:t>
            </a:r>
          </a:p>
          <a:p>
            <a:pPr marL="1209039" lvl="2" indent="-403013" algn="l">
              <a:lnSpc>
                <a:spcPts val="5039"/>
              </a:lnSpc>
              <a:buFont typeface="Arial"/>
              <a:buChar char="⚬"/>
            </a:pPr>
            <a:r>
              <a:rPr lang="en-US" sz="2799" dirty="0">
                <a:solidFill>
                  <a:srgbClr val="000000"/>
                </a:solidFill>
                <a:latin typeface="Arimo"/>
                <a:ea typeface="Arimo"/>
                <a:cs typeface="Arimo"/>
                <a:sym typeface="Arimo"/>
              </a:rPr>
              <a:t>Loại </a:t>
            </a:r>
            <a:r>
              <a:rPr lang="en-US" sz="2799" dirty="0" err="1">
                <a:solidFill>
                  <a:srgbClr val="000000"/>
                </a:solidFill>
                <a:latin typeface="Arimo"/>
                <a:ea typeface="Arimo"/>
                <a:cs typeface="Arimo"/>
                <a:sym typeface="Arimo"/>
              </a:rPr>
              <a:t>bỏ</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cột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không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mang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tính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định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lượng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hoặc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không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có</a:t>
            </a:r>
            <a:r>
              <a:rPr lang="en-US" sz="2799" dirty="0">
                <a:solidFill>
                  <a:srgbClr val="000000"/>
                </a:solidFill>
                <a:latin typeface="Arimo"/>
                <a:ea typeface="Arimo"/>
                <a:cs typeface="Arimo"/>
                <a:sym typeface="Arimo"/>
              </a:rPr>
              <a:t> ý </a:t>
            </a:r>
            <a:r>
              <a:rPr lang="en-US" sz="2799" dirty="0" err="1">
                <a:solidFill>
                  <a:srgbClr val="000000"/>
                </a:solidFill>
                <a:latin typeface="Arimo"/>
                <a:ea typeface="Arimo"/>
                <a:cs typeface="Arimo"/>
                <a:sym typeface="Arimo"/>
              </a:rPr>
              <a:t>nghĩa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phân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loại</a:t>
            </a:r>
            <a:r>
              <a:rPr lang="en-US" sz="2799" dirty="0">
                <a:solidFill>
                  <a:srgbClr val="000000"/>
                </a:solidFill>
                <a:latin typeface="Arimo"/>
                <a:ea typeface="Arimo"/>
                <a:cs typeface="Arimo"/>
                <a:sym typeface="Arimo"/>
              </a:rPr>
              <a:t>: 'Artist Name', 'Track Name'.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0"/>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2">
              <a:extLst>
                <a:ext uri="{96DAC541-7B7A-43D3-8B79-37D633B846F1}">
                  <asvg:svgBlip xmlns:asvg="http://schemas.microsoft.com/office/drawing/2016/SVG/main" r:embed="rId3"/>
                </a:ext>
              </a:extLst>
            </a:blip>
            <a:stretch>
              <a:fillRect t="-24886" b="-24886"/>
            </a:stretch>
          </a:blipFill>
        </p:spPr>
        <p:txBody>
          <a:bodyPr/>
          <a:lstStyle/>
          <a:p>
            <a:endParaRPr lang="en-US"/>
          </a:p>
        </p:txBody>
      </p:sp>
      <p:sp>
        <p:nvSpPr>
          <p:cNvPr id="3" name="TextBox 3"/>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grpSp>
        <p:nvGrpSpPr>
          <p:cNvPr id="4" name="Group 4"/>
          <p:cNvGrpSpPr/>
          <p:nvPr/>
        </p:nvGrpSpPr>
        <p:grpSpPr>
          <a:xfrm>
            <a:off x="9526480" y="794526"/>
            <a:ext cx="8348535" cy="1304162"/>
            <a:chOff x="0" y="0"/>
            <a:chExt cx="2601552" cy="406400"/>
          </a:xfrm>
        </p:grpSpPr>
        <p:sp>
          <p:nvSpPr>
            <p:cNvPr id="5" name="Freeform 5"/>
            <p:cNvSpPr/>
            <p:nvPr/>
          </p:nvSpPr>
          <p:spPr>
            <a:xfrm>
              <a:off x="0" y="0"/>
              <a:ext cx="2601552" cy="406400"/>
            </a:xfrm>
            <a:custGeom>
              <a:avLst/>
              <a:gdLst/>
              <a:ahLst/>
              <a:cxnLst/>
              <a:rect l="l" t="t" r="r" b="b"/>
              <a:pathLst>
                <a:path w="2601552" h="406400">
                  <a:moveTo>
                    <a:pt x="2398352" y="0"/>
                  </a:moveTo>
                  <a:cubicBezTo>
                    <a:pt x="2510576" y="0"/>
                    <a:pt x="2601552" y="90976"/>
                    <a:pt x="2601552" y="203200"/>
                  </a:cubicBezTo>
                  <a:cubicBezTo>
                    <a:pt x="2601552" y="315424"/>
                    <a:pt x="2510576" y="406400"/>
                    <a:pt x="2398352" y="406400"/>
                  </a:cubicBezTo>
                  <a:lnTo>
                    <a:pt x="203200" y="406400"/>
                  </a:lnTo>
                  <a:cubicBezTo>
                    <a:pt x="90976" y="406400"/>
                    <a:pt x="0" y="315424"/>
                    <a:pt x="0" y="203200"/>
                  </a:cubicBezTo>
                  <a:cubicBezTo>
                    <a:pt x="0" y="90976"/>
                    <a:pt x="90976" y="0"/>
                    <a:pt x="203200" y="0"/>
                  </a:cubicBezTo>
                  <a:close/>
                </a:path>
              </a:pathLst>
            </a:custGeom>
            <a:solidFill>
              <a:srgbClr val="2865AB"/>
            </a:solidFill>
          </p:spPr>
          <p:txBody>
            <a:bodyPr/>
            <a:lstStyle/>
            <a:p>
              <a:endParaRPr lang="en-US"/>
            </a:p>
          </p:txBody>
        </p:sp>
        <p:sp>
          <p:nvSpPr>
            <p:cNvPr id="6" name="TextBox 6"/>
            <p:cNvSpPr txBox="1"/>
            <p:nvPr/>
          </p:nvSpPr>
          <p:spPr>
            <a:xfrm>
              <a:off x="0" y="-114300"/>
              <a:ext cx="2601552" cy="520700"/>
            </a:xfrm>
            <a:prstGeom prst="rect">
              <a:avLst/>
            </a:prstGeom>
          </p:spPr>
          <p:txBody>
            <a:bodyPr lIns="50800" tIns="50800" rIns="50800" bIns="50800" rtlCol="0" anchor="ctr"/>
            <a:lstStyle/>
            <a:p>
              <a:pPr algn="ctr">
                <a:lnSpc>
                  <a:spcPts val="6719"/>
                </a:lnSpc>
              </a:pPr>
              <a:r>
                <a:rPr lang="en-US" sz="4798">
                  <a:solidFill>
                    <a:srgbClr val="FFFFFF"/>
                  </a:solidFill>
                  <a:latin typeface="Arial"/>
                  <a:ea typeface="Arial"/>
                  <a:cs typeface="Arial"/>
                  <a:sym typeface="Arial"/>
                </a:rPr>
                <a:t>Chuẩn hóa</a:t>
              </a:r>
            </a:p>
          </p:txBody>
        </p:sp>
      </p:grpSp>
      <p:sp>
        <p:nvSpPr>
          <p:cNvPr id="7" name="TextBox 7"/>
          <p:cNvSpPr txBox="1"/>
          <p:nvPr/>
        </p:nvSpPr>
        <p:spPr>
          <a:xfrm>
            <a:off x="0" y="3924300"/>
            <a:ext cx="18288000" cy="4434840"/>
          </a:xfrm>
          <a:prstGeom prst="rect">
            <a:avLst/>
          </a:prstGeom>
        </p:spPr>
        <p:txBody>
          <a:bodyPr lIns="0" tIns="0" rIns="0" bIns="0" rtlCol="0" anchor="t">
            <a:spAutoFit/>
          </a:bodyPr>
          <a:lstStyle/>
          <a:p>
            <a:pPr marL="604519" lvl="1" indent="-302260" algn="l">
              <a:lnSpc>
                <a:spcPts val="5039"/>
              </a:lnSpc>
              <a:buFont typeface="Arial"/>
              <a:buChar char="•"/>
            </a:pPr>
            <a:r>
              <a:rPr lang="en-US" sz="2799" dirty="0">
                <a:solidFill>
                  <a:srgbClr val="000000"/>
                </a:solidFill>
                <a:latin typeface="Arimo"/>
                <a:ea typeface="Arimo"/>
                <a:cs typeface="Arimo"/>
                <a:sym typeface="Arimo"/>
              </a:rPr>
              <a:t>Phương </a:t>
            </a:r>
            <a:r>
              <a:rPr lang="en-US" sz="2799" dirty="0" err="1">
                <a:solidFill>
                  <a:srgbClr val="000000"/>
                </a:solidFill>
                <a:latin typeface="Arimo"/>
                <a:ea typeface="Arimo"/>
                <a:cs typeface="Arimo"/>
                <a:sym typeface="Arimo"/>
              </a:rPr>
              <a:t>pháp</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StandardScaler</a:t>
            </a:r>
            <a:endParaRPr lang="en-US" sz="2799" dirty="0">
              <a:solidFill>
                <a:srgbClr val="000000"/>
              </a:solidFill>
              <a:latin typeface="Arimo"/>
              <a:ea typeface="Arimo"/>
              <a:cs typeface="Arimo"/>
              <a:sym typeface="Arimo"/>
            </a:endParaRPr>
          </a:p>
          <a:p>
            <a:pPr marL="604519" lvl="1" indent="-302260" algn="l">
              <a:lnSpc>
                <a:spcPts val="5039"/>
              </a:lnSpc>
              <a:buFont typeface="Arial"/>
              <a:buChar char="•"/>
            </a:pPr>
            <a:r>
              <a:rPr lang="en-US" sz="2799" dirty="0" err="1">
                <a:solidFill>
                  <a:srgbClr val="000000"/>
                </a:solidFill>
                <a:latin typeface="Arimo"/>
                <a:ea typeface="Arimo"/>
                <a:cs typeface="Arimo"/>
                <a:sym typeface="Arimo"/>
              </a:rPr>
              <a:t>Mục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tiêu</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Đưa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tất</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cả</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đặc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trưng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về</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cùng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một</a:t>
            </a:r>
            <a:r>
              <a:rPr lang="en-US" sz="2799" dirty="0">
                <a:solidFill>
                  <a:srgbClr val="000000"/>
                </a:solidFill>
                <a:latin typeface="Arimo"/>
                <a:ea typeface="Arimo"/>
                <a:cs typeface="Arimo"/>
                <a:sym typeface="Arimo"/>
              </a:rPr>
              <a:t> thang </a:t>
            </a:r>
            <a:r>
              <a:rPr lang="en-US" sz="2799" dirty="0" err="1">
                <a:solidFill>
                  <a:srgbClr val="000000"/>
                </a:solidFill>
                <a:latin typeface="Arimo"/>
                <a:ea typeface="Arimo"/>
                <a:cs typeface="Arimo"/>
                <a:sym typeface="Arimo"/>
              </a:rPr>
              <a:t>đo</a:t>
            </a:r>
            <a:r>
              <a:rPr lang="en-US" sz="2799" dirty="0">
                <a:solidFill>
                  <a:srgbClr val="000000"/>
                </a:solidFill>
                <a:latin typeface="Arimo"/>
                <a:ea typeface="Arimo"/>
                <a:cs typeface="Arimo"/>
                <a:sym typeface="Arimo"/>
              </a:rPr>
              <a:t> (mean=0, std=1).</a:t>
            </a:r>
          </a:p>
          <a:p>
            <a:pPr marL="604519" lvl="1" indent="-302260" algn="l">
              <a:lnSpc>
                <a:spcPts val="5039"/>
              </a:lnSpc>
              <a:buFont typeface="Arial"/>
              <a:buChar char="•"/>
            </a:pPr>
            <a:r>
              <a:rPr lang="en-US" sz="2799" dirty="0">
                <a:solidFill>
                  <a:srgbClr val="000000"/>
                </a:solidFill>
                <a:latin typeface="Arimo"/>
                <a:ea typeface="Arimo"/>
                <a:cs typeface="Arimo"/>
                <a:sym typeface="Arimo"/>
              </a:rPr>
              <a:t>Lợi </a:t>
            </a:r>
            <a:r>
              <a:rPr lang="en-US" sz="2799" dirty="0" err="1">
                <a:solidFill>
                  <a:srgbClr val="000000"/>
                </a:solidFill>
                <a:latin typeface="Arimo"/>
                <a:ea typeface="Arimo"/>
                <a:cs typeface="Arimo"/>
                <a:sym typeface="Arimo"/>
              </a:rPr>
              <a:t>ích</a:t>
            </a:r>
            <a:r>
              <a:rPr lang="en-US" sz="2799" dirty="0">
                <a:solidFill>
                  <a:srgbClr val="000000"/>
                </a:solidFill>
                <a:latin typeface="Arimo"/>
                <a:ea typeface="Arimo"/>
                <a:cs typeface="Arimo"/>
                <a:sym typeface="Arimo"/>
              </a:rPr>
              <a:t>:</a:t>
            </a:r>
          </a:p>
          <a:p>
            <a:pPr marL="1209039" lvl="2" indent="-403013" algn="l">
              <a:lnSpc>
                <a:spcPts val="5039"/>
              </a:lnSpc>
              <a:buFont typeface="Arial"/>
              <a:buChar char="⚬"/>
            </a:pPr>
            <a:r>
              <a:rPr lang="en-US" sz="2799" dirty="0" err="1">
                <a:solidFill>
                  <a:srgbClr val="000000"/>
                </a:solidFill>
                <a:latin typeface="Arimo"/>
                <a:ea typeface="Arimo"/>
                <a:cs typeface="Arimo"/>
                <a:sym typeface="Arimo"/>
              </a:rPr>
              <a:t>Cực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kỳ</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quan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trọng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cho</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mô</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hình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dựa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trên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khoảng</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như</a:t>
            </a:r>
            <a:r>
              <a:rPr lang="en-US" sz="2799" dirty="0">
                <a:solidFill>
                  <a:srgbClr val="000000"/>
                </a:solidFill>
                <a:latin typeface="Arimo"/>
                <a:ea typeface="Arimo"/>
                <a:cs typeface="Arimo"/>
                <a:sym typeface="Arimo"/>
              </a:rPr>
              <a:t> SVM </a:t>
            </a:r>
            <a:r>
              <a:rPr lang="en-US" sz="2799" dirty="0" err="1">
                <a:solidFill>
                  <a:srgbClr val="000000"/>
                </a:solidFill>
                <a:latin typeface="Arimo"/>
                <a:ea typeface="Arimo"/>
                <a:cs typeface="Arimo"/>
                <a:sym typeface="Arimo"/>
              </a:rPr>
              <a:t>và</a:t>
            </a:r>
            <a:r>
              <a:rPr lang="en-US" sz="2799" dirty="0">
                <a:solidFill>
                  <a:srgbClr val="000000"/>
                </a:solidFill>
                <a:latin typeface="Arimo"/>
                <a:ea typeface="Arimo"/>
                <a:cs typeface="Arimo"/>
                <a:sym typeface="Arimo"/>
              </a:rPr>
              <a:t> KNN.</a:t>
            </a:r>
          </a:p>
          <a:p>
            <a:pPr marL="1209039" lvl="2" indent="-403013" algn="l">
              <a:lnSpc>
                <a:spcPts val="5039"/>
              </a:lnSpc>
              <a:buFont typeface="Arial"/>
              <a:buChar char="⚬"/>
            </a:pPr>
            <a:r>
              <a:rPr lang="en-US" sz="2799" dirty="0" err="1">
                <a:solidFill>
                  <a:srgbClr val="000000"/>
                </a:solidFill>
                <a:latin typeface="Arimo"/>
                <a:ea typeface="Arimo"/>
                <a:cs typeface="Arimo"/>
                <a:sym typeface="Arimo"/>
              </a:rPr>
              <a:t>Giúp</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các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mô</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hình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dựa</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trên</a:t>
            </a:r>
            <a:r>
              <a:rPr lang="en-US" sz="2799" dirty="0">
                <a:solidFill>
                  <a:srgbClr val="000000"/>
                </a:solidFill>
                <a:latin typeface="Arimo"/>
                <a:ea typeface="Arimo"/>
                <a:cs typeface="Arimo"/>
                <a:sym typeface="Arimo"/>
              </a:rPr>
              <a:t> gradient (</a:t>
            </a:r>
            <a:r>
              <a:rPr lang="en-US" sz="2799" dirty="0" err="1">
                <a:solidFill>
                  <a:srgbClr val="000000"/>
                </a:solidFill>
                <a:latin typeface="Arimo"/>
                <a:ea typeface="Arimo"/>
                <a:cs typeface="Arimo"/>
                <a:sym typeface="Arimo"/>
              </a:rPr>
              <a:t>như</a:t>
            </a:r>
            <a:r>
              <a:rPr lang="en-US" sz="2799" dirty="0">
                <a:solidFill>
                  <a:srgbClr val="000000"/>
                </a:solidFill>
                <a:latin typeface="Arimo"/>
                <a:ea typeface="Arimo"/>
                <a:cs typeface="Arimo"/>
                <a:sym typeface="Arimo"/>
              </a:rPr>
              <a:t> Neural Network) </a:t>
            </a:r>
            <a:r>
              <a:rPr lang="en-US" sz="2799" dirty="0" err="1">
                <a:solidFill>
                  <a:srgbClr val="000000"/>
                </a:solidFill>
                <a:latin typeface="Arimo"/>
                <a:ea typeface="Arimo"/>
                <a:cs typeface="Arimo"/>
                <a:sym typeface="Arimo"/>
              </a:rPr>
              <a:t>hội</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tụ</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nhanh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hơn</a:t>
            </a:r>
            <a:r>
              <a:rPr lang="en-US" sz="2799" dirty="0">
                <a:solidFill>
                  <a:srgbClr val="000000"/>
                </a:solidFill>
                <a:latin typeface="Arimo"/>
                <a:ea typeface="Arimo"/>
                <a:cs typeface="Arimo"/>
                <a:sym typeface="Arimo"/>
              </a:rPr>
              <a:t>.</a:t>
            </a:r>
          </a:p>
          <a:p>
            <a:pPr marL="604519" lvl="1" indent="-302260" algn="l">
              <a:lnSpc>
                <a:spcPts val="5039"/>
              </a:lnSpc>
              <a:buFont typeface="Arial"/>
              <a:buChar char="•"/>
            </a:pPr>
            <a:r>
              <a:rPr lang="en-US" sz="2799" dirty="0">
                <a:solidFill>
                  <a:srgbClr val="000000"/>
                </a:solidFill>
                <a:latin typeface="Arimo"/>
                <a:ea typeface="Arimo"/>
                <a:cs typeface="Arimo"/>
                <a:sym typeface="Arimo"/>
              </a:rPr>
              <a:t>Quy </a:t>
            </a:r>
            <a:r>
              <a:rPr lang="en-US" sz="2799" dirty="0" err="1">
                <a:solidFill>
                  <a:srgbClr val="000000"/>
                </a:solidFill>
                <a:latin typeface="Arimo"/>
                <a:ea typeface="Arimo"/>
                <a:cs typeface="Arimo"/>
                <a:sym typeface="Arimo"/>
              </a:rPr>
              <a:t>trình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thực</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hiện</a:t>
            </a:r>
            <a:r>
              <a:rPr lang="en-US" sz="2799" dirty="0">
                <a:solidFill>
                  <a:srgbClr val="000000"/>
                </a:solidFill>
                <a:latin typeface="Arimo"/>
                <a:ea typeface="Arimo"/>
                <a:cs typeface="Arimo"/>
                <a:sym typeface="Arimo"/>
              </a:rPr>
              <a:t>: Fit scaler </a:t>
            </a:r>
            <a:r>
              <a:rPr lang="en-US" sz="2799" dirty="0" err="1">
                <a:solidFill>
                  <a:srgbClr val="000000"/>
                </a:solidFill>
                <a:latin typeface="Arimo"/>
                <a:ea typeface="Arimo"/>
                <a:cs typeface="Arimo"/>
                <a:sym typeface="Arimo"/>
              </a:rPr>
              <a:t>trên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tập</a:t>
            </a:r>
            <a:r>
              <a:rPr lang="en-US" sz="2799" dirty="0">
                <a:solidFill>
                  <a:srgbClr val="000000"/>
                </a:solidFill>
                <a:latin typeface="Arimo"/>
                <a:ea typeface="Arimo"/>
                <a:cs typeface="Arimo"/>
                <a:sym typeface="Arimo"/>
              </a:rPr>
              <a:t> Train </a:t>
            </a:r>
            <a:r>
              <a:rPr lang="en-US" sz="2799" dirty="0" err="1">
                <a:solidFill>
                  <a:srgbClr val="000000"/>
                </a:solidFill>
                <a:latin typeface="Arimo"/>
                <a:ea typeface="Arimo"/>
                <a:cs typeface="Arimo"/>
                <a:sym typeface="Arimo"/>
              </a:rPr>
              <a:t>và</a:t>
            </a:r>
            <a:r>
              <a:rPr lang="en-US" sz="2799" dirty="0">
                <a:solidFill>
                  <a:srgbClr val="000000"/>
                </a:solidFill>
                <a:latin typeface="Arimo"/>
                <a:ea typeface="Arimo"/>
                <a:cs typeface="Arimo"/>
                <a:sym typeface="Arimo"/>
              </a:rPr>
              <a:t> transform </a:t>
            </a:r>
            <a:r>
              <a:rPr lang="en-US" sz="2799" dirty="0" err="1">
                <a:solidFill>
                  <a:srgbClr val="000000"/>
                </a:solidFill>
                <a:latin typeface="Arimo"/>
                <a:ea typeface="Arimo"/>
                <a:cs typeface="Arimo"/>
                <a:sym typeface="Arimo"/>
              </a:rPr>
              <a:t>trên</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cả</a:t>
            </a:r>
            <a:r>
              <a:rPr lang="en-US" sz="2799" dirty="0">
                <a:solidFill>
                  <a:srgbClr val="000000"/>
                </a:solidFill>
                <a:latin typeface="Arimo"/>
                <a:ea typeface="Arimo"/>
                <a:cs typeface="Arimo"/>
                <a:sym typeface="Arimo"/>
              </a:rPr>
              <a:t> Train </a:t>
            </a:r>
            <a:r>
              <a:rPr lang="en-US" sz="2799" dirty="0" err="1">
                <a:solidFill>
                  <a:srgbClr val="000000"/>
                </a:solidFill>
                <a:latin typeface="Arimo"/>
                <a:ea typeface="Arimo"/>
                <a:cs typeface="Arimo"/>
                <a:sym typeface="Arimo"/>
              </a:rPr>
              <a:t>lẫn</a:t>
            </a:r>
            <a:r>
              <a:rPr lang="en-US" sz="2799" dirty="0">
                <a:solidFill>
                  <a:srgbClr val="000000"/>
                </a:solidFill>
                <a:latin typeface="Arimo"/>
                <a:ea typeface="Arimo"/>
                <a:cs typeface="Arimo"/>
                <a:sym typeface="Arimo"/>
              </a:rPr>
              <a:t> Test </a:t>
            </a:r>
            <a:r>
              <a:rPr lang="en-US" sz="2799" dirty="0" err="1">
                <a:solidFill>
                  <a:srgbClr val="000000"/>
                </a:solidFill>
                <a:latin typeface="Arimo"/>
                <a:ea typeface="Arimo"/>
                <a:cs typeface="Arimo"/>
                <a:sym typeface="Arimo"/>
              </a:rPr>
              <a:t>để</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tránh</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rò</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rỉ</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dữ</a:t>
            </a:r>
            <a:r>
              <a:rPr lang="en-US" sz="2799" dirty="0">
                <a:solidFill>
                  <a:srgbClr val="000000"/>
                </a:solidFill>
                <a:latin typeface="Arimo"/>
                <a:ea typeface="Arimo"/>
                <a:cs typeface="Arimo"/>
                <a:sym typeface="Arimo"/>
              </a:rPr>
              <a:t> </a:t>
            </a:r>
            <a:r>
              <a:rPr lang="en-US" sz="2799" dirty="0" err="1">
                <a:solidFill>
                  <a:srgbClr val="000000"/>
                </a:solidFill>
                <a:latin typeface="Arimo"/>
                <a:ea typeface="Arimo"/>
                <a:cs typeface="Arimo"/>
                <a:sym typeface="Arimo"/>
              </a:rPr>
              <a:t>liệu</a:t>
            </a:r>
            <a:r>
              <a:rPr lang="en-US" sz="2799" dirty="0">
                <a:solidFill>
                  <a:srgbClr val="000000"/>
                </a:solidFill>
                <a:latin typeface="Arimo"/>
                <a:ea typeface="Arimo"/>
                <a:cs typeface="Arimo"/>
                <a:sym typeface="Arimo"/>
              </a:rPr>
              <a:t> (Data Leakage).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6800" y="3006360"/>
            <a:ext cx="9874545" cy="5011266"/>
          </a:xfrm>
          <a:prstGeom prst="rect">
            <a:avLst/>
          </a:prstGeom>
        </p:spPr>
        <p:txBody>
          <a:bodyPr lIns="0" tIns="0" rIns="0" bIns="0" rtlCol="0" anchor="t">
            <a:spAutoFit/>
          </a:bodyPr>
          <a:lstStyle/>
          <a:p>
            <a:pPr algn="l">
              <a:lnSpc>
                <a:spcPts val="4759"/>
              </a:lnSpc>
            </a:pPr>
            <a:r>
              <a:rPr lang="en-US" sz="2700" dirty="0" err="1">
                <a:solidFill>
                  <a:srgbClr val="000000"/>
                </a:solidFill>
                <a:latin typeface="Arial"/>
                <a:ea typeface="Arial"/>
                <a:cs typeface="Arial"/>
                <a:sym typeface="Arial"/>
              </a:rPr>
              <a:t>Đánh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bằng</a:t>
            </a:r>
            <a:r>
              <a:rPr lang="en-US" sz="2700" dirty="0">
                <a:solidFill>
                  <a:srgbClr val="000000"/>
                </a:solidFill>
                <a:latin typeface="Arial"/>
                <a:ea typeface="Arial"/>
                <a:cs typeface="Arial"/>
                <a:sym typeface="Arial"/>
              </a:rPr>
              <a:t> K-Fold Cross-Validation: </a:t>
            </a:r>
          </a:p>
          <a:p>
            <a:pPr marL="325755" lvl="1" indent="-162877" algn="l">
              <a:lnSpc>
                <a:spcPts val="4759"/>
              </a:lnSpc>
              <a:buFont typeface="Arial"/>
              <a:buChar char="•"/>
            </a:pPr>
            <a:r>
              <a:rPr lang="en-US" sz="2700" dirty="0" err="1">
                <a:solidFill>
                  <a:srgbClr val="000000"/>
                </a:solidFill>
                <a:latin typeface="Arial"/>
                <a:ea typeface="Arial"/>
                <a:cs typeface="Arial"/>
                <a:sym typeface="Arial"/>
              </a:rPr>
              <a:t>Là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một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kỹ</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thuật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tiêu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chuẩn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dùng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để</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đánh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giá</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hiệu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suất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độ</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ổn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định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của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một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mô</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hình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máy</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học</a:t>
            </a:r>
            <a:r>
              <a:rPr lang="en-US" sz="2700" dirty="0">
                <a:solidFill>
                  <a:srgbClr val="000000"/>
                </a:solidFill>
                <a:latin typeface="Arial"/>
                <a:ea typeface="Arial"/>
                <a:cs typeface="Arial"/>
                <a:sym typeface="Arial"/>
              </a:rPr>
              <a:t>.</a:t>
            </a:r>
          </a:p>
          <a:p>
            <a:pPr marL="337820" lvl="1" indent="-168910" algn="l">
              <a:lnSpc>
                <a:spcPts val="4759"/>
              </a:lnSpc>
              <a:buFont typeface="Arial"/>
              <a:buChar char="•"/>
            </a:pPr>
            <a:r>
              <a:rPr lang="en-US" sz="2799" dirty="0" err="1">
                <a:solidFill>
                  <a:srgbClr val="000000"/>
                </a:solidFill>
                <a:latin typeface="Arial"/>
                <a:ea typeface="Arial"/>
                <a:cs typeface="Arial"/>
                <a:sym typeface="Arial"/>
              </a:rPr>
              <a:t>Mục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đích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chính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của</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nó</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là</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để</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có</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được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một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ước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tính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đáng</a:t>
            </a:r>
            <a:r>
              <a:rPr lang="en-US" sz="2799" dirty="0">
                <a:solidFill>
                  <a:srgbClr val="000000"/>
                </a:solidFill>
                <a:latin typeface="Arial"/>
                <a:ea typeface="Arial"/>
                <a:cs typeface="Arial"/>
                <a:sym typeface="Arial"/>
              </a:rPr>
              <a:t> tin </a:t>
            </a:r>
            <a:r>
              <a:rPr lang="en-US" sz="2799" dirty="0" err="1">
                <a:solidFill>
                  <a:srgbClr val="000000"/>
                </a:solidFill>
                <a:latin typeface="Arial"/>
                <a:ea typeface="Arial"/>
                <a:cs typeface="Arial"/>
                <a:sym typeface="Arial"/>
              </a:rPr>
              <a:t>cậy</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về</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khả</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năng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tổng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quát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hóa</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của</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mô</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hình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trên</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dữ</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liệu</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mới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chưa</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từng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thấy</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đồng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thời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giúp</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phát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hiện</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các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vấn</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đề</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như</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quá</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khớp</a:t>
            </a:r>
            <a:r>
              <a:rPr lang="en-US" sz="2799" dirty="0">
                <a:solidFill>
                  <a:srgbClr val="000000"/>
                </a:solidFill>
                <a:latin typeface="Arial"/>
                <a:ea typeface="Arial"/>
                <a:cs typeface="Arial"/>
                <a:sym typeface="Arial"/>
              </a:rPr>
              <a:t> (overfitting).</a:t>
            </a:r>
          </a:p>
          <a:p>
            <a:pPr marL="337820" lvl="1" indent="-168910" algn="l">
              <a:lnSpc>
                <a:spcPts val="4759"/>
              </a:lnSpc>
            </a:pPr>
            <a:endParaRPr lang="en-US" sz="2799" dirty="0">
              <a:solidFill>
                <a:srgbClr val="000000"/>
              </a:solidFill>
              <a:latin typeface="Arial"/>
              <a:ea typeface="Arial"/>
              <a:cs typeface="Arial"/>
              <a:sym typeface="Arial"/>
            </a:endParaRPr>
          </a:p>
        </p:txBody>
      </p:sp>
      <p:grpSp>
        <p:nvGrpSpPr>
          <p:cNvPr id="3" name="Group 3"/>
          <p:cNvGrpSpPr/>
          <p:nvPr/>
        </p:nvGrpSpPr>
        <p:grpSpPr>
          <a:xfrm>
            <a:off x="9629632" y="1157884"/>
            <a:ext cx="8193983" cy="1024891"/>
            <a:chOff x="0" y="0"/>
            <a:chExt cx="10925311" cy="1366521"/>
          </a:xfrm>
        </p:grpSpPr>
        <p:sp>
          <p:nvSpPr>
            <p:cNvPr id="4" name="Freeform 4"/>
            <p:cNvSpPr/>
            <p:nvPr/>
          </p:nvSpPr>
          <p:spPr>
            <a:xfrm>
              <a:off x="0" y="0"/>
              <a:ext cx="10925428" cy="1366520"/>
            </a:xfrm>
            <a:custGeom>
              <a:avLst/>
              <a:gdLst/>
              <a:ahLst/>
              <a:cxnLst/>
              <a:rect l="l" t="t" r="r" b="b"/>
              <a:pathLst>
                <a:path w="10925428" h="1366520">
                  <a:moveTo>
                    <a:pt x="9877171" y="0"/>
                  </a:moveTo>
                  <a:cubicBezTo>
                    <a:pt x="10456037" y="0"/>
                    <a:pt x="10925428" y="305943"/>
                    <a:pt x="10925428" y="683260"/>
                  </a:cubicBezTo>
                  <a:cubicBezTo>
                    <a:pt x="10925428" y="1060577"/>
                    <a:pt x="10456164" y="1366520"/>
                    <a:pt x="9877171" y="1366520"/>
                  </a:cubicBezTo>
                  <a:lnTo>
                    <a:pt x="1048258" y="1366520"/>
                  </a:lnTo>
                  <a:cubicBezTo>
                    <a:pt x="469265" y="1366520"/>
                    <a:pt x="0" y="1060577"/>
                    <a:pt x="0" y="683260"/>
                  </a:cubicBezTo>
                  <a:cubicBezTo>
                    <a:pt x="0" y="305943"/>
                    <a:pt x="469265" y="0"/>
                    <a:pt x="1048258" y="0"/>
                  </a:cubicBezTo>
                  <a:close/>
                </a:path>
              </a:pathLst>
            </a:custGeom>
            <a:solidFill>
              <a:srgbClr val="4F81BD"/>
            </a:solidFill>
          </p:spPr>
          <p:txBody>
            <a:bodyPr/>
            <a:lstStyle/>
            <a:p>
              <a:endParaRPr lang="en-US"/>
            </a:p>
          </p:txBody>
        </p:sp>
      </p:grpSp>
      <p:grpSp>
        <p:nvGrpSpPr>
          <p:cNvPr id="5" name="Group 5"/>
          <p:cNvGrpSpPr/>
          <p:nvPr/>
        </p:nvGrpSpPr>
        <p:grpSpPr>
          <a:xfrm>
            <a:off x="9601200" y="952500"/>
            <a:ext cx="8193983" cy="1241079"/>
            <a:chOff x="0" y="0"/>
            <a:chExt cx="10925311" cy="1654772"/>
          </a:xfrm>
        </p:grpSpPr>
        <p:sp>
          <p:nvSpPr>
            <p:cNvPr id="6" name="Freeform 6"/>
            <p:cNvSpPr/>
            <p:nvPr/>
          </p:nvSpPr>
          <p:spPr>
            <a:xfrm>
              <a:off x="0" y="0"/>
              <a:ext cx="10925311" cy="1654772"/>
            </a:xfrm>
            <a:custGeom>
              <a:avLst/>
              <a:gdLst/>
              <a:ahLst/>
              <a:cxnLst/>
              <a:rect l="l" t="t" r="r" b="b"/>
              <a:pathLst>
                <a:path w="10925311" h="1654772">
                  <a:moveTo>
                    <a:pt x="0" y="0"/>
                  </a:moveTo>
                  <a:lnTo>
                    <a:pt x="10925311" y="0"/>
                  </a:lnTo>
                  <a:lnTo>
                    <a:pt x="10925311" y="1654772"/>
                  </a:lnTo>
                  <a:lnTo>
                    <a:pt x="0" y="1654772"/>
                  </a:lnTo>
                  <a:close/>
                </a:path>
              </a:pathLst>
            </a:custGeom>
            <a:solidFill>
              <a:srgbClr val="000000">
                <a:alpha val="0"/>
              </a:srgbClr>
            </a:solidFill>
          </p:spPr>
          <p:txBody>
            <a:bodyPr/>
            <a:lstStyle/>
            <a:p>
              <a:endParaRPr lang="en-US"/>
            </a:p>
          </p:txBody>
        </p:sp>
        <p:sp>
          <p:nvSpPr>
            <p:cNvPr id="7" name="TextBox 7"/>
            <p:cNvSpPr txBox="1"/>
            <p:nvPr/>
          </p:nvSpPr>
          <p:spPr>
            <a:xfrm>
              <a:off x="0" y="-114300"/>
              <a:ext cx="10925311" cy="1769072"/>
            </a:xfrm>
            <a:prstGeom prst="rect">
              <a:avLst/>
            </a:prstGeom>
          </p:spPr>
          <p:txBody>
            <a:bodyPr lIns="0" tIns="0" rIns="0" bIns="0" rtlCol="0" anchor="ctr"/>
            <a:lstStyle/>
            <a:p>
              <a:pPr algn="ctr">
                <a:lnSpc>
                  <a:spcPts val="6719"/>
                </a:lnSpc>
              </a:pPr>
              <a:r>
                <a:rPr lang="en-US" sz="4798">
                  <a:solidFill>
                    <a:srgbClr val="FFFFFF"/>
                  </a:solidFill>
                  <a:latin typeface="Arial"/>
                  <a:ea typeface="Arial"/>
                  <a:cs typeface="Arial"/>
                  <a:sym typeface="Arial"/>
                </a:rPr>
                <a:t>Đánh giá mô hình</a:t>
              </a:r>
            </a:p>
          </p:txBody>
        </p:sp>
      </p:grpSp>
      <p:grpSp>
        <p:nvGrpSpPr>
          <p:cNvPr id="8" name="Group 8"/>
          <p:cNvGrpSpPr>
            <a:grpSpLocks noChangeAspect="1"/>
          </p:cNvGrpSpPr>
          <p:nvPr/>
        </p:nvGrpSpPr>
        <p:grpSpPr>
          <a:xfrm>
            <a:off x="11096768" y="4000500"/>
            <a:ext cx="6698415" cy="2743200"/>
            <a:chOff x="0" y="0"/>
            <a:chExt cx="8931220" cy="3657600"/>
          </a:xfrm>
        </p:grpSpPr>
        <p:sp>
          <p:nvSpPr>
            <p:cNvPr id="9" name="Freeform 9"/>
            <p:cNvSpPr/>
            <p:nvPr/>
          </p:nvSpPr>
          <p:spPr>
            <a:xfrm>
              <a:off x="0" y="0"/>
              <a:ext cx="8931275" cy="3657600"/>
            </a:xfrm>
            <a:custGeom>
              <a:avLst/>
              <a:gdLst/>
              <a:ahLst/>
              <a:cxnLst/>
              <a:rect l="l" t="t" r="r" b="b"/>
              <a:pathLst>
                <a:path w="8931275" h="3657600">
                  <a:moveTo>
                    <a:pt x="0" y="0"/>
                  </a:moveTo>
                  <a:lnTo>
                    <a:pt x="8931275" y="0"/>
                  </a:lnTo>
                  <a:lnTo>
                    <a:pt x="8931275" y="3657600"/>
                  </a:lnTo>
                  <a:lnTo>
                    <a:pt x="0" y="3657600"/>
                  </a:lnTo>
                  <a:lnTo>
                    <a:pt x="0" y="0"/>
                  </a:lnTo>
                  <a:close/>
                </a:path>
              </a:pathLst>
            </a:custGeom>
            <a:blipFill>
              <a:blip r:embed="rId2"/>
              <a:stretch>
                <a:fillRect l="-29633" r="-29633"/>
              </a:stretch>
            </a:blipFill>
          </p:spPr>
          <p:txBody>
            <a:bodyPr/>
            <a:lstStyle/>
            <a:p>
              <a:endParaRPr lang="en-US"/>
            </a:p>
          </p:txBody>
        </p:sp>
      </p:grpSp>
      <p:sp>
        <p:nvSpPr>
          <p:cNvPr id="10" name="Freeform 10"/>
          <p:cNvSpPr/>
          <p:nvPr/>
        </p:nvSpPr>
        <p:spPr>
          <a:xfrm>
            <a:off x="-53026" y="-22205"/>
            <a:ext cx="12549825" cy="2651106"/>
          </a:xfrm>
          <a:custGeom>
            <a:avLst/>
            <a:gdLst/>
            <a:ahLst/>
            <a:cxnLst/>
            <a:rect l="l" t="t" r="r" b="b"/>
            <a:pathLst>
              <a:path w="12549825" h="2651106">
                <a:moveTo>
                  <a:pt x="0" y="0"/>
                </a:moveTo>
                <a:lnTo>
                  <a:pt x="12549825" y="0"/>
                </a:lnTo>
                <a:lnTo>
                  <a:pt x="12549825" y="2651106"/>
                </a:lnTo>
                <a:lnTo>
                  <a:pt x="0" y="2651106"/>
                </a:lnTo>
                <a:lnTo>
                  <a:pt x="0" y="0"/>
                </a:lnTo>
                <a:close/>
              </a:path>
            </a:pathLst>
          </a:custGeom>
          <a:blipFill>
            <a:blip r:embed="rId3">
              <a:extLst>
                <a:ext uri="{96DAC541-7B7A-43D3-8B79-37D633B846F1}">
                  <asvg:svgBlip xmlns:asvg="http://schemas.microsoft.com/office/drawing/2016/SVG/main" r:embed="rId4"/>
                </a:ext>
              </a:extLst>
            </a:blip>
            <a:stretch>
              <a:fillRect t="-24886" b="-24886"/>
            </a:stretch>
          </a:blipFill>
        </p:spPr>
        <p:txBody>
          <a:bodyPr/>
          <a:lstStyle/>
          <a:p>
            <a:endParaRPr lang="en-US"/>
          </a:p>
        </p:txBody>
      </p:sp>
      <p:sp>
        <p:nvSpPr>
          <p:cNvPr id="11" name="TextBox 11"/>
          <p:cNvSpPr txBox="1"/>
          <p:nvPr/>
        </p:nvSpPr>
        <p:spPr>
          <a:xfrm>
            <a:off x="163830" y="-261255"/>
            <a:ext cx="8980170" cy="1320165"/>
          </a:xfrm>
          <a:prstGeom prst="rect">
            <a:avLst/>
          </a:prstGeom>
        </p:spPr>
        <p:txBody>
          <a:bodyPr lIns="0" tIns="0" rIns="0" bIns="0" rtlCol="0" anchor="t">
            <a:spAutoFit/>
          </a:bodyPr>
          <a:lstStyle/>
          <a:p>
            <a:pPr algn="just">
              <a:lnSpc>
                <a:spcPts val="8640"/>
              </a:lnSpc>
            </a:pPr>
            <a:r>
              <a:rPr lang="en-US" sz="4800">
                <a:solidFill>
                  <a:srgbClr val="FFFFFF"/>
                </a:solidFill>
                <a:latin typeface="Arimo"/>
                <a:ea typeface="Arimo"/>
                <a:cs typeface="Arimo"/>
                <a:sym typeface="Arimo"/>
              </a:rPr>
              <a:t>3. Proposed methods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2089-85CF-69CF-8B88-E7CD5643DF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41D377-6CEE-352B-48C5-F38C69C5F2DF}"/>
              </a:ext>
            </a:extLst>
          </p:cNvPr>
          <p:cNvSpPr/>
          <p:nvPr/>
        </p:nvSpPr>
        <p:spPr>
          <a:xfrm>
            <a:off x="-53474" y="-3372"/>
            <a:ext cx="14760074" cy="2271454"/>
          </a:xfrm>
          <a:custGeom>
            <a:avLst/>
            <a:gdLst/>
            <a:ahLst/>
            <a:cxnLst/>
            <a:rect l="l" t="t" r="r" b="b"/>
            <a:pathLst>
              <a:path w="14760074" h="2271454">
                <a:moveTo>
                  <a:pt x="0" y="0"/>
                </a:moveTo>
                <a:lnTo>
                  <a:pt x="14760074" y="0"/>
                </a:lnTo>
                <a:lnTo>
                  <a:pt x="14760074" y="2271454"/>
                </a:lnTo>
                <a:lnTo>
                  <a:pt x="0" y="2271454"/>
                </a:lnTo>
                <a:lnTo>
                  <a:pt x="0" y="0"/>
                </a:lnTo>
                <a:close/>
              </a:path>
            </a:pathLst>
          </a:custGeom>
          <a:blipFill>
            <a:blip r:embed="rId2">
              <a:extLst>
                <a:ext uri="{96DAC541-7B7A-43D3-8B79-37D633B846F1}">
                  <asvg:svgBlip xmlns:asvg="http://schemas.microsoft.com/office/drawing/2016/SVG/main" r:embed="rId3"/>
                </a:ext>
              </a:extLst>
            </a:blip>
            <a:stretch>
              <a:fillRect t="-52501" b="-52501"/>
            </a:stretch>
          </a:blipFill>
        </p:spPr>
        <p:txBody>
          <a:bodyPr/>
          <a:lstStyle/>
          <a:p>
            <a:endParaRPr lang="en-US"/>
          </a:p>
        </p:txBody>
      </p:sp>
      <p:grpSp>
        <p:nvGrpSpPr>
          <p:cNvPr id="3" name="Group 3">
            <a:extLst>
              <a:ext uri="{FF2B5EF4-FFF2-40B4-BE49-F238E27FC236}">
                <a16:creationId xmlns:a16="http://schemas.microsoft.com/office/drawing/2014/main" id="{F5B3D75E-504B-9353-70FF-ABCD1D650A4A}"/>
              </a:ext>
            </a:extLst>
          </p:cNvPr>
          <p:cNvGrpSpPr/>
          <p:nvPr/>
        </p:nvGrpSpPr>
        <p:grpSpPr>
          <a:xfrm>
            <a:off x="225236" y="-67595"/>
            <a:ext cx="9154392" cy="1280249"/>
            <a:chOff x="0" y="0"/>
            <a:chExt cx="12205856" cy="1706999"/>
          </a:xfrm>
        </p:grpSpPr>
        <p:sp>
          <p:nvSpPr>
            <p:cNvPr id="4" name="Freeform 4">
              <a:extLst>
                <a:ext uri="{FF2B5EF4-FFF2-40B4-BE49-F238E27FC236}">
                  <a16:creationId xmlns:a16="http://schemas.microsoft.com/office/drawing/2014/main" id="{9FB0769A-85DB-22F6-24B3-0BEBC97A5D81}"/>
                </a:ext>
              </a:extLst>
            </p:cNvPr>
            <p:cNvSpPr/>
            <p:nvPr/>
          </p:nvSpPr>
          <p:spPr>
            <a:xfrm>
              <a:off x="0" y="0"/>
              <a:ext cx="12205856" cy="1706999"/>
            </a:xfrm>
            <a:custGeom>
              <a:avLst/>
              <a:gdLst/>
              <a:ahLst/>
              <a:cxnLst/>
              <a:rect l="l" t="t" r="r" b="b"/>
              <a:pathLst>
                <a:path w="12205856" h="1706999">
                  <a:moveTo>
                    <a:pt x="0" y="0"/>
                  </a:moveTo>
                  <a:lnTo>
                    <a:pt x="12205856" y="0"/>
                  </a:lnTo>
                  <a:lnTo>
                    <a:pt x="12205856" y="1706999"/>
                  </a:lnTo>
                  <a:lnTo>
                    <a:pt x="0" y="1706999"/>
                  </a:lnTo>
                  <a:close/>
                </a:path>
              </a:pathLst>
            </a:custGeom>
            <a:solidFill>
              <a:srgbClr val="000000">
                <a:alpha val="0"/>
              </a:srgbClr>
            </a:solidFill>
          </p:spPr>
          <p:txBody>
            <a:bodyPr/>
            <a:lstStyle/>
            <a:p>
              <a:endParaRPr lang="en-US"/>
            </a:p>
          </p:txBody>
        </p:sp>
        <p:sp>
          <p:nvSpPr>
            <p:cNvPr id="5" name="TextBox 5">
              <a:extLst>
                <a:ext uri="{FF2B5EF4-FFF2-40B4-BE49-F238E27FC236}">
                  <a16:creationId xmlns:a16="http://schemas.microsoft.com/office/drawing/2014/main" id="{964EF621-5031-513C-78D2-5933A7FE5EF9}"/>
                </a:ext>
              </a:extLst>
            </p:cNvPr>
            <p:cNvSpPr txBox="1"/>
            <p:nvPr/>
          </p:nvSpPr>
          <p:spPr>
            <a:xfrm>
              <a:off x="0" y="38100"/>
              <a:ext cx="12205856" cy="1668899"/>
            </a:xfrm>
            <a:prstGeom prst="rect">
              <a:avLst/>
            </a:prstGeom>
          </p:spPr>
          <p:txBody>
            <a:bodyPr lIns="0" tIns="0" rIns="0" bIns="0" rtlCol="0" anchor="ctr"/>
            <a:lstStyle/>
            <a:p>
              <a:pPr algn="l">
                <a:lnSpc>
                  <a:spcPts val="5184"/>
                </a:lnSpc>
              </a:pPr>
              <a:r>
                <a:rPr lang="en-US" sz="4800">
                  <a:solidFill>
                    <a:srgbClr val="FFFFFF"/>
                  </a:solidFill>
                  <a:latin typeface="Arimo"/>
                  <a:ea typeface="Arimo"/>
                  <a:cs typeface="Arimo"/>
                  <a:sym typeface="Arimo"/>
                </a:rPr>
                <a:t>4. Experience and result</a:t>
              </a:r>
            </a:p>
          </p:txBody>
        </p:sp>
      </p:grpSp>
      <p:graphicFrame>
        <p:nvGraphicFramePr>
          <p:cNvPr id="6" name="Table 6">
            <a:extLst>
              <a:ext uri="{FF2B5EF4-FFF2-40B4-BE49-F238E27FC236}">
                <a16:creationId xmlns:a16="http://schemas.microsoft.com/office/drawing/2014/main" id="{C3E1B448-31A7-3851-7B7A-E02484D3D583}"/>
              </a:ext>
            </a:extLst>
          </p:cNvPr>
          <p:cNvGraphicFramePr>
            <a:graphicFrameLocks noGrp="1"/>
          </p:cNvGraphicFramePr>
          <p:nvPr>
            <p:extLst>
              <p:ext uri="{D42A27DB-BD31-4B8C-83A1-F6EECF244321}">
                <p14:modId xmlns:p14="http://schemas.microsoft.com/office/powerpoint/2010/main" val="1605759767"/>
              </p:ext>
            </p:extLst>
          </p:nvPr>
        </p:nvGraphicFramePr>
        <p:xfrm>
          <a:off x="1321815" y="2887207"/>
          <a:ext cx="15644372" cy="3974040"/>
        </p:xfrm>
        <a:graphic>
          <a:graphicData uri="http://schemas.openxmlformats.org/drawingml/2006/table">
            <a:tbl>
              <a:tblPr/>
              <a:tblGrid>
                <a:gridCol w="3911093">
                  <a:extLst>
                    <a:ext uri="{9D8B030D-6E8A-4147-A177-3AD203B41FA5}">
                      <a16:colId xmlns:a16="http://schemas.microsoft.com/office/drawing/2014/main" val="20000"/>
                    </a:ext>
                  </a:extLst>
                </a:gridCol>
                <a:gridCol w="3911093">
                  <a:extLst>
                    <a:ext uri="{9D8B030D-6E8A-4147-A177-3AD203B41FA5}">
                      <a16:colId xmlns:a16="http://schemas.microsoft.com/office/drawing/2014/main" val="20001"/>
                    </a:ext>
                  </a:extLst>
                </a:gridCol>
                <a:gridCol w="3911093">
                  <a:extLst>
                    <a:ext uri="{9D8B030D-6E8A-4147-A177-3AD203B41FA5}">
                      <a16:colId xmlns:a16="http://schemas.microsoft.com/office/drawing/2014/main" val="20002"/>
                    </a:ext>
                  </a:extLst>
                </a:gridCol>
                <a:gridCol w="3911093">
                  <a:extLst>
                    <a:ext uri="{9D8B030D-6E8A-4147-A177-3AD203B41FA5}">
                      <a16:colId xmlns:a16="http://schemas.microsoft.com/office/drawing/2014/main" val="20003"/>
                    </a:ext>
                  </a:extLst>
                </a:gridCol>
              </a:tblGrid>
              <a:tr h="794808">
                <a:tc>
                  <a:txBody>
                    <a:bodyPr/>
                    <a:lstStyle/>
                    <a:p>
                      <a:pPr algn="ctr">
                        <a:lnSpc>
                          <a:spcPts val="2520"/>
                        </a:lnSpc>
                        <a:defRPr/>
                      </a:pPr>
                      <a:r>
                        <a:rPr lang="en-US" sz="2400" b="1" dirty="0">
                          <a:solidFill>
                            <a:srgbClr val="000000"/>
                          </a:solidFill>
                          <a:latin typeface="Arimo Bold"/>
                          <a:ea typeface="Arimo Bold"/>
                          <a:cs typeface="Arimo Bold"/>
                          <a:sym typeface="Arimo Bold"/>
                        </a:rPr>
                        <a:t>Model</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a:solidFill>
                            <a:srgbClr val="000000"/>
                          </a:solidFill>
                          <a:latin typeface="Arimo Bold"/>
                          <a:ea typeface="Arimo Bold"/>
                          <a:cs typeface="Arimo Bold"/>
                          <a:sym typeface="Arimo Bold"/>
                        </a:rPr>
                        <a:t>Accuracy</a:t>
                      </a:r>
                      <a:endParaRPr lang="en-US" sz="1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a:solidFill>
                            <a:srgbClr val="000000"/>
                          </a:solidFill>
                          <a:latin typeface="Arimo Bold"/>
                          <a:ea typeface="Arimo Bold"/>
                          <a:cs typeface="Arimo Bold"/>
                          <a:sym typeface="Arimo Bold"/>
                        </a:rPr>
                        <a:t>F1_Weighted</a:t>
                      </a:r>
                      <a:endParaRPr lang="en-US" sz="1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Bold"/>
                          <a:ea typeface="Arimo Bold"/>
                          <a:cs typeface="Arimo Bold"/>
                          <a:sym typeface="Arimo Bold"/>
                        </a:rPr>
                        <a:t>ROC_AUC</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94808">
                <a:tc>
                  <a:txBody>
                    <a:bodyPr/>
                    <a:lstStyle/>
                    <a:p>
                      <a:pPr algn="ctr">
                        <a:lnSpc>
                          <a:spcPts val="2520"/>
                        </a:lnSpc>
                        <a:defRPr/>
                      </a:pPr>
                      <a:r>
                        <a:rPr lang="en-US" sz="2400" dirty="0">
                          <a:solidFill>
                            <a:srgbClr val="000000"/>
                          </a:solidFill>
                          <a:latin typeface="Arimo"/>
                          <a:ea typeface="Arimo"/>
                          <a:cs typeface="Arimo"/>
                          <a:sym typeface="Arimo"/>
                        </a:rPr>
                        <a:t>K-Neighbors Nearest</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latin typeface="Arimo" panose="020B0604020202020204" charset="0"/>
                          <a:ea typeface="Arimo" panose="020B0604020202020204" charset="0"/>
                          <a:cs typeface="Arimo" panose="020B0604020202020204" charset="0"/>
                        </a:rPr>
                        <a:t>0.3807</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latin typeface="Arimo" panose="020B0604020202020204" charset="0"/>
                          <a:ea typeface="Arimo" panose="020B0604020202020204" charset="0"/>
                          <a:cs typeface="Arimo" panose="020B0604020202020204" charset="0"/>
                        </a:rPr>
                        <a:t>0.3765</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latin typeface="Arimo" panose="020B0604020202020204" charset="0"/>
                          <a:ea typeface="Arimo" panose="020B0604020202020204" charset="0"/>
                          <a:cs typeface="Arimo" panose="020B0604020202020204" charset="0"/>
                        </a:rPr>
                        <a:t>0.7408</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94808">
                <a:tc>
                  <a:txBody>
                    <a:bodyPr/>
                    <a:lstStyle/>
                    <a:p>
                      <a:pPr algn="ctr">
                        <a:lnSpc>
                          <a:spcPts val="2520"/>
                        </a:lnSpc>
                        <a:defRPr/>
                      </a:pPr>
                      <a:r>
                        <a:rPr lang="en-US" sz="2400" dirty="0">
                          <a:solidFill>
                            <a:srgbClr val="000000"/>
                          </a:solidFill>
                          <a:latin typeface="Arimo"/>
                          <a:ea typeface="Arimo"/>
                          <a:cs typeface="Arimo"/>
                          <a:sym typeface="Arimo"/>
                        </a:rPr>
                        <a:t>Random Forest</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0.4523</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0.4147</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0.8526</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4808">
                <a:tc>
                  <a:txBody>
                    <a:bodyPr/>
                    <a:lstStyle/>
                    <a:p>
                      <a:pPr algn="ctr">
                        <a:lnSpc>
                          <a:spcPts val="2520"/>
                        </a:lnSpc>
                        <a:defRPr/>
                      </a:pPr>
                      <a:r>
                        <a:rPr lang="en-US" sz="2400" dirty="0">
                          <a:solidFill>
                            <a:srgbClr val="000000"/>
                          </a:solidFill>
                          <a:latin typeface="Arimo"/>
                          <a:ea typeface="Arimo"/>
                          <a:cs typeface="Arimo"/>
                          <a:sym typeface="Arimo"/>
                        </a:rPr>
                        <a:t>Navie Bayes</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0.3821</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0.3485</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0.8316</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4808">
                <a:tc>
                  <a:txBody>
                    <a:bodyPr/>
                    <a:lstStyle/>
                    <a:p>
                      <a:pPr algn="ctr">
                        <a:lnSpc>
                          <a:spcPts val="2520"/>
                        </a:lnSpc>
                        <a:defRPr/>
                      </a:pPr>
                      <a:r>
                        <a:rPr lang="en-US" sz="2400" b="1" dirty="0" err="1">
                          <a:solidFill>
                            <a:srgbClr val="000000"/>
                          </a:solidFill>
                          <a:latin typeface="Arimo"/>
                          <a:ea typeface="Arimo"/>
                          <a:cs typeface="Arimo"/>
                          <a:sym typeface="Arimo"/>
                        </a:rPr>
                        <a:t>XGBoost</a:t>
                      </a:r>
                      <a:r>
                        <a:rPr lang="en-US" sz="2400" b="1" dirty="0">
                          <a:solidFill>
                            <a:srgbClr val="000000"/>
                          </a:solidFill>
                          <a:latin typeface="Arimo"/>
                          <a:ea typeface="Arimo"/>
                          <a:cs typeface="Arimo"/>
                          <a:sym typeface="Arimo"/>
                        </a:rPr>
                        <a:t> </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a:ea typeface="Arimo"/>
                          <a:cs typeface="Arimo"/>
                          <a:sym typeface="Arimo"/>
                        </a:rPr>
                        <a:t>0.4563</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a:ea typeface="Arimo"/>
                          <a:cs typeface="Arimo"/>
                          <a:sym typeface="Arimo"/>
                        </a:rPr>
                        <a:t>0.4440</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a:ea typeface="Arimo"/>
                          <a:cs typeface="Arimo"/>
                          <a:sym typeface="Arimo"/>
                        </a:rPr>
                        <a:t>0.8578</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Box 7">
            <a:extLst>
              <a:ext uri="{FF2B5EF4-FFF2-40B4-BE49-F238E27FC236}">
                <a16:creationId xmlns:a16="http://schemas.microsoft.com/office/drawing/2014/main" id="{74430520-C420-F25E-2AD5-A3A3DE84F86D}"/>
              </a:ext>
            </a:extLst>
          </p:cNvPr>
          <p:cNvSpPr txBox="1"/>
          <p:nvPr/>
        </p:nvSpPr>
        <p:spPr>
          <a:xfrm>
            <a:off x="6616668" y="1807327"/>
            <a:ext cx="5054664" cy="408702"/>
          </a:xfrm>
          <a:prstGeom prst="rect">
            <a:avLst/>
          </a:prstGeom>
        </p:spPr>
        <p:txBody>
          <a:bodyPr wrap="square" lIns="0" tIns="0" rIns="0" bIns="0" rtlCol="0" anchor="t">
            <a:spAutoFit/>
          </a:bodyPr>
          <a:lstStyle/>
          <a:p>
            <a:pPr algn="l">
              <a:lnSpc>
                <a:spcPts val="3359"/>
              </a:lnSpc>
            </a:pPr>
            <a:r>
              <a:rPr lang="en-US" sz="2799" b="1" dirty="0" err="1">
                <a:solidFill>
                  <a:srgbClr val="000000"/>
                </a:solidFill>
                <a:latin typeface="Arial Bold"/>
                <a:ea typeface="Arial Bold"/>
                <a:cs typeface="Arial Bold"/>
                <a:sym typeface="Arial Bold"/>
              </a:rPr>
              <a:t>Kết</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quả</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huấn</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luyện</a:t>
            </a:r>
            <a:r>
              <a:rPr lang="en-US" sz="2799" b="1" dirty="0">
                <a:solidFill>
                  <a:srgbClr val="000000"/>
                </a:solidFill>
                <a:latin typeface="Arial Bold"/>
                <a:ea typeface="Arial Bold"/>
                <a:cs typeface="Arial Bold"/>
                <a:sym typeface="Arial Bold"/>
              </a:rPr>
              <a:t> ban </a:t>
            </a:r>
            <a:r>
              <a:rPr lang="en-US" sz="2799" b="1" dirty="0" err="1">
                <a:solidFill>
                  <a:srgbClr val="000000"/>
                </a:solidFill>
                <a:latin typeface="Arial Bold"/>
                <a:ea typeface="Arial Bold"/>
                <a:cs typeface="Arial Bold"/>
                <a:sym typeface="Arial Bold"/>
              </a:rPr>
              <a:t>đầu</a:t>
            </a:r>
            <a:r>
              <a:rPr lang="en-US" sz="2799" b="1" dirty="0">
                <a:solidFill>
                  <a:srgbClr val="000000"/>
                </a:solidFill>
                <a:latin typeface="Arial Bold"/>
                <a:ea typeface="Arial Bold"/>
                <a:cs typeface="Arial Bold"/>
                <a:sym typeface="Arial Bold"/>
              </a:rPr>
              <a:t>:</a:t>
            </a:r>
          </a:p>
        </p:txBody>
      </p:sp>
    </p:spTree>
    <p:extLst>
      <p:ext uri="{BB962C8B-B14F-4D97-AF65-F5344CB8AC3E}">
        <p14:creationId xmlns:p14="http://schemas.microsoft.com/office/powerpoint/2010/main" val="3511504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474" y="-3372"/>
            <a:ext cx="14760074" cy="2271454"/>
          </a:xfrm>
          <a:custGeom>
            <a:avLst/>
            <a:gdLst/>
            <a:ahLst/>
            <a:cxnLst/>
            <a:rect l="l" t="t" r="r" b="b"/>
            <a:pathLst>
              <a:path w="14760074" h="2271454">
                <a:moveTo>
                  <a:pt x="0" y="0"/>
                </a:moveTo>
                <a:lnTo>
                  <a:pt x="14760074" y="0"/>
                </a:lnTo>
                <a:lnTo>
                  <a:pt x="14760074" y="2271454"/>
                </a:lnTo>
                <a:lnTo>
                  <a:pt x="0" y="2271454"/>
                </a:lnTo>
                <a:lnTo>
                  <a:pt x="0" y="0"/>
                </a:lnTo>
                <a:close/>
              </a:path>
            </a:pathLst>
          </a:custGeom>
          <a:blipFill>
            <a:blip r:embed="rId2">
              <a:extLst>
                <a:ext uri="{96DAC541-7B7A-43D3-8B79-37D633B846F1}">
                  <asvg:svgBlip xmlns:asvg="http://schemas.microsoft.com/office/drawing/2016/SVG/main" r:embed="rId3"/>
                </a:ext>
              </a:extLst>
            </a:blip>
            <a:stretch>
              <a:fillRect t="-52501" b="-52501"/>
            </a:stretch>
          </a:blipFill>
        </p:spPr>
        <p:txBody>
          <a:bodyPr/>
          <a:lstStyle/>
          <a:p>
            <a:endParaRPr lang="en-US"/>
          </a:p>
        </p:txBody>
      </p:sp>
      <p:grpSp>
        <p:nvGrpSpPr>
          <p:cNvPr id="3" name="Group 3"/>
          <p:cNvGrpSpPr/>
          <p:nvPr/>
        </p:nvGrpSpPr>
        <p:grpSpPr>
          <a:xfrm>
            <a:off x="225236" y="-67595"/>
            <a:ext cx="9154392" cy="1280249"/>
            <a:chOff x="0" y="0"/>
            <a:chExt cx="12205856" cy="1706999"/>
          </a:xfrm>
        </p:grpSpPr>
        <p:sp>
          <p:nvSpPr>
            <p:cNvPr id="4" name="Freeform 4"/>
            <p:cNvSpPr/>
            <p:nvPr/>
          </p:nvSpPr>
          <p:spPr>
            <a:xfrm>
              <a:off x="0" y="0"/>
              <a:ext cx="12205856" cy="1706999"/>
            </a:xfrm>
            <a:custGeom>
              <a:avLst/>
              <a:gdLst/>
              <a:ahLst/>
              <a:cxnLst/>
              <a:rect l="l" t="t" r="r" b="b"/>
              <a:pathLst>
                <a:path w="12205856" h="1706999">
                  <a:moveTo>
                    <a:pt x="0" y="0"/>
                  </a:moveTo>
                  <a:lnTo>
                    <a:pt x="12205856" y="0"/>
                  </a:lnTo>
                  <a:lnTo>
                    <a:pt x="12205856" y="1706999"/>
                  </a:lnTo>
                  <a:lnTo>
                    <a:pt x="0" y="1706999"/>
                  </a:lnTo>
                  <a:close/>
                </a:path>
              </a:pathLst>
            </a:custGeom>
            <a:solidFill>
              <a:srgbClr val="000000">
                <a:alpha val="0"/>
              </a:srgbClr>
            </a:solidFill>
          </p:spPr>
          <p:txBody>
            <a:bodyPr/>
            <a:lstStyle/>
            <a:p>
              <a:endParaRPr lang="en-US"/>
            </a:p>
          </p:txBody>
        </p:sp>
        <p:sp>
          <p:nvSpPr>
            <p:cNvPr id="5" name="TextBox 5"/>
            <p:cNvSpPr txBox="1"/>
            <p:nvPr/>
          </p:nvSpPr>
          <p:spPr>
            <a:xfrm>
              <a:off x="0" y="38100"/>
              <a:ext cx="12205856" cy="1668899"/>
            </a:xfrm>
            <a:prstGeom prst="rect">
              <a:avLst/>
            </a:prstGeom>
          </p:spPr>
          <p:txBody>
            <a:bodyPr lIns="0" tIns="0" rIns="0" bIns="0" rtlCol="0" anchor="ctr"/>
            <a:lstStyle/>
            <a:p>
              <a:pPr algn="l">
                <a:lnSpc>
                  <a:spcPts val="5184"/>
                </a:lnSpc>
              </a:pPr>
              <a:r>
                <a:rPr lang="en-US" sz="4800">
                  <a:solidFill>
                    <a:srgbClr val="FFFFFF"/>
                  </a:solidFill>
                  <a:latin typeface="Arimo"/>
                  <a:ea typeface="Arimo"/>
                  <a:cs typeface="Arimo"/>
                  <a:sym typeface="Arimo"/>
                </a:rPr>
                <a:t>4. Experience and result</a:t>
              </a:r>
            </a:p>
          </p:txBody>
        </p:sp>
      </p:grpSp>
      <p:graphicFrame>
        <p:nvGraphicFramePr>
          <p:cNvPr id="6" name="Table 6"/>
          <p:cNvGraphicFramePr>
            <a:graphicFrameLocks noGrp="1"/>
          </p:cNvGraphicFramePr>
          <p:nvPr>
            <p:extLst>
              <p:ext uri="{D42A27DB-BD31-4B8C-83A1-F6EECF244321}">
                <p14:modId xmlns:p14="http://schemas.microsoft.com/office/powerpoint/2010/main" val="2357372316"/>
              </p:ext>
            </p:extLst>
          </p:nvPr>
        </p:nvGraphicFramePr>
        <p:xfrm>
          <a:off x="1321815" y="2887207"/>
          <a:ext cx="15644372" cy="3974040"/>
        </p:xfrm>
        <a:graphic>
          <a:graphicData uri="http://schemas.openxmlformats.org/drawingml/2006/table">
            <a:tbl>
              <a:tblPr/>
              <a:tblGrid>
                <a:gridCol w="3911093">
                  <a:extLst>
                    <a:ext uri="{9D8B030D-6E8A-4147-A177-3AD203B41FA5}">
                      <a16:colId xmlns:a16="http://schemas.microsoft.com/office/drawing/2014/main" val="20000"/>
                    </a:ext>
                  </a:extLst>
                </a:gridCol>
                <a:gridCol w="3911093">
                  <a:extLst>
                    <a:ext uri="{9D8B030D-6E8A-4147-A177-3AD203B41FA5}">
                      <a16:colId xmlns:a16="http://schemas.microsoft.com/office/drawing/2014/main" val="20001"/>
                    </a:ext>
                  </a:extLst>
                </a:gridCol>
                <a:gridCol w="3911093">
                  <a:extLst>
                    <a:ext uri="{9D8B030D-6E8A-4147-A177-3AD203B41FA5}">
                      <a16:colId xmlns:a16="http://schemas.microsoft.com/office/drawing/2014/main" val="20002"/>
                    </a:ext>
                  </a:extLst>
                </a:gridCol>
                <a:gridCol w="3911093">
                  <a:extLst>
                    <a:ext uri="{9D8B030D-6E8A-4147-A177-3AD203B41FA5}">
                      <a16:colId xmlns:a16="http://schemas.microsoft.com/office/drawing/2014/main" val="20003"/>
                    </a:ext>
                  </a:extLst>
                </a:gridCol>
              </a:tblGrid>
              <a:tr h="794808">
                <a:tc>
                  <a:txBody>
                    <a:bodyPr/>
                    <a:lstStyle/>
                    <a:p>
                      <a:pPr algn="ctr">
                        <a:lnSpc>
                          <a:spcPts val="2520"/>
                        </a:lnSpc>
                        <a:defRPr/>
                      </a:pPr>
                      <a:r>
                        <a:rPr lang="en-US" sz="2400" b="1" dirty="0">
                          <a:solidFill>
                            <a:srgbClr val="000000"/>
                          </a:solidFill>
                          <a:latin typeface="Arimo Bold"/>
                          <a:ea typeface="Arimo Bold"/>
                          <a:cs typeface="Arimo Bold"/>
                          <a:sym typeface="Arimo Bold"/>
                        </a:rPr>
                        <a:t>Model</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a:solidFill>
                            <a:srgbClr val="000000"/>
                          </a:solidFill>
                          <a:latin typeface="Arimo Bold"/>
                          <a:ea typeface="Arimo Bold"/>
                          <a:cs typeface="Arimo Bold"/>
                          <a:sym typeface="Arimo Bold"/>
                        </a:rPr>
                        <a:t>Accuracy</a:t>
                      </a:r>
                      <a:endParaRPr lang="en-US" sz="1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a:solidFill>
                            <a:srgbClr val="000000"/>
                          </a:solidFill>
                          <a:latin typeface="Arimo Bold"/>
                          <a:ea typeface="Arimo Bold"/>
                          <a:cs typeface="Arimo Bold"/>
                          <a:sym typeface="Arimo Bold"/>
                        </a:rPr>
                        <a:t>F1_Weighted</a:t>
                      </a:r>
                      <a:endParaRPr lang="en-US" sz="1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a:solidFill>
                            <a:srgbClr val="000000"/>
                          </a:solidFill>
                          <a:latin typeface="Arimo Bold"/>
                          <a:ea typeface="Arimo Bold"/>
                          <a:cs typeface="Arimo Bold"/>
                          <a:sym typeface="Arimo Bold"/>
                        </a:rPr>
                        <a:t>ROC_AUC</a:t>
                      </a:r>
                      <a:endParaRPr lang="en-US" sz="14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94808">
                <a:tc>
                  <a:txBody>
                    <a:bodyPr/>
                    <a:lstStyle/>
                    <a:p>
                      <a:pPr algn="ctr">
                        <a:lnSpc>
                          <a:spcPts val="2520"/>
                        </a:lnSpc>
                        <a:defRPr/>
                      </a:pPr>
                      <a:r>
                        <a:rPr lang="en-US" sz="2400" dirty="0">
                          <a:solidFill>
                            <a:srgbClr val="000000"/>
                          </a:solidFill>
                          <a:latin typeface="Arimo"/>
                          <a:ea typeface="Arimo"/>
                          <a:cs typeface="Arimo"/>
                          <a:sym typeface="Arimo"/>
                        </a:rPr>
                        <a:t>K-Neighbors Nearest</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0.4919</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0.4482</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err="1">
                          <a:solidFill>
                            <a:srgbClr val="000000"/>
                          </a:solidFill>
                          <a:latin typeface="Arimo"/>
                          <a:ea typeface="Arimo"/>
                          <a:cs typeface="Arimo"/>
                          <a:sym typeface="Arimo"/>
                        </a:rPr>
                        <a:t>NaN</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94808">
                <a:tc>
                  <a:txBody>
                    <a:bodyPr/>
                    <a:lstStyle/>
                    <a:p>
                      <a:pPr algn="ctr">
                        <a:lnSpc>
                          <a:spcPts val="2520"/>
                        </a:lnSpc>
                        <a:defRPr/>
                      </a:pPr>
                      <a:r>
                        <a:rPr lang="en-US" sz="2400" dirty="0">
                          <a:solidFill>
                            <a:srgbClr val="000000"/>
                          </a:solidFill>
                          <a:latin typeface="Arimo"/>
                          <a:ea typeface="Arimo"/>
                          <a:cs typeface="Arimo"/>
                          <a:sym typeface="Arimo"/>
                        </a:rPr>
                        <a:t>Random Forest</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0.7542</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0.6648</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err="1">
                          <a:solidFill>
                            <a:srgbClr val="000000"/>
                          </a:solidFill>
                          <a:latin typeface="Arimo"/>
                          <a:ea typeface="Arimo"/>
                          <a:cs typeface="Arimo"/>
                          <a:sym typeface="Arimo"/>
                        </a:rPr>
                        <a:t>NaN</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4808">
                <a:tc>
                  <a:txBody>
                    <a:bodyPr/>
                    <a:lstStyle/>
                    <a:p>
                      <a:pPr algn="ctr">
                        <a:lnSpc>
                          <a:spcPts val="2520"/>
                        </a:lnSpc>
                        <a:defRPr/>
                      </a:pPr>
                      <a:r>
                        <a:rPr lang="en-US" sz="2400" dirty="0">
                          <a:solidFill>
                            <a:srgbClr val="000000"/>
                          </a:solidFill>
                          <a:latin typeface="Arimo"/>
                          <a:ea typeface="Arimo"/>
                          <a:cs typeface="Arimo"/>
                          <a:sym typeface="Arimo"/>
                        </a:rPr>
                        <a:t>Navie Bayes</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0.4808</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a:solidFill>
                            <a:srgbClr val="000000"/>
                          </a:solidFill>
                          <a:latin typeface="Arimo"/>
                          <a:ea typeface="Arimo"/>
                          <a:cs typeface="Arimo"/>
                          <a:sym typeface="Arimo"/>
                        </a:rPr>
                        <a:t>0.4226</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dirty="0" err="1">
                          <a:solidFill>
                            <a:srgbClr val="000000"/>
                          </a:solidFill>
                          <a:latin typeface="Arimo"/>
                          <a:ea typeface="Arimo"/>
                          <a:cs typeface="Arimo"/>
                          <a:sym typeface="Arimo"/>
                        </a:rPr>
                        <a:t>NaN</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4808">
                <a:tc>
                  <a:txBody>
                    <a:bodyPr/>
                    <a:lstStyle/>
                    <a:p>
                      <a:pPr algn="ctr">
                        <a:lnSpc>
                          <a:spcPts val="2520"/>
                        </a:lnSpc>
                        <a:defRPr/>
                      </a:pPr>
                      <a:r>
                        <a:rPr lang="en-US" sz="2400" b="1" dirty="0" err="1">
                          <a:solidFill>
                            <a:srgbClr val="000000"/>
                          </a:solidFill>
                          <a:latin typeface="Arimo"/>
                          <a:ea typeface="Arimo"/>
                          <a:cs typeface="Arimo"/>
                          <a:sym typeface="Arimo"/>
                        </a:rPr>
                        <a:t>XGBoost</a:t>
                      </a:r>
                      <a:r>
                        <a:rPr lang="en-US" sz="2400" b="1" dirty="0">
                          <a:solidFill>
                            <a:srgbClr val="000000"/>
                          </a:solidFill>
                          <a:latin typeface="Arimo"/>
                          <a:ea typeface="Arimo"/>
                          <a:cs typeface="Arimo"/>
                          <a:sym typeface="Arimo"/>
                        </a:rPr>
                        <a:t> </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a:ea typeface="Arimo"/>
                          <a:cs typeface="Arimo"/>
                          <a:sym typeface="Arimo"/>
                        </a:rPr>
                        <a:t>0.7172</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a:solidFill>
                            <a:srgbClr val="000000"/>
                          </a:solidFill>
                          <a:latin typeface="Arimo"/>
                          <a:ea typeface="Arimo"/>
                          <a:cs typeface="Arimo"/>
                          <a:sym typeface="Arimo"/>
                        </a:rPr>
                        <a:t>0.6652</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2400" b="1" dirty="0" err="1">
                          <a:solidFill>
                            <a:srgbClr val="000000"/>
                          </a:solidFill>
                          <a:latin typeface="Arimo"/>
                          <a:ea typeface="Arimo"/>
                          <a:cs typeface="Arimo"/>
                          <a:sym typeface="Arimo"/>
                        </a:rPr>
                        <a:t>NaN</a:t>
                      </a:r>
                      <a:endParaRPr lang="en-US" sz="1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Box 7"/>
          <p:cNvSpPr txBox="1"/>
          <p:nvPr/>
        </p:nvSpPr>
        <p:spPr>
          <a:xfrm>
            <a:off x="3982308" y="1817252"/>
            <a:ext cx="11029091" cy="408702"/>
          </a:xfrm>
          <a:prstGeom prst="rect">
            <a:avLst/>
          </a:prstGeom>
        </p:spPr>
        <p:txBody>
          <a:bodyPr wrap="square" lIns="0" tIns="0" rIns="0" bIns="0" rtlCol="0" anchor="t">
            <a:spAutoFit/>
          </a:bodyPr>
          <a:lstStyle/>
          <a:p>
            <a:pPr algn="l">
              <a:lnSpc>
                <a:spcPts val="3359"/>
              </a:lnSpc>
            </a:pPr>
            <a:r>
              <a:rPr lang="en-US" sz="2799" b="1" dirty="0" err="1">
                <a:solidFill>
                  <a:srgbClr val="000000"/>
                </a:solidFill>
                <a:latin typeface="Arial Bold"/>
                <a:ea typeface="Arial Bold"/>
                <a:cs typeface="Arial Bold"/>
                <a:sym typeface="Arial Bold"/>
              </a:rPr>
              <a:t>Kết</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quả</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khi</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dùng</a:t>
            </a:r>
            <a:r>
              <a:rPr lang="en-US" sz="2799" b="1" dirty="0">
                <a:solidFill>
                  <a:srgbClr val="000000"/>
                </a:solidFill>
                <a:latin typeface="Arial Bold"/>
                <a:ea typeface="Arial Bold"/>
                <a:cs typeface="Arial Bold"/>
                <a:sym typeface="Arial Bold"/>
              </a:rPr>
              <a:t> K-Fold Cross-Validation (</a:t>
            </a:r>
            <a:r>
              <a:rPr lang="en-US" sz="2799" b="1" dirty="0" err="1">
                <a:solidFill>
                  <a:srgbClr val="000000"/>
                </a:solidFill>
                <a:latin typeface="Arial Bold"/>
                <a:ea typeface="Arial Bold"/>
                <a:cs typeface="Arial Bold"/>
                <a:sym typeface="Arial Bold"/>
              </a:rPr>
              <a:t>sau</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khi</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cải</a:t>
            </a:r>
            <a:r>
              <a:rPr lang="en-US" sz="2799" b="1" dirty="0">
                <a:solidFill>
                  <a:srgbClr val="000000"/>
                </a:solidFill>
                <a:latin typeface="Arial Bold"/>
                <a:ea typeface="Arial Bold"/>
                <a:cs typeface="Arial Bold"/>
                <a:sym typeface="Arial Bold"/>
              </a:rPr>
              <a:t> </a:t>
            </a:r>
            <a:r>
              <a:rPr lang="en-US" sz="2799" b="1" dirty="0" err="1">
                <a:solidFill>
                  <a:srgbClr val="000000"/>
                </a:solidFill>
                <a:latin typeface="Arial Bold"/>
                <a:ea typeface="Arial Bold"/>
                <a:cs typeface="Arial Bold"/>
                <a:sym typeface="Arial Bold"/>
              </a:rPr>
              <a:t>thiện</a:t>
            </a:r>
            <a:r>
              <a:rPr lang="en-US" sz="2799" b="1" dirty="0">
                <a:solidFill>
                  <a:srgbClr val="000000"/>
                </a:solidFill>
                <a:latin typeface="Arial Bold"/>
                <a:ea typeface="Arial Bold"/>
                <a:cs typeface="Arial Bold"/>
                <a:sym typeface="Arial Bold"/>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474" y="-3373"/>
            <a:ext cx="11587539" cy="2327473"/>
          </a:xfrm>
          <a:custGeom>
            <a:avLst/>
            <a:gdLst/>
            <a:ahLst/>
            <a:cxnLst/>
            <a:rect l="l" t="t" r="r" b="b"/>
            <a:pathLst>
              <a:path w="11587539" h="2327473">
                <a:moveTo>
                  <a:pt x="0" y="0"/>
                </a:moveTo>
                <a:lnTo>
                  <a:pt x="11587539" y="0"/>
                </a:lnTo>
                <a:lnTo>
                  <a:pt x="11587539" y="2327473"/>
                </a:lnTo>
                <a:lnTo>
                  <a:pt x="0" y="2327473"/>
                </a:lnTo>
                <a:lnTo>
                  <a:pt x="0" y="0"/>
                </a:lnTo>
                <a:close/>
              </a:path>
            </a:pathLst>
          </a:custGeom>
          <a:blipFill>
            <a:blip r:embed="rId2">
              <a:extLst>
                <a:ext uri="{96DAC541-7B7A-43D3-8B79-37D633B846F1}">
                  <asvg:svgBlip xmlns:asvg="http://schemas.microsoft.com/office/drawing/2016/SVG/main" r:embed="rId3"/>
                </a:ext>
              </a:extLst>
            </a:blip>
            <a:stretch>
              <a:fillRect t="-28544" b="-28544"/>
            </a:stretch>
          </a:blipFill>
        </p:spPr>
        <p:txBody>
          <a:bodyPr/>
          <a:lstStyle/>
          <a:p>
            <a:endParaRPr lang="en-US"/>
          </a:p>
        </p:txBody>
      </p:sp>
      <p:grpSp>
        <p:nvGrpSpPr>
          <p:cNvPr id="3" name="Group 3"/>
          <p:cNvGrpSpPr/>
          <p:nvPr/>
        </p:nvGrpSpPr>
        <p:grpSpPr>
          <a:xfrm>
            <a:off x="238866" y="25201"/>
            <a:ext cx="15773400" cy="1280249"/>
            <a:chOff x="0" y="0"/>
            <a:chExt cx="21031200" cy="1706999"/>
          </a:xfrm>
        </p:grpSpPr>
        <p:sp>
          <p:nvSpPr>
            <p:cNvPr id="4" name="Freeform 4"/>
            <p:cNvSpPr/>
            <p:nvPr/>
          </p:nvSpPr>
          <p:spPr>
            <a:xfrm>
              <a:off x="0" y="0"/>
              <a:ext cx="21031200" cy="1706999"/>
            </a:xfrm>
            <a:custGeom>
              <a:avLst/>
              <a:gdLst/>
              <a:ahLst/>
              <a:cxnLst/>
              <a:rect l="l" t="t" r="r" b="b"/>
              <a:pathLst>
                <a:path w="21031200" h="1706999">
                  <a:moveTo>
                    <a:pt x="0" y="0"/>
                  </a:moveTo>
                  <a:lnTo>
                    <a:pt x="21031200" y="0"/>
                  </a:lnTo>
                  <a:lnTo>
                    <a:pt x="21031200" y="1706999"/>
                  </a:lnTo>
                  <a:lnTo>
                    <a:pt x="0" y="1706999"/>
                  </a:lnTo>
                  <a:close/>
                </a:path>
              </a:pathLst>
            </a:custGeom>
            <a:solidFill>
              <a:srgbClr val="000000">
                <a:alpha val="0"/>
              </a:srgbClr>
            </a:solidFill>
          </p:spPr>
          <p:txBody>
            <a:bodyPr/>
            <a:lstStyle/>
            <a:p>
              <a:endParaRPr lang="en-US"/>
            </a:p>
          </p:txBody>
        </p:sp>
        <p:sp>
          <p:nvSpPr>
            <p:cNvPr id="5" name="TextBox 5"/>
            <p:cNvSpPr txBox="1"/>
            <p:nvPr/>
          </p:nvSpPr>
          <p:spPr>
            <a:xfrm>
              <a:off x="0" y="38100"/>
              <a:ext cx="21031200" cy="1668899"/>
            </a:xfrm>
            <a:prstGeom prst="rect">
              <a:avLst/>
            </a:prstGeom>
          </p:spPr>
          <p:txBody>
            <a:bodyPr lIns="0" tIns="0" rIns="0" bIns="0" rtlCol="0" anchor="ctr"/>
            <a:lstStyle/>
            <a:p>
              <a:pPr algn="l">
                <a:lnSpc>
                  <a:spcPts val="5184"/>
                </a:lnSpc>
              </a:pPr>
              <a:r>
                <a:rPr lang="en-US" sz="4800" dirty="0">
                  <a:solidFill>
                    <a:srgbClr val="FFFFFF"/>
                  </a:solidFill>
                  <a:latin typeface="Arimo"/>
                  <a:ea typeface="Arimo"/>
                  <a:cs typeface="Arimo"/>
                  <a:sym typeface="Arimo"/>
                </a:rPr>
                <a:t>5. Conclusion</a:t>
              </a:r>
            </a:p>
          </p:txBody>
        </p:sp>
      </p:grpSp>
      <p:sp>
        <p:nvSpPr>
          <p:cNvPr id="6" name="TextBox 6"/>
          <p:cNvSpPr txBox="1"/>
          <p:nvPr/>
        </p:nvSpPr>
        <p:spPr>
          <a:xfrm>
            <a:off x="1177945" y="1915532"/>
            <a:ext cx="15354300" cy="3246338"/>
          </a:xfrm>
          <a:prstGeom prst="rect">
            <a:avLst/>
          </a:prstGeom>
        </p:spPr>
        <p:txBody>
          <a:bodyPr lIns="0" tIns="0" rIns="0" bIns="0" rtlCol="0" anchor="t">
            <a:spAutoFit/>
          </a:bodyPr>
          <a:lstStyle/>
          <a:p>
            <a:pPr algn="l">
              <a:lnSpc>
                <a:spcPts val="5184"/>
              </a:lnSpc>
            </a:pPr>
            <a:r>
              <a:rPr lang="en-US" sz="2700" dirty="0">
                <a:solidFill>
                  <a:srgbClr val="000000"/>
                </a:solidFill>
                <a:latin typeface="Arimo"/>
                <a:ea typeface="Arimo"/>
                <a:cs typeface="Arimo"/>
                <a:sym typeface="Arimo"/>
              </a:rPr>
              <a:t>Qua </a:t>
            </a:r>
            <a:r>
              <a:rPr lang="en-US" sz="2700" dirty="0" err="1">
                <a:solidFill>
                  <a:srgbClr val="000000"/>
                </a:solidFill>
                <a:latin typeface="Arimo"/>
                <a:ea typeface="Arimo"/>
                <a:cs typeface="Arimo"/>
                <a:sym typeface="Arimo"/>
              </a:rPr>
              <a:t>quá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huấn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luyện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đánh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chúng</a:t>
            </a:r>
            <a:r>
              <a:rPr lang="en-US" sz="2700" dirty="0">
                <a:solidFill>
                  <a:srgbClr val="000000"/>
                </a:solidFill>
                <a:latin typeface="Arimo"/>
                <a:ea typeface="Arimo"/>
                <a:cs typeface="Arimo"/>
                <a:sym typeface="Arimo"/>
              </a:rPr>
              <a:t> ta </a:t>
            </a:r>
            <a:r>
              <a:rPr lang="en-US" sz="2700" dirty="0" err="1">
                <a:solidFill>
                  <a:srgbClr val="000000"/>
                </a:solidFill>
                <a:latin typeface="Arimo"/>
                <a:ea typeface="Arimo"/>
                <a:cs typeface="Arimo"/>
                <a:sym typeface="Arimo"/>
              </a:rPr>
              <a:t>thấy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b="1" dirty="0" err="1">
                <a:solidFill>
                  <a:srgbClr val="000000"/>
                </a:solidFill>
                <a:latin typeface="Arimo"/>
                <a:ea typeface="Arimo"/>
                <a:cs typeface="Arimo"/>
                <a:sym typeface="Arimo"/>
              </a:rPr>
              <a:t>XGBoost</a:t>
            </a:r>
            <a:r>
              <a:rPr lang="en-US" sz="2700" b="1"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độ</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chính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xác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cao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với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điểm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cả</a:t>
            </a:r>
            <a:r>
              <a:rPr lang="en-US" sz="2700" dirty="0">
                <a:solidFill>
                  <a:srgbClr val="000000"/>
                </a:solidFill>
                <a:latin typeface="Arimo"/>
                <a:ea typeface="Arimo"/>
                <a:cs typeface="Arimo"/>
                <a:sym typeface="Arimo"/>
              </a:rPr>
              <a:t> 3 </a:t>
            </a:r>
            <a:r>
              <a:rPr lang="en-US" sz="2700" dirty="0" err="1">
                <a:solidFill>
                  <a:srgbClr val="000000"/>
                </a:solidFill>
                <a:latin typeface="Arimo"/>
                <a:ea typeface="Arimo"/>
                <a:cs typeface="Arimo"/>
                <a:sym typeface="Arimo"/>
              </a:rPr>
              <a:t>thông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số</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đạt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cao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Từ</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đó</a:t>
            </a:r>
            <a:r>
              <a:rPr lang="en-US" sz="2700" dirty="0">
                <a:solidFill>
                  <a:srgbClr val="000000"/>
                </a:solidFill>
                <a:latin typeface="Arimo"/>
                <a:ea typeface="Arimo"/>
                <a:cs typeface="Arimo"/>
                <a:sym typeface="Arimo"/>
              </a:rPr>
              <a:t>, ta </a:t>
            </a:r>
            <a:r>
              <a:rPr lang="en-US" sz="2700" dirty="0" err="1">
                <a:solidFill>
                  <a:srgbClr val="000000"/>
                </a:solidFill>
                <a:latin typeface="Arimo"/>
                <a:ea typeface="Arimo"/>
                <a:cs typeface="Arimo"/>
                <a:sym typeface="Arimo"/>
              </a:rPr>
              <a:t>thấy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được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tầm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quan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trọng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học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máy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hiện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việc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thể</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âm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khác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nhau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tạo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tiền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đề</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việc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huấn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luyện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về</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sau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này</a:t>
            </a:r>
            <a:r>
              <a:rPr lang="en-US" sz="2700" dirty="0">
                <a:solidFill>
                  <a:srgbClr val="000000"/>
                </a:solidFill>
                <a:latin typeface="Arimo"/>
                <a:ea typeface="Arimo"/>
                <a:cs typeface="Arimo"/>
                <a:sym typeface="Arimo"/>
              </a:rPr>
              <a:t>.</a:t>
            </a:r>
          </a:p>
          <a:p>
            <a:pPr algn="l">
              <a:lnSpc>
                <a:spcPts val="5184"/>
              </a:lnSpc>
            </a:pPr>
            <a:endParaRPr lang="en-US" sz="2700" dirty="0">
              <a:solidFill>
                <a:srgbClr val="000000"/>
              </a:solidFill>
              <a:latin typeface="Arimo"/>
              <a:ea typeface="Arimo"/>
              <a:cs typeface="Arimo"/>
              <a:sym typeface="Arimo"/>
            </a:endParaRPr>
          </a:p>
        </p:txBody>
      </p:sp>
      <p:pic>
        <p:nvPicPr>
          <p:cNvPr id="9" name="Picture 8" descr="A black background with white numbers&#10;&#10;AI-generated content may be incorrect.">
            <a:extLst>
              <a:ext uri="{FF2B5EF4-FFF2-40B4-BE49-F238E27FC236}">
                <a16:creationId xmlns:a16="http://schemas.microsoft.com/office/drawing/2014/main" id="{FFCC53B8-5CC5-C28B-6A2F-4FB159B243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5372100"/>
            <a:ext cx="14870600" cy="2038635"/>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yellow sign with red text and arrows&#10;&#10;AI-generated content may be incorrect.">
            <a:extLst>
              <a:ext uri="{FF2B5EF4-FFF2-40B4-BE49-F238E27FC236}">
                <a16:creationId xmlns:a16="http://schemas.microsoft.com/office/drawing/2014/main" id="{CB05BF9E-68A1-7689-FB2E-05BE36BD0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 y="0"/>
            <a:ext cx="18279048" cy="10287000"/>
          </a:xfrm>
          <a:prstGeom prst="rect">
            <a:avLst/>
          </a:prstGeom>
        </p:spPr>
      </p:pic>
      <p:sp>
        <p:nvSpPr>
          <p:cNvPr id="2" name="Freeform 2"/>
          <p:cNvSpPr/>
          <p:nvPr/>
        </p:nvSpPr>
        <p:spPr>
          <a:xfrm>
            <a:off x="20161" y="-28575"/>
            <a:ext cx="15581212" cy="10325100"/>
          </a:xfrm>
          <a:custGeom>
            <a:avLst/>
            <a:gdLst/>
            <a:ahLst/>
            <a:cxnLst/>
            <a:rect l="l" t="t" r="r" b="b"/>
            <a:pathLst>
              <a:path w="15581212" h="10325100">
                <a:moveTo>
                  <a:pt x="0" y="0"/>
                </a:moveTo>
                <a:lnTo>
                  <a:pt x="15581212" y="0"/>
                </a:lnTo>
                <a:lnTo>
                  <a:pt x="15581212" y="10325100"/>
                </a:lnTo>
                <a:lnTo>
                  <a:pt x="0" y="10325100"/>
                </a:lnTo>
                <a:lnTo>
                  <a:pt x="0" y="0"/>
                </a:lnTo>
                <a:close/>
              </a:path>
            </a:pathLst>
          </a:custGeom>
          <a:blipFill>
            <a:blip r:embed="rId3">
              <a:extLst>
                <a:ext uri="{96DAC541-7B7A-43D3-8B79-37D633B846F1}">
                  <asvg:svgBlip xmlns:asvg="http://schemas.microsoft.com/office/drawing/2016/SVG/main" r:embed="rId4"/>
                </a:ext>
              </a:extLst>
            </a:blip>
            <a:stretch>
              <a:fillRect l="-5" r="-5"/>
            </a:stretch>
          </a:blipFill>
        </p:spPr>
        <p:txBody>
          <a:bodyPr/>
          <a:lstStyle/>
          <a:p>
            <a:endParaRPr lang="en-US"/>
          </a:p>
        </p:txBody>
      </p:sp>
      <p:sp>
        <p:nvSpPr>
          <p:cNvPr id="3" name="TextBox 3"/>
          <p:cNvSpPr txBox="1"/>
          <p:nvPr/>
        </p:nvSpPr>
        <p:spPr>
          <a:xfrm>
            <a:off x="355935" y="499022"/>
            <a:ext cx="10960919" cy="1894284"/>
          </a:xfrm>
          <a:prstGeom prst="rect">
            <a:avLst/>
          </a:prstGeom>
        </p:spPr>
        <p:txBody>
          <a:bodyPr lIns="0" tIns="0" rIns="0" bIns="0" rtlCol="0" anchor="t">
            <a:spAutoFit/>
          </a:bodyPr>
          <a:lstStyle/>
          <a:p>
            <a:pPr algn="l">
              <a:lnSpc>
                <a:spcPts val="14400"/>
              </a:lnSpc>
            </a:pPr>
            <a:r>
              <a:rPr lang="en-US" sz="12000">
                <a:solidFill>
                  <a:srgbClr val="FFFFFF"/>
                </a:solidFill>
                <a:latin typeface="Arimo"/>
                <a:ea typeface="Arimo"/>
                <a:cs typeface="Arimo"/>
                <a:sym typeface="Arimo"/>
              </a:rPr>
              <a:t>Thank You All</a:t>
            </a:r>
          </a:p>
        </p:txBody>
      </p:sp>
      <p:grpSp>
        <p:nvGrpSpPr>
          <p:cNvPr id="4" name="Group 4"/>
          <p:cNvGrpSpPr/>
          <p:nvPr/>
        </p:nvGrpSpPr>
        <p:grpSpPr>
          <a:xfrm rot="10767420">
            <a:off x="399036" y="3225600"/>
            <a:ext cx="4039397" cy="19050"/>
            <a:chOff x="0" y="0"/>
            <a:chExt cx="5385863" cy="25400"/>
          </a:xfrm>
        </p:grpSpPr>
        <p:sp>
          <p:nvSpPr>
            <p:cNvPr id="5" name="Freeform 5"/>
            <p:cNvSpPr/>
            <p:nvPr/>
          </p:nvSpPr>
          <p:spPr>
            <a:xfrm>
              <a:off x="0" y="0"/>
              <a:ext cx="5385816" cy="25400"/>
            </a:xfrm>
            <a:custGeom>
              <a:avLst/>
              <a:gdLst/>
              <a:ahLst/>
              <a:cxnLst/>
              <a:rect l="l" t="t" r="r" b="b"/>
              <a:pathLst>
                <a:path w="5385816" h="25400">
                  <a:moveTo>
                    <a:pt x="12700" y="0"/>
                  </a:moveTo>
                  <a:lnTo>
                    <a:pt x="5373116" y="0"/>
                  </a:lnTo>
                  <a:cubicBezTo>
                    <a:pt x="5380101" y="0"/>
                    <a:pt x="5385816" y="5715"/>
                    <a:pt x="5385816" y="12700"/>
                  </a:cubicBezTo>
                  <a:cubicBezTo>
                    <a:pt x="5385816" y="19685"/>
                    <a:pt x="5380101" y="25400"/>
                    <a:pt x="5373116" y="25400"/>
                  </a:cubicBezTo>
                  <a:lnTo>
                    <a:pt x="12700" y="25400"/>
                  </a:lnTo>
                  <a:cubicBezTo>
                    <a:pt x="5715" y="25400"/>
                    <a:pt x="0" y="19685"/>
                    <a:pt x="0" y="12700"/>
                  </a:cubicBezTo>
                  <a:cubicBezTo>
                    <a:pt x="0" y="5715"/>
                    <a:pt x="5715" y="0"/>
                    <a:pt x="12700" y="0"/>
                  </a:cubicBezTo>
                  <a:close/>
                </a:path>
              </a:pathLst>
            </a:custGeom>
            <a:solidFill>
              <a:srgbClr val="FFFFFF"/>
            </a:solidFill>
          </p:spPr>
          <p:txBody>
            <a:bodyPr/>
            <a:lstStyle/>
            <a:p>
              <a:endParaRPr lang="en-US"/>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1373</TotalTime>
  <Words>1190</Words>
  <Application>Microsoft Office PowerPoint</Application>
  <PresentationFormat>Custom</PresentationFormat>
  <Paragraphs>143</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Calibri</vt:lpstr>
      <vt:lpstr>Arial</vt:lpstr>
      <vt:lpstr>Canva Sans Bold</vt:lpstr>
      <vt:lpstr>Canva Sans</vt:lpstr>
      <vt:lpstr>Arimo</vt:lpstr>
      <vt:lpstr>Arial Bold</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Slide_report.pptx</dc:title>
  <cp:lastModifiedBy>Akama Asumi</cp:lastModifiedBy>
  <cp:revision>6</cp:revision>
  <dcterms:created xsi:type="dcterms:W3CDTF">2006-08-16T00:00:00Z</dcterms:created>
  <dcterms:modified xsi:type="dcterms:W3CDTF">2025-12-04T16:24:20Z</dcterms:modified>
  <dc:identifier>DAG4d9owwYU</dc:identifier>
</cp:coreProperties>
</file>